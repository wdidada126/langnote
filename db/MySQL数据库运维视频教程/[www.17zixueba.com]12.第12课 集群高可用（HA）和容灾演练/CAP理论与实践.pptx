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3"/>
  </p:notesMasterIdLst>
  <p:sldIdLst>
    <p:sldId id="256" r:id="rId2"/>
    <p:sldId id="258" r:id="rId3"/>
    <p:sldId id="263" r:id="rId4"/>
    <p:sldId id="264" r:id="rId5"/>
    <p:sldId id="265" r:id="rId6"/>
    <p:sldId id="270" r:id="rId7"/>
    <p:sldId id="267" r:id="rId8"/>
    <p:sldId id="268" r:id="rId9"/>
    <p:sldId id="269" r:id="rId10"/>
    <p:sldId id="260" r:id="rId11"/>
    <p:sldId id="261" r:id="rId12"/>
    <p:sldId id="266" r:id="rId13"/>
    <p:sldId id="273" r:id="rId14"/>
    <p:sldId id="278" r:id="rId15"/>
    <p:sldId id="272" r:id="rId16"/>
    <p:sldId id="271" r:id="rId17"/>
    <p:sldId id="279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58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757F8-153E-4AA0-B6CD-4D40B3BF9C1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61A47-7C5B-4EB8-BE66-0994ECDAE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323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C61A47-7C5B-4EB8-BE66-0994ECDAED7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095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C61A47-7C5B-4EB8-BE66-0994ECDAED7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60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http://en.wikipedia.org/wiki/Overselling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C61A47-7C5B-4EB8-BE66-0994ECDAED7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466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8DEACF6-4696-4741-B62D-544E57BD02B6}" type="datetimeFigureOut">
              <a:rPr lang="zh-CN" altLang="en-US" smtClean="0"/>
              <a:t>2013/4/16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0B6145A-D569-4BA9-AEB4-D446C8EC42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dbthink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://www.allthingsdistributed.com/2007/12/eventually_consistent.html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://www.infoq.com/presentations/availability-consistenc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ad.seas.harvard.edu/~kohler/class/cs239-w08/decandia07dynamo.pdf" TargetMode="External"/><Relationship Id="rId2" Type="http://schemas.openxmlformats.org/officeDocument/2006/relationships/hyperlink" Target="http://www.infoq.com/articles/cap-twelve-years-later-how-the-rules-have-changed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35696" y="1124744"/>
            <a:ext cx="6477000" cy="864096"/>
          </a:xfrm>
        </p:spPr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CAP: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理论与实践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4653136"/>
            <a:ext cx="4536504" cy="1152128"/>
          </a:xfrm>
        </p:spPr>
        <p:txBody>
          <a:bodyPr>
            <a:noAutofit/>
          </a:bodyPr>
          <a:lstStyle/>
          <a:p>
            <a:r>
              <a:rPr lang="zh-CN" altLang="en-US" sz="2800" i="1" dirty="0" smtClean="0">
                <a:latin typeface="微软雅黑" pitchFamily="34" charset="-122"/>
                <a:ea typeface="微软雅黑" pitchFamily="34" charset="-122"/>
              </a:rPr>
              <a:t>童家旺</a:t>
            </a:r>
            <a:endParaRPr lang="en-US" altLang="zh-CN" sz="2800" i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800" i="1" dirty="0" smtClean="0">
                <a:latin typeface="微软雅黑" pitchFamily="34" charset="-122"/>
                <a:ea typeface="微软雅黑" pitchFamily="34" charset="-122"/>
                <a:hlinkClick r:id="rId2"/>
              </a:rPr>
              <a:t>http://www.dbthink.com/</a:t>
            </a:r>
            <a:endParaRPr lang="en-US" altLang="zh-CN" sz="2800" i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800" i="1" dirty="0" err="1" smtClean="0">
                <a:latin typeface="微软雅黑" pitchFamily="34" charset="-122"/>
                <a:ea typeface="微软雅黑" pitchFamily="34" charset="-122"/>
              </a:rPr>
              <a:t>Weibo</a:t>
            </a:r>
            <a:r>
              <a:rPr lang="en-US" altLang="zh-CN" sz="2800" i="1" dirty="0" smtClean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en-US" altLang="zh-CN" sz="2800" i="1" dirty="0" err="1" smtClean="0">
                <a:latin typeface="微软雅黑" pitchFamily="34" charset="-122"/>
                <a:ea typeface="微软雅黑" pitchFamily="34" charset="-122"/>
              </a:rPr>
              <a:t>jametong</a:t>
            </a:r>
            <a:endParaRPr lang="en-US" altLang="zh-CN" sz="2800" i="1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00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内容大纲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的历史沿革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原理介绍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Pick Two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权衡中的经济考量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ACID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的关系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分区只是另一段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Code Path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在实践中的应用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参考资料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301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原理的历史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1997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Fox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＆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Brewer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提出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BASE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概念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《Cluster-Based Scalable Network Services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1999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Fox &amp; Brewer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提出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 Principle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Harvest, Yield, and Scalable Tolerant Systems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2000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PODC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Keynotes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，正式提出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</a:p>
          <a:p>
            <a:pPr lvl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Towards Robust Distributed Systems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2002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Seth Gilbert &amp; Nancy Lynch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证明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</a:p>
          <a:p>
            <a:pPr lvl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《Brewer’s Conjecture and the Feasibility of Consistent, Available, Partition-Tolerant Web Services》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" y="1113355"/>
            <a:ext cx="8507484" cy="3826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96" y="1198832"/>
            <a:ext cx="8219452" cy="4167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65" y="1171500"/>
            <a:ext cx="7076537" cy="531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342" y="1484784"/>
            <a:ext cx="6840760" cy="4850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108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流行的几大推手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OSDI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2006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Google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发布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Bigtable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的论文</a:t>
            </a:r>
          </a:p>
          <a:p>
            <a:pPr lvl="1"/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Bigtable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: A Distributed Storage System for Structured Data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SOSP 2007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Amazon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发布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Dynamo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的论文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Dynamo: Amazon’s Highly Available Key-value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Store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2007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月，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Amazon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Werner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Vogels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推介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</a:p>
          <a:p>
            <a:pPr lvl="1"/>
            <a:r>
              <a:rPr lang="en-US" altLang="zh-CN" b="1" dirty="0">
                <a:latin typeface="微软雅黑" pitchFamily="34" charset="-122"/>
                <a:ea typeface="微软雅黑" pitchFamily="34" charset="-122"/>
                <a:hlinkClick r:id="rId2"/>
              </a:rPr>
              <a:t>Availability &amp;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  <a:hlinkClick r:id="rId2"/>
              </a:rPr>
              <a:t>Consistency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2007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月，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Werner </a:t>
            </a:r>
            <a:r>
              <a:rPr lang="en-US" altLang="zh-CN" b="1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Vogels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撰文介绍最终一致性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b="1" dirty="0">
                <a:latin typeface="微软雅黑" pitchFamily="34" charset="-122"/>
                <a:ea typeface="微软雅黑" pitchFamily="34" charset="-122"/>
                <a:hlinkClick r:id="rId3"/>
              </a:rPr>
              <a:t>Eventually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  <a:hlinkClick r:id="rId3"/>
              </a:rPr>
              <a:t>Consistent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2008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月，</a:t>
            </a:r>
            <a:r>
              <a:rPr lang="en-US" altLang="zh-CN" b="1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Ebay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的架构师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Dan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Prichett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介绍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BASE</a:t>
            </a:r>
          </a:p>
          <a:p>
            <a:pPr lvl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BASE: An Acid Alternative 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52" y="1666161"/>
            <a:ext cx="7115175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8" y="1700808"/>
            <a:ext cx="7600950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00808"/>
            <a:ext cx="7448550" cy="385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28800"/>
            <a:ext cx="7465319" cy="385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540855"/>
            <a:ext cx="5976664" cy="468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4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3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1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 Theorem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对于共享的数据系统，仅能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同时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满足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项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lvl="1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onsistency (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多节点看到数据的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单一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同一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副本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2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Full Consistency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Casual Consistency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Timeline Consistency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Eventual Consistency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vailability (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系统总是可以执行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变更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操作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2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牺牲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秒钟的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？牺牲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分钟的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artition Tolerance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广域网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的情况下，分区不可避免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=&gt;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consistency vs.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availability</a:t>
            </a:r>
          </a:p>
        </p:txBody>
      </p:sp>
    </p:spTree>
    <p:extLst>
      <p:ext uri="{BB962C8B-B14F-4D97-AF65-F5344CB8AC3E}">
        <p14:creationId xmlns:p14="http://schemas.microsoft.com/office/powerpoint/2010/main" val="234013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CAP ,Pick Two?</a:t>
            </a:r>
            <a:endParaRPr lang="zh-CN" altLang="en-US" dirty="0"/>
          </a:p>
        </p:txBody>
      </p:sp>
      <p:sp>
        <p:nvSpPr>
          <p:cNvPr id="4" name="AutoShape 2" descr="http://ofirm.files.wordpress.com/2013/01/scalability-cap-theorem1.png?w=584&amp;h=4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http://ofirm.files.wordpress.com/2013/01/scalability-cap-theorem1.png?w=584&amp;h=452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/>
          <a:p>
            <a:r>
              <a:rPr lang="en-US" altLang="zh-CN" dirty="0"/>
              <a:t>Traditional databases guarantee consistency.</a:t>
            </a:r>
          </a:p>
          <a:p>
            <a:r>
              <a:rPr lang="en-US" altLang="zh-CN" dirty="0"/>
              <a:t>The CAP theorem tells you that you cannot have consistency, availability, and fault-tolerance at the same time.</a:t>
            </a:r>
          </a:p>
          <a:p>
            <a:r>
              <a:rPr lang="en-US" altLang="zh-CN" dirty="0"/>
              <a:t>But we want to build scalable databases, so we forget about consistency.</a:t>
            </a:r>
          </a:p>
          <a:p>
            <a:r>
              <a:rPr lang="en-US" altLang="zh-CN" dirty="0"/>
              <a:t>Oh and by the way, who needs consistency anyway</a:t>
            </a:r>
            <a:r>
              <a:rPr lang="en-US" altLang="zh-CN" dirty="0" smtClean="0"/>
              <a:t>?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4" y="1700808"/>
            <a:ext cx="8431021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49" y="2132856"/>
            <a:ext cx="8769546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4" y="1536534"/>
            <a:ext cx="7606422" cy="5153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71" y="2132856"/>
            <a:ext cx="8634156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635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面对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，真的必须牺牲一致性吗？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新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浪微博可以丢吗？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淘宝的商品信息可以暂时不一致吗？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12306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提供的库存信息可以不准确吗？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比特币（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bitcoin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）可以不准确吗？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行信用卡可以不一致吗？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556792"/>
            <a:ext cx="5286601" cy="459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669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Reliability &amp; $$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1"/>
            <a:ext cx="7632848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847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数据状态机的分类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39552" y="1772816"/>
            <a:ext cx="8229600" cy="4525963"/>
          </a:xfrm>
        </p:spPr>
        <p:txBody>
          <a:bodyPr/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何谓状态机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简单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的理解是，计算机中会发生变化的数据都是状态机，这个数据的值不同可能会带来不同的后果。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分类：按照三个维度：时间、信息含金量、变更频率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692772"/>
              </p:ext>
            </p:extLst>
          </p:nvPr>
        </p:nvGraphicFramePr>
        <p:xfrm>
          <a:off x="611560" y="3717032"/>
          <a:ext cx="8280920" cy="2825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0011"/>
                <a:gridCol w="1547144"/>
                <a:gridCol w="1501232"/>
                <a:gridCol w="3452533"/>
              </a:tblGrid>
              <a:tr h="21602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持续时间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信息含金量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变更频繁度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例子</a:t>
                      </a:r>
                      <a:endParaRPr lang="zh-CN" sz="20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瞬时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高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少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Shopping</a:t>
                      </a:r>
                      <a:r>
                        <a:rPr lang="en-US" altLang="zh-CN" sz="2000" kern="100" baseline="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Card </a:t>
                      </a:r>
                      <a:r>
                        <a:rPr 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Session</a:t>
                      </a:r>
                      <a:r>
                        <a:rPr lang="zh-CN" alt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（分）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瞬时</a:t>
                      </a:r>
                      <a:endParaRPr lang="zh-CN" sz="20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低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少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Login </a:t>
                      </a:r>
                      <a:r>
                        <a:rPr 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Cookie</a:t>
                      </a:r>
                      <a:r>
                        <a:rPr lang="zh-CN" alt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（分）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中等时长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高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少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Ecommerce</a:t>
                      </a:r>
                      <a:r>
                        <a:rPr lang="en-US" altLang="zh-CN" sz="2000" kern="100" baseline="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Billing</a:t>
                      </a: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</a:t>
                      </a:r>
                      <a:r>
                        <a:rPr lang="zh-CN" alt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天</a:t>
                      </a: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中等时长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中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少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Product Catalog(</a:t>
                      </a:r>
                      <a:r>
                        <a:rPr lang="zh-CN" alt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年</a:t>
                      </a: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中等时长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高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多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Flight/Train</a:t>
                      </a:r>
                      <a:r>
                        <a:rPr lang="en-US" altLang="zh-CN" sz="2000" kern="100" baseline="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Inventory </a:t>
                      </a: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</a:t>
                      </a:r>
                      <a:r>
                        <a:rPr lang="zh-CN" alt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月</a:t>
                      </a: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无限时长</a:t>
                      </a:r>
                      <a:endParaRPr lang="zh-CN" sz="20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中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少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User Profile</a:t>
                      </a:r>
                      <a:r>
                        <a:rPr lang="zh-CN" alt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（年</a:t>
                      </a: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无限时长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高</a:t>
                      </a:r>
                      <a:endParaRPr lang="zh-CN" sz="20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多</a:t>
                      </a:r>
                      <a:endParaRPr lang="zh-CN" sz="20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Bank Account Balance</a:t>
                      </a:r>
                      <a:r>
                        <a:rPr lang="zh-CN" alt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（年</a:t>
                      </a:r>
                      <a:r>
                        <a:rPr lang="en-US" altLang="zh-CN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r>
                        <a:rPr lang="zh-CN" altLang="en-US" sz="2000" kern="1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72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其实，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并没有声明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放弃一致性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不一致应该仅仅是个例外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很多系统牺牲的内容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远远超过必要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放弃事务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ACID)</a:t>
            </a: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需要调整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的预期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(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仅仅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不要使用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SQL</a:t>
            </a: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很多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NOSQL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系统中也开始支持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SQL</a:t>
            </a:r>
          </a:p>
          <a:p>
            <a:pPr lvl="1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声明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性语言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(SQL)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配合良好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63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ACID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当系统没有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Partition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时：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支持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Full ACID</a:t>
            </a: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当系统出现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Partition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时：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Atomic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不同的分区还是应该保持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Atomic</a:t>
            </a:r>
          </a:p>
          <a:p>
            <a:pPr lvl="1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Consistent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临时违背（如：没有重复？）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Isolation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临时牺牲隔离性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Durable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永远不该牺牲它（需要保留它用）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299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像程序员一样思考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50" y="2996952"/>
            <a:ext cx="8746899" cy="3312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279850" y="1844824"/>
            <a:ext cx="81805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分区只是个不同的代码路径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164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User Profile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处理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331640" y="1805885"/>
            <a:ext cx="1800200" cy="1080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APP Server</a:t>
            </a:r>
            <a:endParaRPr lang="zh-CN" altLang="en-US" dirty="0"/>
          </a:p>
        </p:txBody>
      </p:sp>
      <p:sp>
        <p:nvSpPr>
          <p:cNvPr id="6" name="圆柱形 5"/>
          <p:cNvSpPr/>
          <p:nvPr/>
        </p:nvSpPr>
        <p:spPr>
          <a:xfrm>
            <a:off x="1907704" y="4223466"/>
            <a:ext cx="1011420" cy="128024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5386339" y="1643867"/>
            <a:ext cx="2016224" cy="1404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Cache</a:t>
            </a:r>
            <a:endParaRPr lang="zh-CN" altLang="en-US" dirty="0"/>
          </a:p>
        </p:txBody>
      </p:sp>
      <p:cxnSp>
        <p:nvCxnSpPr>
          <p:cNvPr id="9" name="直接箭头连接符 8"/>
          <p:cNvCxnSpPr>
            <a:stCxn id="4" idx="4"/>
            <a:endCxn id="6" idx="0"/>
          </p:cNvCxnSpPr>
          <p:nvPr/>
        </p:nvCxnSpPr>
        <p:spPr>
          <a:xfrm>
            <a:off x="2231740" y="2886005"/>
            <a:ext cx="181674" cy="15903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4" idx="6"/>
            <a:endCxn id="7" idx="1"/>
          </p:cNvCxnSpPr>
          <p:nvPr/>
        </p:nvCxnSpPr>
        <p:spPr>
          <a:xfrm>
            <a:off x="3131840" y="2345945"/>
            <a:ext cx="225449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圆柱形 39"/>
          <p:cNvSpPr/>
          <p:nvPr/>
        </p:nvSpPr>
        <p:spPr>
          <a:xfrm>
            <a:off x="3201991" y="4223466"/>
            <a:ext cx="864096" cy="128024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Read</a:t>
            </a:r>
          </a:p>
          <a:p>
            <a:pPr algn="ctr"/>
            <a:r>
              <a:rPr lang="en-US" altLang="zh-CN" dirty="0" smtClean="0"/>
              <a:t>Slave</a:t>
            </a:r>
            <a:endParaRPr lang="zh-CN" altLang="en-US" dirty="0"/>
          </a:p>
        </p:txBody>
      </p:sp>
      <p:sp>
        <p:nvSpPr>
          <p:cNvPr id="41" name="圆柱形 40"/>
          <p:cNvSpPr/>
          <p:nvPr/>
        </p:nvSpPr>
        <p:spPr>
          <a:xfrm>
            <a:off x="4283968" y="4223466"/>
            <a:ext cx="864096" cy="129541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Read</a:t>
            </a:r>
          </a:p>
          <a:p>
            <a:pPr algn="ctr"/>
            <a:r>
              <a:rPr lang="en-US" altLang="zh-CN" dirty="0" smtClean="0"/>
              <a:t>Slave</a:t>
            </a:r>
            <a:endParaRPr lang="zh-CN" altLang="en-US" dirty="0"/>
          </a:p>
        </p:txBody>
      </p:sp>
      <p:sp>
        <p:nvSpPr>
          <p:cNvPr id="42" name="圆柱形 41"/>
          <p:cNvSpPr/>
          <p:nvPr/>
        </p:nvSpPr>
        <p:spPr>
          <a:xfrm>
            <a:off x="5524965" y="4208288"/>
            <a:ext cx="939412" cy="129541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Read</a:t>
            </a:r>
            <a:endParaRPr lang="en-US" altLang="zh-CN" dirty="0"/>
          </a:p>
          <a:p>
            <a:pPr algn="ctr"/>
            <a:r>
              <a:rPr lang="en-US" altLang="zh-CN" dirty="0" smtClean="0"/>
              <a:t>Slave</a:t>
            </a:r>
            <a:endParaRPr lang="zh-CN" altLang="en-US" dirty="0"/>
          </a:p>
        </p:txBody>
      </p:sp>
      <p:sp>
        <p:nvSpPr>
          <p:cNvPr id="43" name="圆柱形 42"/>
          <p:cNvSpPr/>
          <p:nvPr/>
        </p:nvSpPr>
        <p:spPr>
          <a:xfrm>
            <a:off x="6909003" y="4238644"/>
            <a:ext cx="864096" cy="128024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Read</a:t>
            </a:r>
          </a:p>
          <a:p>
            <a:pPr algn="ctr"/>
            <a:r>
              <a:rPr lang="en-US" altLang="zh-CN" dirty="0"/>
              <a:t>Slave</a:t>
            </a:r>
            <a:endParaRPr lang="zh-CN" altLang="en-US" dirty="0"/>
          </a:p>
        </p:txBody>
      </p:sp>
      <p:sp>
        <p:nvSpPr>
          <p:cNvPr id="47" name="圆柱形 46"/>
          <p:cNvSpPr/>
          <p:nvPr/>
        </p:nvSpPr>
        <p:spPr>
          <a:xfrm>
            <a:off x="467543" y="4189726"/>
            <a:ext cx="1008113" cy="131397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Backup</a:t>
            </a:r>
            <a:endParaRPr lang="zh-CN" altLang="en-US" dirty="0"/>
          </a:p>
        </p:txBody>
      </p:sp>
      <p:cxnSp>
        <p:nvCxnSpPr>
          <p:cNvPr id="50" name="直接箭头连接符 49"/>
          <p:cNvCxnSpPr>
            <a:stCxn id="6" idx="2"/>
            <a:endCxn id="47" idx="4"/>
          </p:cNvCxnSpPr>
          <p:nvPr/>
        </p:nvCxnSpPr>
        <p:spPr>
          <a:xfrm flipH="1" flipV="1">
            <a:off x="1475656" y="4846716"/>
            <a:ext cx="432048" cy="16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右箭头 53"/>
          <p:cNvSpPr/>
          <p:nvPr/>
        </p:nvSpPr>
        <p:spPr>
          <a:xfrm>
            <a:off x="2706813" y="5432938"/>
            <a:ext cx="3816424" cy="1718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2987316" y="5605051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Near Real Time Redo Shipping</a:t>
            </a:r>
            <a:endParaRPr lang="zh-CN" altLang="en-US" dirty="0"/>
          </a:p>
        </p:txBody>
      </p:sp>
      <p:cxnSp>
        <p:nvCxnSpPr>
          <p:cNvPr id="56" name="直接箭头连接符 55"/>
          <p:cNvCxnSpPr>
            <a:stCxn id="4" idx="5"/>
            <a:endCxn id="40" idx="0"/>
          </p:cNvCxnSpPr>
          <p:nvPr/>
        </p:nvCxnSpPr>
        <p:spPr>
          <a:xfrm>
            <a:off x="2868207" y="2727825"/>
            <a:ext cx="765832" cy="1711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4" idx="5"/>
            <a:endCxn id="41" idx="0"/>
          </p:cNvCxnSpPr>
          <p:nvPr/>
        </p:nvCxnSpPr>
        <p:spPr>
          <a:xfrm>
            <a:off x="2868207" y="2727825"/>
            <a:ext cx="1847809" cy="1711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" idx="5"/>
            <a:endCxn id="42" idx="0"/>
          </p:cNvCxnSpPr>
          <p:nvPr/>
        </p:nvCxnSpPr>
        <p:spPr>
          <a:xfrm>
            <a:off x="2868207" y="2727825"/>
            <a:ext cx="3126464" cy="17153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4" idx="5"/>
            <a:endCxn id="43" idx="0"/>
          </p:cNvCxnSpPr>
          <p:nvPr/>
        </p:nvCxnSpPr>
        <p:spPr>
          <a:xfrm>
            <a:off x="2868207" y="2727825"/>
            <a:ext cx="4472844" cy="172684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67543" y="2914910"/>
            <a:ext cx="1656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Write to Master, When Failed, Fail the Request</a:t>
            </a:r>
            <a:endParaRPr lang="zh-CN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2417071" y="3176709"/>
            <a:ext cx="3020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Reading From arbitrary node</a:t>
            </a:r>
            <a:endParaRPr lang="zh-CN" alt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981699" y="5974383"/>
            <a:ext cx="6696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Always Relaxing Read Consistency</a:t>
            </a: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53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Message Processing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3096881" y="1556792"/>
            <a:ext cx="2304256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App Server</a:t>
            </a:r>
            <a:endParaRPr lang="zh-CN" altLang="en-US" dirty="0"/>
          </a:p>
        </p:txBody>
      </p:sp>
      <p:sp>
        <p:nvSpPr>
          <p:cNvPr id="5" name="圆柱形 4"/>
          <p:cNvSpPr/>
          <p:nvPr/>
        </p:nvSpPr>
        <p:spPr>
          <a:xfrm>
            <a:off x="1691680" y="2958680"/>
            <a:ext cx="1008112" cy="116306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Msg</a:t>
            </a:r>
            <a:endParaRPr lang="en-US" altLang="zh-CN" dirty="0"/>
          </a:p>
          <a:p>
            <a:pPr algn="ctr"/>
            <a:r>
              <a:rPr lang="en-US" altLang="zh-CN" dirty="0" smtClean="0"/>
              <a:t>DB1</a:t>
            </a:r>
            <a:endParaRPr lang="zh-CN" altLang="en-US" dirty="0"/>
          </a:p>
        </p:txBody>
      </p:sp>
      <p:sp>
        <p:nvSpPr>
          <p:cNvPr id="6" name="圆柱形 5"/>
          <p:cNvSpPr/>
          <p:nvPr/>
        </p:nvSpPr>
        <p:spPr>
          <a:xfrm>
            <a:off x="3124052" y="2962289"/>
            <a:ext cx="982180" cy="11594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Msg</a:t>
            </a:r>
            <a:r>
              <a:rPr lang="en-US" altLang="zh-CN" dirty="0" smtClean="0"/>
              <a:t> DB2</a:t>
            </a:r>
            <a:endParaRPr lang="zh-CN" altLang="en-US" dirty="0"/>
          </a:p>
        </p:txBody>
      </p:sp>
      <p:sp>
        <p:nvSpPr>
          <p:cNvPr id="7" name="圆柱形 6"/>
          <p:cNvSpPr/>
          <p:nvPr/>
        </p:nvSpPr>
        <p:spPr>
          <a:xfrm>
            <a:off x="4572000" y="2962289"/>
            <a:ext cx="982180" cy="11594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Msg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DB3</a:t>
            </a:r>
            <a:endParaRPr lang="zh-CN" altLang="en-US" dirty="0"/>
          </a:p>
        </p:txBody>
      </p:sp>
      <p:sp>
        <p:nvSpPr>
          <p:cNvPr id="8" name="圆柱形 7"/>
          <p:cNvSpPr/>
          <p:nvPr/>
        </p:nvSpPr>
        <p:spPr>
          <a:xfrm>
            <a:off x="5940152" y="2962289"/>
            <a:ext cx="994589" cy="11594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Msg</a:t>
            </a:r>
            <a:r>
              <a:rPr lang="en-US" altLang="zh-CN" dirty="0" smtClean="0"/>
              <a:t> DB4</a:t>
            </a:r>
            <a:endParaRPr lang="zh-CN" altLang="en-US" dirty="0"/>
          </a:p>
        </p:txBody>
      </p:sp>
      <p:cxnSp>
        <p:nvCxnSpPr>
          <p:cNvPr id="10" name="直接箭头连接符 9"/>
          <p:cNvCxnSpPr>
            <a:stCxn id="4" idx="4"/>
            <a:endCxn id="5" idx="0"/>
          </p:cNvCxnSpPr>
          <p:nvPr/>
        </p:nvCxnSpPr>
        <p:spPr>
          <a:xfrm flipH="1">
            <a:off x="2195736" y="2564904"/>
            <a:ext cx="2053273" cy="6458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" idx="4"/>
            <a:endCxn id="6" idx="0"/>
          </p:cNvCxnSpPr>
          <p:nvPr/>
        </p:nvCxnSpPr>
        <p:spPr>
          <a:xfrm flipH="1">
            <a:off x="3615142" y="2564904"/>
            <a:ext cx="633867" cy="6429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4"/>
            <a:endCxn id="8" idx="0"/>
          </p:cNvCxnSpPr>
          <p:nvPr/>
        </p:nvCxnSpPr>
        <p:spPr>
          <a:xfrm>
            <a:off x="4249009" y="2564904"/>
            <a:ext cx="2188438" cy="646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4" idx="4"/>
            <a:endCxn id="7" idx="0"/>
          </p:cNvCxnSpPr>
          <p:nvPr/>
        </p:nvCxnSpPr>
        <p:spPr>
          <a:xfrm>
            <a:off x="4249009" y="2564904"/>
            <a:ext cx="814081" cy="6429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圆柱形 19"/>
          <p:cNvSpPr/>
          <p:nvPr/>
        </p:nvSpPr>
        <p:spPr>
          <a:xfrm>
            <a:off x="1691680" y="4438335"/>
            <a:ext cx="1008112" cy="104411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DB1</a:t>
            </a:r>
          </a:p>
          <a:p>
            <a:pPr algn="ctr"/>
            <a:r>
              <a:rPr lang="en-US" altLang="zh-CN" dirty="0" smtClean="0"/>
              <a:t>Backup</a:t>
            </a:r>
            <a:endParaRPr lang="zh-CN" altLang="en-US" dirty="0"/>
          </a:p>
        </p:txBody>
      </p:sp>
      <p:sp>
        <p:nvSpPr>
          <p:cNvPr id="21" name="圆柱形 20"/>
          <p:cNvSpPr/>
          <p:nvPr/>
        </p:nvSpPr>
        <p:spPr>
          <a:xfrm>
            <a:off x="3124052" y="4413442"/>
            <a:ext cx="982180" cy="109390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DB2</a:t>
            </a:r>
          </a:p>
          <a:p>
            <a:pPr algn="ctr"/>
            <a:r>
              <a:rPr lang="en-US" altLang="zh-CN" dirty="0" smtClean="0"/>
              <a:t>Backup</a:t>
            </a:r>
            <a:endParaRPr lang="zh-CN" altLang="en-US" dirty="0"/>
          </a:p>
        </p:txBody>
      </p:sp>
      <p:sp>
        <p:nvSpPr>
          <p:cNvPr id="22" name="圆柱形 21"/>
          <p:cNvSpPr/>
          <p:nvPr/>
        </p:nvSpPr>
        <p:spPr>
          <a:xfrm>
            <a:off x="4572000" y="4438334"/>
            <a:ext cx="1008112" cy="109751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DB3</a:t>
            </a:r>
          </a:p>
          <a:p>
            <a:pPr algn="ctr"/>
            <a:r>
              <a:rPr lang="en-US" altLang="zh-CN" dirty="0" smtClean="0"/>
              <a:t>Backup</a:t>
            </a:r>
            <a:endParaRPr lang="zh-CN" altLang="en-US" dirty="0"/>
          </a:p>
        </p:txBody>
      </p:sp>
      <p:sp>
        <p:nvSpPr>
          <p:cNvPr id="23" name="圆柱形 22"/>
          <p:cNvSpPr/>
          <p:nvPr/>
        </p:nvSpPr>
        <p:spPr>
          <a:xfrm>
            <a:off x="5940152" y="4438334"/>
            <a:ext cx="994589" cy="10975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DB4</a:t>
            </a:r>
          </a:p>
          <a:p>
            <a:pPr algn="ctr"/>
            <a:r>
              <a:rPr lang="en-US" altLang="zh-CN" dirty="0" smtClean="0"/>
              <a:t>Backup</a:t>
            </a:r>
            <a:endParaRPr lang="zh-CN" altLang="en-US" dirty="0"/>
          </a:p>
        </p:txBody>
      </p:sp>
      <p:cxnSp>
        <p:nvCxnSpPr>
          <p:cNvPr id="24" name="直接箭头连接符 23"/>
          <p:cNvCxnSpPr>
            <a:stCxn id="5" idx="3"/>
            <a:endCxn id="20" idx="0"/>
          </p:cNvCxnSpPr>
          <p:nvPr/>
        </p:nvCxnSpPr>
        <p:spPr>
          <a:xfrm>
            <a:off x="2195736" y="4121741"/>
            <a:ext cx="0" cy="5686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6" idx="3"/>
            <a:endCxn id="21" idx="0"/>
          </p:cNvCxnSpPr>
          <p:nvPr/>
        </p:nvCxnSpPr>
        <p:spPr>
          <a:xfrm>
            <a:off x="3615142" y="4121741"/>
            <a:ext cx="0" cy="5372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7" idx="3"/>
            <a:endCxn id="22" idx="0"/>
          </p:cNvCxnSpPr>
          <p:nvPr/>
        </p:nvCxnSpPr>
        <p:spPr>
          <a:xfrm>
            <a:off x="5063090" y="4121741"/>
            <a:ext cx="12966" cy="5686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8" idx="3"/>
            <a:endCxn id="23" idx="0"/>
          </p:cNvCxnSpPr>
          <p:nvPr/>
        </p:nvCxnSpPr>
        <p:spPr>
          <a:xfrm>
            <a:off x="6437447" y="4121741"/>
            <a:ext cx="0" cy="565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01137" y="2060848"/>
            <a:ext cx="3854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Persistent Message in arbitrary Message Node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When One Failed Just Pick Next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91665" y="5535846"/>
            <a:ext cx="6768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When One Node Failed, Just Delay the Message Sending Persistent in that Node,</a:t>
            </a:r>
          </a:p>
          <a:p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Aka, Sacrificing Availability</a:t>
            </a: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708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Shopping Cart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07018" y="6021288"/>
            <a:ext cx="6726266" cy="504056"/>
          </a:xfrm>
        </p:spPr>
        <p:txBody>
          <a:bodyPr>
            <a:noAutofit/>
          </a:bodyPr>
          <a:lstStyle/>
          <a:p>
            <a:pPr marL="365760" lvl="1" indent="0"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Relaxing Consistency When Partitioned</a:t>
            </a:r>
            <a:endPara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106815" y="1685835"/>
            <a:ext cx="2304256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Writing</a:t>
            </a:r>
            <a:endParaRPr lang="zh-CN" altLang="en-US" dirty="0"/>
          </a:p>
        </p:txBody>
      </p:sp>
      <p:sp>
        <p:nvSpPr>
          <p:cNvPr id="17" name="圆柱形 16"/>
          <p:cNvSpPr/>
          <p:nvPr/>
        </p:nvSpPr>
        <p:spPr>
          <a:xfrm>
            <a:off x="2601852" y="4700394"/>
            <a:ext cx="1008112" cy="116306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DB1</a:t>
            </a:r>
            <a:endParaRPr lang="zh-CN" altLang="en-US" dirty="0"/>
          </a:p>
        </p:txBody>
      </p:sp>
      <p:sp>
        <p:nvSpPr>
          <p:cNvPr id="18" name="圆柱形 17"/>
          <p:cNvSpPr/>
          <p:nvPr/>
        </p:nvSpPr>
        <p:spPr>
          <a:xfrm>
            <a:off x="4079061" y="4704003"/>
            <a:ext cx="982180" cy="11594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DB2</a:t>
            </a:r>
            <a:endParaRPr lang="zh-CN" altLang="en-US" dirty="0"/>
          </a:p>
        </p:txBody>
      </p:sp>
      <p:sp>
        <p:nvSpPr>
          <p:cNvPr id="19" name="圆柱形 18"/>
          <p:cNvSpPr/>
          <p:nvPr/>
        </p:nvSpPr>
        <p:spPr>
          <a:xfrm>
            <a:off x="5343228" y="4700394"/>
            <a:ext cx="982180" cy="11594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DB3</a:t>
            </a:r>
            <a:endParaRPr lang="zh-CN" altLang="en-US" dirty="0"/>
          </a:p>
        </p:txBody>
      </p:sp>
      <p:cxnSp>
        <p:nvCxnSpPr>
          <p:cNvPr id="21" name="直接箭头连接符 20"/>
          <p:cNvCxnSpPr>
            <a:stCxn id="16" idx="4"/>
            <a:endCxn id="17" idx="0"/>
          </p:cNvCxnSpPr>
          <p:nvPr/>
        </p:nvCxnSpPr>
        <p:spPr>
          <a:xfrm flipH="1">
            <a:off x="3105908" y="2693947"/>
            <a:ext cx="153035" cy="2258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6" idx="4"/>
            <a:endCxn id="18" idx="0"/>
          </p:cNvCxnSpPr>
          <p:nvPr/>
        </p:nvCxnSpPr>
        <p:spPr>
          <a:xfrm>
            <a:off x="3258943" y="2693947"/>
            <a:ext cx="1311208" cy="22556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6" idx="4"/>
            <a:endCxn id="19" idx="0"/>
          </p:cNvCxnSpPr>
          <p:nvPr/>
        </p:nvCxnSpPr>
        <p:spPr>
          <a:xfrm>
            <a:off x="3258943" y="2693947"/>
            <a:ext cx="2575375" cy="22519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6" name="椭圆 35"/>
          <p:cNvSpPr/>
          <p:nvPr/>
        </p:nvSpPr>
        <p:spPr>
          <a:xfrm>
            <a:off x="4852138" y="1685835"/>
            <a:ext cx="2304256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Reading</a:t>
            </a:r>
          </a:p>
        </p:txBody>
      </p:sp>
      <p:cxnSp>
        <p:nvCxnSpPr>
          <p:cNvPr id="40" name="直接箭头连接符 39"/>
          <p:cNvCxnSpPr>
            <a:stCxn id="18" idx="0"/>
            <a:endCxn id="36" idx="4"/>
          </p:cNvCxnSpPr>
          <p:nvPr/>
        </p:nvCxnSpPr>
        <p:spPr>
          <a:xfrm flipV="1">
            <a:off x="4570151" y="2693947"/>
            <a:ext cx="1434115" cy="22556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endCxn id="36" idx="4"/>
          </p:cNvCxnSpPr>
          <p:nvPr/>
        </p:nvCxnSpPr>
        <p:spPr>
          <a:xfrm flipV="1">
            <a:off x="5828077" y="2693947"/>
            <a:ext cx="176189" cy="22519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17" idx="0"/>
            <a:endCxn id="36" idx="4"/>
          </p:cNvCxnSpPr>
          <p:nvPr/>
        </p:nvCxnSpPr>
        <p:spPr>
          <a:xfrm flipV="1">
            <a:off x="3105908" y="2693947"/>
            <a:ext cx="2898358" cy="2258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87624" y="2693947"/>
            <a:ext cx="18592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Write multiple replicas to multi node, If one node Fails, Just Skip it.</a:t>
            </a:r>
            <a:endParaRPr lang="zh-CN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6004266" y="2924779"/>
            <a:ext cx="20961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Merging multiple replicas from multi node, if one node Fails, just ignore it.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58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银行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ATM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机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139952" y="1776699"/>
            <a:ext cx="4752528" cy="4715708"/>
          </a:xfrm>
        </p:spPr>
        <p:txBody>
          <a:bodyPr>
            <a:normAutofit fontScale="92500"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When Partitioned</a:t>
            </a: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只允许低于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200$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的提现操作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在本地记录操作的日志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When Partition Recovered</a:t>
            </a:r>
          </a:p>
          <a:p>
            <a:pPr lvl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Reapply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本地日志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如果有透支，通过外部商业流程进行补偿处理。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Sacrifice Some A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Relax Some Consistency</a:t>
            </a:r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03" y="1556792"/>
            <a:ext cx="3157835" cy="4935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892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航空订票系统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139952" y="1600200"/>
            <a:ext cx="4626096" cy="449580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超卖是一种商业选择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仅限经济舱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如果出现超卖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为用户做免费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升舱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When Partition</a:t>
            </a:r>
          </a:p>
          <a:p>
            <a:pPr lvl="1"/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Relaxing Consistency</a:t>
            </a:r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一定的补偿机制</a:t>
            </a:r>
            <a:endParaRPr lang="en-US" altLang="zh-CN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3312368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222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的实际含义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60" y="1628800"/>
            <a:ext cx="8019196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154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总结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CAP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的实际效果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探索适合不同应用的一致性与可用性平衡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在没有分区发生时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可以同时满足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，以及完整的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ACID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事务支持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可以选择牺牲一定的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，获得更好的性能与扩展性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分区发生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时，选择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集中关注分区的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恢复）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需要有分区开始前、进行中、恢复后的处理策略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应用合适的补偿处理机制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2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2493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参考资料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 err="1"/>
              <a:t>NoSQL</a:t>
            </a:r>
            <a:r>
              <a:rPr lang="en-US" altLang="zh-CN" b="1" dirty="0"/>
              <a:t>: Past, Present, </a:t>
            </a:r>
            <a:r>
              <a:rPr lang="en-US" altLang="zh-CN" b="1" dirty="0" smtClean="0"/>
              <a:t>Future</a:t>
            </a:r>
          </a:p>
          <a:p>
            <a:pPr lvl="1"/>
            <a:r>
              <a:rPr lang="en-US" altLang="zh-CN" b="1" dirty="0" smtClean="0"/>
              <a:t>By Eric Brewer</a:t>
            </a:r>
          </a:p>
          <a:p>
            <a:r>
              <a:rPr lang="en-US" altLang="zh-CN" b="1" dirty="0">
                <a:hlinkClick r:id="rId2"/>
              </a:rPr>
              <a:t>CAP Twelve Years Later: How the "Rules" Have Changed</a:t>
            </a:r>
            <a:endParaRPr lang="en-US" altLang="zh-CN" b="1" dirty="0"/>
          </a:p>
          <a:p>
            <a:pPr lvl="1"/>
            <a:r>
              <a:rPr lang="en-US" altLang="zh-CN" dirty="0" smtClean="0"/>
              <a:t>By Eric Brewer</a:t>
            </a:r>
          </a:p>
          <a:p>
            <a:r>
              <a:rPr lang="en-US" altLang="zh-CN" b="1" dirty="0"/>
              <a:t>Towards </a:t>
            </a:r>
            <a:r>
              <a:rPr lang="en-US" altLang="zh-CN" b="1" dirty="0" smtClean="0"/>
              <a:t>Robust Distributed Systems</a:t>
            </a:r>
          </a:p>
          <a:p>
            <a:pPr lvl="1"/>
            <a:r>
              <a:rPr lang="en-US" altLang="zh-CN" b="1" dirty="0" smtClean="0"/>
              <a:t>By Eric Brewer</a:t>
            </a:r>
          </a:p>
          <a:p>
            <a:r>
              <a:rPr lang="en-US" altLang="zh-CN" b="1" i="1" dirty="0">
                <a:hlinkClick r:id="rId3"/>
              </a:rPr>
              <a:t>Dynamo</a:t>
            </a:r>
            <a:r>
              <a:rPr lang="en-US" altLang="zh-CN" b="1" dirty="0">
                <a:hlinkClick r:id="rId3"/>
              </a:rPr>
              <a:t>: </a:t>
            </a:r>
            <a:r>
              <a:rPr lang="en-US" altLang="zh-CN" b="1" i="1" dirty="0">
                <a:hlinkClick r:id="rId3"/>
              </a:rPr>
              <a:t>Amazon's</a:t>
            </a:r>
            <a:r>
              <a:rPr lang="en-US" altLang="zh-CN" b="1" dirty="0">
                <a:hlinkClick r:id="rId3"/>
              </a:rPr>
              <a:t> Highly Available Key-value </a:t>
            </a:r>
            <a:r>
              <a:rPr lang="en-US" altLang="zh-CN" b="1" dirty="0" smtClean="0">
                <a:hlinkClick r:id="rId3"/>
              </a:rPr>
              <a:t>Store</a:t>
            </a:r>
            <a:endParaRPr lang="en-US" altLang="zh-CN" b="1" dirty="0" smtClean="0"/>
          </a:p>
          <a:p>
            <a:pPr lvl="1"/>
            <a:r>
              <a:rPr lang="en-US" altLang="zh-CN" b="1" dirty="0" smtClean="0"/>
              <a:t>By </a:t>
            </a:r>
            <a:r>
              <a:rPr lang="en-US" altLang="zh-CN" dirty="0"/>
              <a:t>Giuseppe </a:t>
            </a:r>
            <a:r>
              <a:rPr lang="en-US" altLang="zh-CN" dirty="0" err="1" smtClean="0"/>
              <a:t>DeCandia</a:t>
            </a:r>
            <a:r>
              <a:rPr lang="en-US" altLang="zh-CN" dirty="0" smtClean="0"/>
              <a:t>,</a:t>
            </a:r>
            <a:r>
              <a:rPr lang="en-US" altLang="zh-CN" dirty="0"/>
              <a:t> Werner </a:t>
            </a:r>
            <a:r>
              <a:rPr lang="en-US" altLang="zh-CN" dirty="0" err="1" smtClean="0"/>
              <a:t>Vogels</a:t>
            </a:r>
            <a:r>
              <a:rPr lang="en-US" altLang="zh-CN" dirty="0" smtClean="0"/>
              <a:t> etc..</a:t>
            </a:r>
            <a:endParaRPr lang="en-US" altLang="zh-CN" b="1" dirty="0"/>
          </a:p>
          <a:p>
            <a:pPr lvl="1"/>
            <a:endParaRPr lang="en-US" altLang="zh-CN" b="1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5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Any Questions?</a:t>
            </a:r>
            <a:endParaRPr lang="zh-CN" altLang="en-US" dirty="0"/>
          </a:p>
        </p:txBody>
      </p:sp>
      <p:pic>
        <p:nvPicPr>
          <p:cNvPr id="10242" name="Picture 2" descr="C:\Users\jametong\Desktop\ques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74066"/>
            <a:ext cx="6858000" cy="47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68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我的模板1</Template>
  <TotalTime>833</TotalTime>
  <Words>1003</Words>
  <Application>Microsoft Office PowerPoint</Application>
  <PresentationFormat>全屏显示(4:3)</PresentationFormat>
  <Paragraphs>199</Paragraphs>
  <Slides>21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中性</vt:lpstr>
      <vt:lpstr>CAP:理论与实践</vt:lpstr>
      <vt:lpstr>内容大纲</vt:lpstr>
      <vt:lpstr>CAP原理的历史</vt:lpstr>
      <vt:lpstr>CAP流行的几大推手</vt:lpstr>
      <vt:lpstr>CAP Theorem</vt:lpstr>
      <vt:lpstr>CAP ,Pick Two?</vt:lpstr>
      <vt:lpstr>面对P，真的必须牺牲一致性吗？</vt:lpstr>
      <vt:lpstr>Reliability &amp; $$</vt:lpstr>
      <vt:lpstr>数据状态机的分类</vt:lpstr>
      <vt:lpstr>其实，CAP并没有声明…</vt:lpstr>
      <vt:lpstr>CAP与ACID</vt:lpstr>
      <vt:lpstr>像程序员一样思考</vt:lpstr>
      <vt:lpstr>User Profile处理</vt:lpstr>
      <vt:lpstr>Message Processing</vt:lpstr>
      <vt:lpstr>Shopping Cart</vt:lpstr>
      <vt:lpstr>银行ATM机</vt:lpstr>
      <vt:lpstr>航空订票系统</vt:lpstr>
      <vt:lpstr>CAP的实际含义</vt:lpstr>
      <vt:lpstr>总结</vt:lpstr>
      <vt:lpstr>参考资料</vt:lpstr>
      <vt:lpstr>Any 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CAP:理论与实践</dc:title>
  <dc:creator>jametong</dc:creator>
  <cp:lastModifiedBy>jametong</cp:lastModifiedBy>
  <cp:revision>75</cp:revision>
  <dcterms:created xsi:type="dcterms:W3CDTF">2013-04-15T05:51:27Z</dcterms:created>
  <dcterms:modified xsi:type="dcterms:W3CDTF">2013-04-16T08:09:53Z</dcterms:modified>
</cp:coreProperties>
</file>