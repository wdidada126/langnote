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49" r:id="rId3"/>
    <p:sldId id="451" r:id="rId5"/>
    <p:sldId id="619" r:id="rId6"/>
    <p:sldId id="620" r:id="rId7"/>
    <p:sldId id="614" r:id="rId8"/>
    <p:sldId id="615" r:id="rId9"/>
    <p:sldId id="616" r:id="rId10"/>
    <p:sldId id="617" r:id="rId11"/>
    <p:sldId id="627" r:id="rId12"/>
    <p:sldId id="624" r:id="rId13"/>
    <p:sldId id="602" r:id="rId14"/>
    <p:sldId id="621" r:id="rId15"/>
    <p:sldId id="622" r:id="rId16"/>
    <p:sldId id="628" r:id="rId17"/>
    <p:sldId id="629" r:id="rId18"/>
    <p:sldId id="630" r:id="rId19"/>
    <p:sldId id="631" r:id="rId20"/>
    <p:sldId id="632" r:id="rId21"/>
    <p:sldId id="633" r:id="rId22"/>
    <p:sldId id="603" r:id="rId23"/>
    <p:sldId id="623" r:id="rId24"/>
    <p:sldId id="606" r:id="rId25"/>
    <p:sldId id="634" r:id="rId26"/>
    <p:sldId id="635" r:id="rId27"/>
    <p:sldId id="636" r:id="rId28"/>
    <p:sldId id="644" r:id="rId29"/>
    <p:sldId id="645" r:id="rId30"/>
    <p:sldId id="646" r:id="rId31"/>
    <p:sldId id="647" r:id="rId32"/>
    <p:sldId id="648" r:id="rId33"/>
    <p:sldId id="649" r:id="rId34"/>
    <p:sldId id="651" r:id="rId35"/>
    <p:sldId id="652" r:id="rId36"/>
    <p:sldId id="604" r:id="rId37"/>
    <p:sldId id="641" r:id="rId38"/>
    <p:sldId id="642" r:id="rId39"/>
    <p:sldId id="643" r:id="rId40"/>
    <p:sldId id="292" r:id="rId41"/>
  </p:sldIdLst>
  <p:sldSz cx="12192000" cy="6858000"/>
  <p:notesSz cx="6797675" cy="9928225"/>
  <p:custDataLst>
    <p:tags r:id="rId4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8A3D5"/>
    <a:srgbClr val="45C1A4"/>
    <a:srgbClr val="0070C0"/>
    <a:srgbClr val="CC6600"/>
    <a:srgbClr val="F88A5E"/>
    <a:srgbClr val="DFF1FC"/>
    <a:srgbClr val="F3F9FA"/>
    <a:srgbClr val="E0470A"/>
    <a:srgbClr val="F1D16E"/>
    <a:srgbClr val="92D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757" autoAdjust="0"/>
    <p:restoredTop sz="85338" autoAdjust="0"/>
  </p:normalViewPr>
  <p:slideViewPr>
    <p:cSldViewPr snapToGrid="0">
      <p:cViewPr varScale="1">
        <p:scale>
          <a:sx n="73" d="100"/>
          <a:sy n="73" d="100"/>
        </p:scale>
        <p:origin x="576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5" Type="http://schemas.openxmlformats.org/officeDocument/2006/relationships/tags" Target="tags/tag1.xml"/><Relationship Id="rId44" Type="http://schemas.openxmlformats.org/officeDocument/2006/relationships/tableStyles" Target="tableStyles.xml"/><Relationship Id="rId43" Type="http://schemas.openxmlformats.org/officeDocument/2006/relationships/viewProps" Target="viewProps.xml"/><Relationship Id="rId42" Type="http://schemas.openxmlformats.org/officeDocument/2006/relationships/presProps" Target="presProps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C0F7B8-3097-4669-8E62-5BE6BCD9FB5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7E94B9-1F08-48DF-B7B6-E879767F1CA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A9C252-B8D0-45BC-8B32-1871FD7C782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7E94B9-1F08-48DF-B7B6-E879767F1CA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7E94B9-1F08-48DF-B7B6-E879767F1CA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7E94B9-1F08-48DF-B7B6-E879767F1CA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7E94B9-1F08-48DF-B7B6-E879767F1CA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7E94B9-1F08-48DF-B7B6-E879767F1CA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7E94B9-1F08-48DF-B7B6-E879767F1CA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altLang="zh-CN" dirty="0"/>
          </a:p>
          <a:p>
            <a:pPr marL="228600" indent="-228600">
              <a:buAutoNum type="arabicPeriod"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7E94B9-1F08-48DF-B7B6-E879767F1CA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7E94B9-1F08-48DF-B7B6-E879767F1CA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7E94B9-1F08-48DF-B7B6-E879767F1CA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7E94B9-1F08-48DF-B7B6-E879767F1CA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7E94B9-1F08-48DF-B7B6-E879767F1CA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7E94B9-1F08-48DF-B7B6-E879767F1CA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7E94B9-1F08-48DF-B7B6-E879767F1CA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7E94B9-1F08-48DF-B7B6-E879767F1CA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7E94B9-1F08-48DF-B7B6-E879767F1CA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7E94B9-1F08-48DF-B7B6-E879767F1CA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7E94B9-1F08-48DF-B7B6-E879767F1CA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7E94B9-1F08-48DF-B7B6-E879767F1CA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7E94B9-1F08-48DF-B7B6-E879767F1CA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7E94B9-1F08-48DF-B7B6-E879767F1CA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7E94B9-1F08-48DF-B7B6-E879767F1CA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7E94B9-1F08-48DF-B7B6-E879767F1CA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7E94B9-1F08-48DF-B7B6-E879767F1CA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7E94B9-1F08-48DF-B7B6-E879767F1CA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7E94B9-1F08-48DF-B7B6-E879767F1CA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7E94B9-1F08-48DF-B7B6-E879767F1CA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7E94B9-1F08-48DF-B7B6-E879767F1CA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7E94B9-1F08-48DF-B7B6-E879767F1CA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7E94B9-1F08-48DF-B7B6-E879767F1CA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2C472D-E06A-4DEE-A03D-A77B88F9E2D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2402" y="160750"/>
            <a:ext cx="1807410" cy="430170"/>
          </a:xfrm>
          <a:prstGeom prst="rect">
            <a:avLst/>
          </a:prstGeom>
        </p:spPr>
      </p:pic>
      <p:pic>
        <p:nvPicPr>
          <p:cNvPr id="11" name="Picture 2" descr="C:\Users\ZhangHanwen\Desktop\未标题-4.png"/>
          <p:cNvPicPr>
            <a:picLocks noChangeAspect="1" noChangeArrowheads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>
            <a:off x="1245300" y="3911119"/>
            <a:ext cx="9501650" cy="2946881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000">
        <p:random/>
      </p:transition>
    </mc:Choice>
    <mc:Fallback>
      <p:transition spd="slow" advTm="100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五边形 2"/>
          <p:cNvSpPr>
            <a:spLocks noChangeArrowheads="1"/>
          </p:cNvSpPr>
          <p:nvPr userDrawn="1"/>
        </p:nvSpPr>
        <p:spPr bwMode="auto">
          <a:xfrm>
            <a:off x="0" y="152401"/>
            <a:ext cx="698227" cy="471488"/>
          </a:xfrm>
          <a:prstGeom prst="homePlate">
            <a:avLst>
              <a:gd name="adj" fmla="val 49904"/>
            </a:avLst>
          </a:prstGeom>
          <a:solidFill>
            <a:schemeClr val="accent4"/>
          </a:solidFill>
          <a:ln>
            <a:noFill/>
          </a:ln>
        </p:spPr>
        <p:txBody>
          <a:bodyPr lIns="91400" tIns="45700" rIns="91400" bIns="45700"/>
          <a:lstStyle/>
          <a:p>
            <a:endParaRPr lang="zh-CN" altLang="en-US"/>
          </a:p>
        </p:txBody>
      </p:sp>
      <p:sp>
        <p:nvSpPr>
          <p:cNvPr id="14" name="燕尾形 8"/>
          <p:cNvSpPr>
            <a:spLocks noChangeArrowheads="1"/>
          </p:cNvSpPr>
          <p:nvPr userDrawn="1"/>
        </p:nvSpPr>
        <p:spPr bwMode="auto">
          <a:xfrm>
            <a:off x="566516" y="152401"/>
            <a:ext cx="431632" cy="471488"/>
          </a:xfrm>
          <a:prstGeom prst="chevron">
            <a:avLst>
              <a:gd name="adj" fmla="val 50000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txBody>
          <a:bodyPr lIns="91400" tIns="45700" rIns="91400" bIns="45700"/>
          <a:lstStyle/>
          <a:p>
            <a:endParaRPr lang="zh-CN" altLang="en-US"/>
          </a:p>
        </p:txBody>
      </p:sp>
      <p:sp>
        <p:nvSpPr>
          <p:cNvPr id="24" name="椭圆 23"/>
          <p:cNvSpPr/>
          <p:nvPr userDrawn="1"/>
        </p:nvSpPr>
        <p:spPr>
          <a:xfrm>
            <a:off x="11583988" y="6353175"/>
            <a:ext cx="298450" cy="29845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5" name="椭圆 24"/>
          <p:cNvSpPr/>
          <p:nvPr userDrawn="1"/>
        </p:nvSpPr>
        <p:spPr>
          <a:xfrm>
            <a:off x="11882438" y="6300788"/>
            <a:ext cx="142875" cy="14128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6" name="椭圆 25"/>
          <p:cNvSpPr/>
          <p:nvPr userDrawn="1"/>
        </p:nvSpPr>
        <p:spPr>
          <a:xfrm>
            <a:off x="11969750" y="6515100"/>
            <a:ext cx="60325" cy="6032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7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35506" y="6321182"/>
            <a:ext cx="3868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35F372B-0072-4BE8-B1FF-3116CE4E13A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2402" y="160750"/>
            <a:ext cx="1807410" cy="430170"/>
          </a:xfrm>
          <a:prstGeom prst="rect">
            <a:avLst/>
          </a:prstGeom>
        </p:spPr>
      </p:pic>
      <p:pic>
        <p:nvPicPr>
          <p:cNvPr id="9" name="Picture 2" descr="C:\Users\ZhangHanwen\Desktop\未标题-4.png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1245300" y="3911119"/>
            <a:ext cx="9501650" cy="2946881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000">
        <p:random/>
      </p:transition>
    </mc:Choice>
    <mc:Fallback>
      <p:transition spd="slow" advTm="100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椭圆 23"/>
          <p:cNvSpPr/>
          <p:nvPr userDrawn="1"/>
        </p:nvSpPr>
        <p:spPr>
          <a:xfrm>
            <a:off x="11583988" y="6353175"/>
            <a:ext cx="298450" cy="29845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5" name="椭圆 24"/>
          <p:cNvSpPr/>
          <p:nvPr userDrawn="1"/>
        </p:nvSpPr>
        <p:spPr>
          <a:xfrm>
            <a:off x="11882438" y="6300788"/>
            <a:ext cx="142875" cy="14128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6" name="椭圆 25"/>
          <p:cNvSpPr/>
          <p:nvPr userDrawn="1"/>
        </p:nvSpPr>
        <p:spPr>
          <a:xfrm>
            <a:off x="11969750" y="6515100"/>
            <a:ext cx="60325" cy="6032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7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35506" y="6321182"/>
            <a:ext cx="3868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35F372B-0072-4BE8-B1FF-3116CE4E13A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2402" y="160750"/>
            <a:ext cx="1807410" cy="430170"/>
          </a:xfrm>
          <a:prstGeom prst="rect">
            <a:avLst/>
          </a:prstGeom>
        </p:spPr>
      </p:pic>
      <p:pic>
        <p:nvPicPr>
          <p:cNvPr id="9" name="Picture 2" descr="C:\Users\ZhangHanwen\Desktop\未标题-4.png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1245300" y="3911119"/>
            <a:ext cx="9501650" cy="2946881"/>
          </a:xfrm>
          <a:prstGeom prst="rect">
            <a:avLst/>
          </a:prstGeom>
          <a:noFill/>
        </p:spPr>
      </p:pic>
      <p:sp>
        <p:nvSpPr>
          <p:cNvPr id="10" name="椭圆 9"/>
          <p:cNvSpPr/>
          <p:nvPr userDrawn="1"/>
        </p:nvSpPr>
        <p:spPr>
          <a:xfrm>
            <a:off x="224415" y="234917"/>
            <a:ext cx="348901" cy="348901"/>
          </a:xfrm>
          <a:prstGeom prst="ellipse">
            <a:avLst/>
          </a:prstGeom>
          <a:ln>
            <a:noFill/>
          </a:ln>
          <a:effectLst>
            <a:outerShdw blurRad="1270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2" name="椭圆 11"/>
          <p:cNvSpPr/>
          <p:nvPr userDrawn="1"/>
        </p:nvSpPr>
        <p:spPr>
          <a:xfrm>
            <a:off x="477625" y="234917"/>
            <a:ext cx="191381" cy="191381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000">
        <p:random/>
      </p:transition>
    </mc:Choice>
    <mc:Fallback>
      <p:transition spd="slow" advTm="1000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000">
        <p:random/>
      </p:transition>
    </mc:Choice>
    <mc:Fallback>
      <p:transition spd="slow" advTm="1000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000">
        <p:random/>
      </p:transition>
    </mc:Choice>
    <mc:Fallback>
      <p:transition spd="slow" advTm="1000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有页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 userDrawn="1"/>
        </p:nvSpPr>
        <p:spPr>
          <a:xfrm>
            <a:off x="11583988" y="6353175"/>
            <a:ext cx="298450" cy="29845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椭圆 2"/>
          <p:cNvSpPr/>
          <p:nvPr userDrawn="1"/>
        </p:nvSpPr>
        <p:spPr>
          <a:xfrm>
            <a:off x="11882438" y="6300788"/>
            <a:ext cx="142875" cy="141287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椭圆 3"/>
          <p:cNvSpPr/>
          <p:nvPr userDrawn="1"/>
        </p:nvSpPr>
        <p:spPr>
          <a:xfrm>
            <a:off x="11969750" y="6515100"/>
            <a:ext cx="60325" cy="6032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>
          <a:xfrm>
            <a:off x="11518900" y="6315075"/>
            <a:ext cx="430213" cy="36512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</a:lstStyle>
          <a:p>
            <a:fld id="{3CAA7E89-ABB9-485B-8EAF-4D6A08193F1C}" type="slidenum">
              <a:rPr lang="zh-CN" altLang="en-US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 bwMode="auto">
          <a:xfrm>
            <a:off x="0" y="242888"/>
            <a:ext cx="401638" cy="461962"/>
          </a:xfrm>
          <a:prstGeom prst="rect">
            <a:avLst/>
          </a:prstGeom>
          <a:solidFill>
            <a:srgbClr val="EB75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8401" y="242888"/>
            <a:ext cx="776407" cy="461962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1.png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mc:AlternateContent xmlns:mc="http://schemas.openxmlformats.org/markup-compatibility/2006">
    <mc:Choice xmlns:p14="http://schemas.microsoft.com/office/powerpoint/2010/main" Requires="p14">
      <p:transition spd="slow" p14:dur="1500" advTm="1000">
        <p:random/>
      </p:transition>
    </mc:Choice>
    <mc:Fallback>
      <p:transition spd="slow" advTm="1000">
        <p:random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.xml"/><Relationship Id="rId8" Type="http://schemas.openxmlformats.org/officeDocument/2006/relationships/image" Target="../media/image15.png"/><Relationship Id="rId7" Type="http://schemas.openxmlformats.org/officeDocument/2006/relationships/image" Target="../media/image14.wmf"/><Relationship Id="rId6" Type="http://schemas.openxmlformats.org/officeDocument/2006/relationships/oleObject" Target="file:///C:\Work\&#26550;&#26500;\&#20195;&#30721;&#36136;&#37327;\&#32593;&#32476;&#22521;&#35757;&#21644;&#35780;&#20215;&#31995;&#32479;-WEB&#30028;&#38754;&#35774;&#35745;&#35268;&#33539;.doc" TargetMode="External"/><Relationship Id="rId5" Type="http://schemas.openxmlformats.org/officeDocument/2006/relationships/image" Target="../media/image13.wmf"/><Relationship Id="rId4" Type="http://schemas.openxmlformats.org/officeDocument/2006/relationships/oleObject" Target="../embeddings/oleObject2.bin"/><Relationship Id="rId3" Type="http://schemas.openxmlformats.org/officeDocument/2006/relationships/image" Target="../media/image12.png"/><Relationship Id="rId2" Type="http://schemas.openxmlformats.org/officeDocument/2006/relationships/image" Target="../media/image11.wmf"/><Relationship Id="rId11" Type="http://schemas.openxmlformats.org/officeDocument/2006/relationships/notesSlide" Target="../notesSlides/notesSlide10.xml"/><Relationship Id="rId10" Type="http://schemas.openxmlformats.org/officeDocument/2006/relationships/vmlDrawing" Target="../drawings/vmlDrawing1.vml"/><Relationship Id="rId1" Type="http://schemas.openxmlformats.org/officeDocument/2006/relationships/oleObject" Target="../embeddings/oleObject1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1.x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36.png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1.xml"/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8.wmf"/><Relationship Id="rId1" Type="http://schemas.openxmlformats.org/officeDocument/2006/relationships/oleObject" Target="../embeddings/oleObject3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6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6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40.jpeg"/><Relationship Id="rId1" Type="http://schemas.openxmlformats.org/officeDocument/2006/relationships/image" Target="../media/image3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7"/>
          <p:cNvSpPr>
            <a:spLocks noChangeArrowheads="1"/>
          </p:cNvSpPr>
          <p:nvPr/>
        </p:nvSpPr>
        <p:spPr bwMode="auto">
          <a:xfrm>
            <a:off x="6343923" y="4092174"/>
            <a:ext cx="5453125" cy="276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defRPr/>
            </a:pP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区志玲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2018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年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12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月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252197" y="2098952"/>
            <a:ext cx="5453124" cy="1630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  <a:defRPr/>
            </a:pPr>
            <a:r>
              <a:rPr lang="zh-CN" altLang="en-US" sz="4400" b="1" spc="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代码规范和代码质量管理平台</a:t>
            </a:r>
            <a:r>
              <a:rPr lang="zh-CN" altLang="en-US" sz="4400" b="1" spc="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培训</a:t>
            </a:r>
            <a:endParaRPr lang="zh-CN" altLang="en-US" sz="4400" b="1" spc="4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1" y="1133341"/>
            <a:ext cx="5380339" cy="5703160"/>
          </a:xfrm>
          <a:prstGeom prst="rect">
            <a:avLst/>
          </a:prstGeom>
          <a:effectLst/>
        </p:spPr>
      </p:pic>
      <p:cxnSp>
        <p:nvCxnSpPr>
          <p:cNvPr id="22" name="直接连接符 5"/>
          <p:cNvCxnSpPr>
            <a:cxnSpLocks noChangeShapeType="1"/>
          </p:cNvCxnSpPr>
          <p:nvPr/>
        </p:nvCxnSpPr>
        <p:spPr bwMode="auto">
          <a:xfrm flipH="1">
            <a:off x="6343924" y="3872817"/>
            <a:ext cx="5453124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3" name="组合 22"/>
          <p:cNvGrpSpPr/>
          <p:nvPr/>
        </p:nvGrpSpPr>
        <p:grpSpPr>
          <a:xfrm>
            <a:off x="8945099" y="4012081"/>
            <a:ext cx="432048" cy="432834"/>
            <a:chOff x="6084168" y="1274820"/>
            <a:chExt cx="432048" cy="432834"/>
          </a:xfrm>
        </p:grpSpPr>
        <p:sp>
          <p:nvSpPr>
            <p:cNvPr id="24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5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latin typeface="Roboto Light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7648955" y="4012474"/>
            <a:ext cx="432048" cy="432048"/>
            <a:chOff x="4788024" y="1275213"/>
            <a:chExt cx="432048" cy="432048"/>
          </a:xfrm>
        </p:grpSpPr>
        <p:sp>
          <p:nvSpPr>
            <p:cNvPr id="27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8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latin typeface="Roboto Light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8297027" y="4012081"/>
            <a:ext cx="432833" cy="432834"/>
            <a:chOff x="5436096" y="1274820"/>
            <a:chExt cx="432833" cy="432834"/>
          </a:xfrm>
        </p:grpSpPr>
        <p:sp>
          <p:nvSpPr>
            <p:cNvPr id="30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1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latin typeface="Roboto Light"/>
              </a:endParaRP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6352811" y="4012081"/>
            <a:ext cx="432833" cy="432834"/>
            <a:chOff x="3491880" y="1274820"/>
            <a:chExt cx="432833" cy="432834"/>
          </a:xfrm>
        </p:grpSpPr>
        <p:sp>
          <p:nvSpPr>
            <p:cNvPr id="33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4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latin typeface="Roboto Light"/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7000883" y="4012081"/>
            <a:ext cx="432833" cy="432834"/>
            <a:chOff x="4139952" y="1274820"/>
            <a:chExt cx="432833" cy="432834"/>
          </a:xfrm>
        </p:grpSpPr>
        <p:sp>
          <p:nvSpPr>
            <p:cNvPr id="36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7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latin typeface="Roboto Ligh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Click="0" advTm="0">
        <p15:prstTrans prst="fracture"/>
      </p:transition>
    </mc:Choice>
    <mc:Fallback>
      <p:transition spd="slow" advClick="0" advTm="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5"/>
          <p:cNvSpPr txBox="1">
            <a:spLocks noChangeArrowheads="1"/>
          </p:cNvSpPr>
          <p:nvPr/>
        </p:nvSpPr>
        <p:spPr bwMode="auto">
          <a:xfrm>
            <a:off x="2786886" y="3038550"/>
            <a:ext cx="3984028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r>
              <a:rPr lang="zh-CN" altLang="en-US" sz="3600" b="1" dirty="0">
                <a:solidFill>
                  <a:schemeClr val="accent4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代码质量管理平台</a:t>
            </a:r>
            <a:endParaRPr lang="en-US" altLang="zh-CN" sz="3600" b="1" dirty="0">
              <a:solidFill>
                <a:schemeClr val="accent4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2786887" y="3802631"/>
            <a:ext cx="2921455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2786887" y="3920382"/>
            <a:ext cx="1652606" cy="35331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+mj-lt"/>
              </a:rPr>
              <a:t>PART ONE</a:t>
            </a:r>
            <a:endParaRPr lang="zh-CN" altLang="en-US" sz="1600">
              <a:latin typeface="+mj-lt"/>
            </a:endParaRPr>
          </a:p>
        </p:txBody>
      </p:sp>
      <p:sp>
        <p:nvSpPr>
          <p:cNvPr id="15" name="Text Box 7"/>
          <p:cNvSpPr txBox="1">
            <a:spLocks noChangeArrowheads="1"/>
          </p:cNvSpPr>
          <p:nvPr/>
        </p:nvSpPr>
        <p:spPr bwMode="auto">
          <a:xfrm>
            <a:off x="1616947" y="2376850"/>
            <a:ext cx="923290" cy="261429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60923" tIns="30461" rIns="60923" bIns="30461">
            <a:spAutoFit/>
          </a:bodyPr>
          <a:lstStyle/>
          <a:p>
            <a:pPr algn="r" defTabSz="1087755"/>
            <a:r>
              <a:rPr lang="en-US" altLang="zh-CN" sz="16600" kern="0" dirty="0">
                <a:solidFill>
                  <a:schemeClr val="accent4"/>
                </a:solidFill>
                <a:latin typeface="Impact" panose="020B0806030902050204" pitchFamily="34" charset="0"/>
                <a:ea typeface="微软雅黑" panose="020B0503020204020204" pitchFamily="34" charset="-122"/>
                <a:cs typeface="IrisUPC" pitchFamily="34" charset="-34"/>
              </a:rPr>
              <a:t>1</a:t>
            </a:r>
            <a:endParaRPr lang="en-CA" sz="16600" spc="-151" dirty="0">
              <a:solidFill>
                <a:schemeClr val="accent4"/>
              </a:solidFill>
              <a:latin typeface="Impact" panose="020B0806030902050204" pitchFamily="34" charset="0"/>
              <a:ea typeface="微软雅黑" panose="020B0503020204020204" pitchFamily="34" charset="-122"/>
              <a:cs typeface="IrisUPC" pitchFamily="34" charset="-34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1640" y="1595088"/>
            <a:ext cx="5051955" cy="44150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0">
        <p14:prism isContent="1"/>
      </p:transition>
    </mc:Choice>
    <mc:Fallback>
      <p:transition spd="slow" advClick="0" advTm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/>
          <p:cNvSpPr txBox="1"/>
          <p:nvPr/>
        </p:nvSpPr>
        <p:spPr>
          <a:xfrm>
            <a:off x="1160823" y="135105"/>
            <a:ext cx="9267385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2800"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SonarQube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中的三种代码质量问题类型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3" name="Group 3"/>
          <p:cNvGrpSpPr/>
          <p:nvPr/>
        </p:nvGrpSpPr>
        <p:grpSpPr>
          <a:xfrm>
            <a:off x="4992479" y="1263888"/>
            <a:ext cx="521594" cy="3612118"/>
            <a:chOff x="4160049" y="1274619"/>
            <a:chExt cx="695459" cy="4816157"/>
          </a:xfrm>
          <a:solidFill>
            <a:schemeClr val="tx1">
              <a:lumMod val="50000"/>
              <a:lumOff val="50000"/>
            </a:schemeClr>
          </a:solidFill>
        </p:grpSpPr>
        <p:sp>
          <p:nvSpPr>
            <p:cNvPr id="24" name="Rectangle 4"/>
            <p:cNvSpPr/>
            <p:nvPr/>
          </p:nvSpPr>
          <p:spPr>
            <a:xfrm>
              <a:off x="4160049" y="1274619"/>
              <a:ext cx="695459" cy="405977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25" name="Isosceles Triangle 5"/>
            <p:cNvSpPr/>
            <p:nvPr/>
          </p:nvSpPr>
          <p:spPr>
            <a:xfrm flipV="1">
              <a:off x="4160049" y="5334390"/>
              <a:ext cx="695459" cy="756386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26" name="Isosceles Triangle 6"/>
            <p:cNvSpPr/>
            <p:nvPr/>
          </p:nvSpPr>
          <p:spPr>
            <a:xfrm flipV="1">
              <a:off x="4399999" y="5852463"/>
              <a:ext cx="220319" cy="238313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27" name="Group 7"/>
          <p:cNvGrpSpPr/>
          <p:nvPr/>
        </p:nvGrpSpPr>
        <p:grpSpPr>
          <a:xfrm>
            <a:off x="4468978" y="3086242"/>
            <a:ext cx="1045094" cy="1004080"/>
            <a:chOff x="5013756" y="3958570"/>
            <a:chExt cx="1393459" cy="1338773"/>
          </a:xfrm>
        </p:grpSpPr>
        <p:sp>
          <p:nvSpPr>
            <p:cNvPr id="28" name="Diamond 8"/>
            <p:cNvSpPr/>
            <p:nvPr/>
          </p:nvSpPr>
          <p:spPr>
            <a:xfrm>
              <a:off x="5013756" y="3958570"/>
              <a:ext cx="1393459" cy="1338773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grpSp>
          <p:nvGrpSpPr>
            <p:cNvPr id="29" name="Group 9"/>
            <p:cNvGrpSpPr/>
            <p:nvPr/>
          </p:nvGrpSpPr>
          <p:grpSpPr>
            <a:xfrm>
              <a:off x="5478313" y="4439043"/>
              <a:ext cx="464344" cy="377825"/>
              <a:chOff x="10074275" y="4479132"/>
              <a:chExt cx="464344" cy="377825"/>
            </a:xfrm>
            <a:solidFill>
              <a:schemeClr val="bg1"/>
            </a:solidFill>
          </p:grpSpPr>
          <p:sp>
            <p:nvSpPr>
              <p:cNvPr id="30" name="AutoShape 5"/>
              <p:cNvSpPr/>
              <p:nvPr/>
            </p:nvSpPr>
            <p:spPr bwMode="auto">
              <a:xfrm>
                <a:off x="10393363" y="4595019"/>
                <a:ext cx="87313" cy="116681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7999" y="18900"/>
                    </a:moveTo>
                    <a:lnTo>
                      <a:pt x="3600" y="18900"/>
                    </a:lnTo>
                    <a:lnTo>
                      <a:pt x="3600" y="2700"/>
                    </a:lnTo>
                    <a:lnTo>
                      <a:pt x="7200" y="2700"/>
                    </a:lnTo>
                    <a:lnTo>
                      <a:pt x="17999" y="14850"/>
                    </a:lnTo>
                    <a:cubicBezTo>
                      <a:pt x="17999" y="14850"/>
                      <a:pt x="17999" y="18900"/>
                      <a:pt x="17999" y="18900"/>
                    </a:cubicBezTo>
                    <a:close/>
                    <a:moveTo>
                      <a:pt x="10195" y="1202"/>
                    </a:moveTo>
                    <a:cubicBezTo>
                      <a:pt x="9527" y="450"/>
                      <a:pt x="8402" y="0"/>
                      <a:pt x="7200" y="0"/>
                    </a:cubicBezTo>
                    <a:lnTo>
                      <a:pt x="3600" y="0"/>
                    </a:lnTo>
                    <a:cubicBezTo>
                      <a:pt x="1610" y="0"/>
                      <a:pt x="0" y="1207"/>
                      <a:pt x="0" y="2700"/>
                    </a:cubicBezTo>
                    <a:lnTo>
                      <a:pt x="0" y="18900"/>
                    </a:lnTo>
                    <a:cubicBezTo>
                      <a:pt x="0" y="20392"/>
                      <a:pt x="1610" y="21599"/>
                      <a:pt x="3600" y="21599"/>
                    </a:cubicBezTo>
                    <a:lnTo>
                      <a:pt x="17999" y="21599"/>
                    </a:lnTo>
                    <a:cubicBezTo>
                      <a:pt x="19989" y="21599"/>
                      <a:pt x="21600" y="20392"/>
                      <a:pt x="21600" y="18900"/>
                    </a:cubicBezTo>
                    <a:lnTo>
                      <a:pt x="21600" y="14850"/>
                    </a:lnTo>
                    <a:cubicBezTo>
                      <a:pt x="21600" y="14317"/>
                      <a:pt x="21389" y="13795"/>
                      <a:pt x="20995" y="13352"/>
                    </a:cubicBezTo>
                    <a:cubicBezTo>
                      <a:pt x="20995" y="13352"/>
                      <a:pt x="10195" y="1202"/>
                      <a:pt x="10195" y="1202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/>
              <a:lstStyle/>
              <a:p>
                <a:pPr algn="ctr" defTabSz="17145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1100">
                  <a:solidFill>
                    <a:schemeClr val="tx1">
                      <a:lumMod val="65000"/>
                      <a:lumOff val="35000"/>
                    </a:schemeClr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ill Sans" charset="0"/>
                  <a:sym typeface="Gill Sans" charset="0"/>
                </a:endParaRPr>
              </a:p>
            </p:txBody>
          </p:sp>
          <p:sp>
            <p:nvSpPr>
              <p:cNvPr id="31" name="AutoShape 6"/>
              <p:cNvSpPr/>
              <p:nvPr/>
            </p:nvSpPr>
            <p:spPr bwMode="auto">
              <a:xfrm>
                <a:off x="10074275" y="4479132"/>
                <a:ext cx="464344" cy="377825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20250" y="16615"/>
                    </a:moveTo>
                    <a:cubicBezTo>
                      <a:pt x="20250" y="17074"/>
                      <a:pt x="19948" y="17446"/>
                      <a:pt x="19575" y="17446"/>
                    </a:cubicBezTo>
                    <a:lnTo>
                      <a:pt x="18803" y="17446"/>
                    </a:lnTo>
                    <a:cubicBezTo>
                      <a:pt x="18501" y="16016"/>
                      <a:pt x="17453" y="14953"/>
                      <a:pt x="16200" y="14953"/>
                    </a:cubicBezTo>
                    <a:cubicBezTo>
                      <a:pt x="14945" y="14953"/>
                      <a:pt x="13897" y="16016"/>
                      <a:pt x="13595" y="17446"/>
                    </a:cubicBezTo>
                    <a:lnTo>
                      <a:pt x="10029" y="17446"/>
                    </a:lnTo>
                    <a:cubicBezTo>
                      <a:pt x="9727" y="16016"/>
                      <a:pt x="8679" y="14953"/>
                      <a:pt x="7425" y="14953"/>
                    </a:cubicBezTo>
                    <a:cubicBezTo>
                      <a:pt x="6170" y="14953"/>
                      <a:pt x="5122" y="16016"/>
                      <a:pt x="4820" y="17446"/>
                    </a:cubicBezTo>
                    <a:lnTo>
                      <a:pt x="4050" y="17446"/>
                    </a:lnTo>
                    <a:cubicBezTo>
                      <a:pt x="3677" y="17446"/>
                      <a:pt x="3375" y="17074"/>
                      <a:pt x="3375" y="16615"/>
                    </a:cubicBezTo>
                    <a:lnTo>
                      <a:pt x="3375" y="14123"/>
                    </a:lnTo>
                    <a:lnTo>
                      <a:pt x="12150" y="14123"/>
                    </a:lnTo>
                    <a:cubicBezTo>
                      <a:pt x="13266" y="14123"/>
                      <a:pt x="14175" y="13005"/>
                      <a:pt x="14175" y="11630"/>
                    </a:cubicBezTo>
                    <a:lnTo>
                      <a:pt x="14175" y="5815"/>
                    </a:lnTo>
                    <a:lnTo>
                      <a:pt x="16875" y="5815"/>
                    </a:lnTo>
                    <a:cubicBezTo>
                      <a:pt x="17100" y="5815"/>
                      <a:pt x="17311" y="5954"/>
                      <a:pt x="17436" y="6185"/>
                    </a:cubicBezTo>
                    <a:lnTo>
                      <a:pt x="20136" y="11169"/>
                    </a:lnTo>
                    <a:cubicBezTo>
                      <a:pt x="20210" y="11306"/>
                      <a:pt x="20250" y="11466"/>
                      <a:pt x="20250" y="11630"/>
                    </a:cubicBezTo>
                    <a:cubicBezTo>
                      <a:pt x="20250" y="11630"/>
                      <a:pt x="20250" y="16615"/>
                      <a:pt x="20250" y="16615"/>
                    </a:cubicBezTo>
                    <a:close/>
                    <a:moveTo>
                      <a:pt x="16200" y="19938"/>
                    </a:moveTo>
                    <a:cubicBezTo>
                      <a:pt x="15454" y="19938"/>
                      <a:pt x="14850" y="19193"/>
                      <a:pt x="14850" y="18276"/>
                    </a:cubicBezTo>
                    <a:cubicBezTo>
                      <a:pt x="14850" y="17360"/>
                      <a:pt x="15454" y="16615"/>
                      <a:pt x="16200" y="16615"/>
                    </a:cubicBezTo>
                    <a:cubicBezTo>
                      <a:pt x="16945" y="16615"/>
                      <a:pt x="17550" y="17360"/>
                      <a:pt x="17550" y="18276"/>
                    </a:cubicBezTo>
                    <a:cubicBezTo>
                      <a:pt x="17550" y="19193"/>
                      <a:pt x="16945" y="19938"/>
                      <a:pt x="16200" y="19938"/>
                    </a:cubicBezTo>
                    <a:moveTo>
                      <a:pt x="7425" y="19938"/>
                    </a:moveTo>
                    <a:cubicBezTo>
                      <a:pt x="6679" y="19938"/>
                      <a:pt x="6075" y="19193"/>
                      <a:pt x="6075" y="18276"/>
                    </a:cubicBezTo>
                    <a:cubicBezTo>
                      <a:pt x="6075" y="17360"/>
                      <a:pt x="6679" y="16615"/>
                      <a:pt x="7425" y="16615"/>
                    </a:cubicBezTo>
                    <a:cubicBezTo>
                      <a:pt x="8170" y="16615"/>
                      <a:pt x="8775" y="17360"/>
                      <a:pt x="8775" y="18276"/>
                    </a:cubicBezTo>
                    <a:cubicBezTo>
                      <a:pt x="8775" y="19193"/>
                      <a:pt x="8170" y="19938"/>
                      <a:pt x="7425" y="19938"/>
                    </a:cubicBezTo>
                    <a:moveTo>
                      <a:pt x="2024" y="12461"/>
                    </a:moveTo>
                    <a:cubicBezTo>
                      <a:pt x="1652" y="12461"/>
                      <a:pt x="1349" y="12089"/>
                      <a:pt x="1349" y="11630"/>
                    </a:cubicBezTo>
                    <a:lnTo>
                      <a:pt x="1349" y="2492"/>
                    </a:lnTo>
                    <a:cubicBezTo>
                      <a:pt x="1349" y="2033"/>
                      <a:pt x="1652" y="1661"/>
                      <a:pt x="2024" y="1661"/>
                    </a:cubicBezTo>
                    <a:lnTo>
                      <a:pt x="12150" y="1661"/>
                    </a:lnTo>
                    <a:cubicBezTo>
                      <a:pt x="12523" y="1661"/>
                      <a:pt x="12825" y="2033"/>
                      <a:pt x="12825" y="2492"/>
                    </a:cubicBezTo>
                    <a:lnTo>
                      <a:pt x="12825" y="4153"/>
                    </a:lnTo>
                    <a:lnTo>
                      <a:pt x="12825" y="5815"/>
                    </a:lnTo>
                    <a:lnTo>
                      <a:pt x="12825" y="11630"/>
                    </a:lnTo>
                    <a:cubicBezTo>
                      <a:pt x="12825" y="12089"/>
                      <a:pt x="12523" y="12461"/>
                      <a:pt x="12150" y="12461"/>
                    </a:cubicBezTo>
                    <a:cubicBezTo>
                      <a:pt x="12150" y="12461"/>
                      <a:pt x="2024" y="12461"/>
                      <a:pt x="2024" y="12461"/>
                    </a:cubicBezTo>
                    <a:close/>
                    <a:moveTo>
                      <a:pt x="21259" y="10248"/>
                    </a:moveTo>
                    <a:lnTo>
                      <a:pt x="18559" y="5263"/>
                    </a:lnTo>
                    <a:cubicBezTo>
                      <a:pt x="18182" y="4568"/>
                      <a:pt x="17552" y="4153"/>
                      <a:pt x="16875" y="4153"/>
                    </a:cubicBezTo>
                    <a:lnTo>
                      <a:pt x="14175" y="4153"/>
                    </a:lnTo>
                    <a:lnTo>
                      <a:pt x="14175" y="2492"/>
                    </a:lnTo>
                    <a:cubicBezTo>
                      <a:pt x="14175" y="1117"/>
                      <a:pt x="13266" y="0"/>
                      <a:pt x="12150" y="0"/>
                    </a:cubicBezTo>
                    <a:lnTo>
                      <a:pt x="2024" y="0"/>
                    </a:lnTo>
                    <a:cubicBezTo>
                      <a:pt x="908" y="0"/>
                      <a:pt x="0" y="1117"/>
                      <a:pt x="0" y="2492"/>
                    </a:cubicBezTo>
                    <a:lnTo>
                      <a:pt x="0" y="11630"/>
                    </a:lnTo>
                    <a:cubicBezTo>
                      <a:pt x="0" y="13005"/>
                      <a:pt x="908" y="14123"/>
                      <a:pt x="2024" y="14123"/>
                    </a:cubicBezTo>
                    <a:lnTo>
                      <a:pt x="2025" y="14123"/>
                    </a:lnTo>
                    <a:lnTo>
                      <a:pt x="2025" y="16615"/>
                    </a:lnTo>
                    <a:cubicBezTo>
                      <a:pt x="2025" y="17989"/>
                      <a:pt x="2933" y="19107"/>
                      <a:pt x="4050" y="19107"/>
                    </a:cubicBezTo>
                    <a:lnTo>
                      <a:pt x="4820" y="19107"/>
                    </a:lnTo>
                    <a:cubicBezTo>
                      <a:pt x="5122" y="20537"/>
                      <a:pt x="6170" y="21600"/>
                      <a:pt x="7425" y="21600"/>
                    </a:cubicBezTo>
                    <a:cubicBezTo>
                      <a:pt x="8679" y="21600"/>
                      <a:pt x="9727" y="20537"/>
                      <a:pt x="10029" y="19107"/>
                    </a:cubicBezTo>
                    <a:lnTo>
                      <a:pt x="13595" y="19107"/>
                    </a:lnTo>
                    <a:cubicBezTo>
                      <a:pt x="13897" y="20537"/>
                      <a:pt x="14945" y="21600"/>
                      <a:pt x="16200" y="21600"/>
                    </a:cubicBezTo>
                    <a:cubicBezTo>
                      <a:pt x="17453" y="21600"/>
                      <a:pt x="18501" y="20537"/>
                      <a:pt x="18803" y="19107"/>
                    </a:cubicBezTo>
                    <a:lnTo>
                      <a:pt x="19575" y="19107"/>
                    </a:lnTo>
                    <a:cubicBezTo>
                      <a:pt x="20691" y="19107"/>
                      <a:pt x="21599" y="17989"/>
                      <a:pt x="21599" y="16615"/>
                    </a:cubicBezTo>
                    <a:lnTo>
                      <a:pt x="21599" y="11630"/>
                    </a:lnTo>
                    <a:cubicBezTo>
                      <a:pt x="21599" y="11137"/>
                      <a:pt x="21482" y="10658"/>
                      <a:pt x="21259" y="10248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/>
              <a:lstStyle/>
              <a:p>
                <a:pPr algn="ctr" defTabSz="17145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1100">
                  <a:solidFill>
                    <a:schemeClr val="tx1">
                      <a:lumMod val="65000"/>
                      <a:lumOff val="35000"/>
                    </a:schemeClr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ill Sans" charset="0"/>
                  <a:sym typeface="Gill Sans" charset="0"/>
                </a:endParaRPr>
              </a:p>
            </p:txBody>
          </p:sp>
        </p:grpSp>
      </p:grpSp>
      <p:grpSp>
        <p:nvGrpSpPr>
          <p:cNvPr id="32" name="Group 12"/>
          <p:cNvGrpSpPr/>
          <p:nvPr/>
        </p:nvGrpSpPr>
        <p:grpSpPr>
          <a:xfrm>
            <a:off x="4992479" y="1263888"/>
            <a:ext cx="1045094" cy="1004080"/>
            <a:chOff x="5711758" y="1528765"/>
            <a:chExt cx="1393459" cy="1338773"/>
          </a:xfrm>
        </p:grpSpPr>
        <p:sp>
          <p:nvSpPr>
            <p:cNvPr id="33" name="Diamond 13"/>
            <p:cNvSpPr/>
            <p:nvPr/>
          </p:nvSpPr>
          <p:spPr>
            <a:xfrm>
              <a:off x="5711758" y="1528765"/>
              <a:ext cx="1393459" cy="1338773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4" name="AutoShape 83"/>
            <p:cNvSpPr/>
            <p:nvPr/>
          </p:nvSpPr>
          <p:spPr bwMode="auto">
            <a:xfrm>
              <a:off x="6169646" y="2025969"/>
              <a:ext cx="464344" cy="30480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1610" y="13990"/>
                  </a:moveTo>
                  <a:cubicBezTo>
                    <a:pt x="11373" y="14259"/>
                    <a:pt x="11093" y="14400"/>
                    <a:pt x="10800" y="14400"/>
                  </a:cubicBezTo>
                  <a:cubicBezTo>
                    <a:pt x="10505" y="14400"/>
                    <a:pt x="10225" y="14259"/>
                    <a:pt x="9990" y="13990"/>
                  </a:cubicBezTo>
                  <a:lnTo>
                    <a:pt x="7198" y="10800"/>
                  </a:lnTo>
                  <a:lnTo>
                    <a:pt x="6636" y="10157"/>
                  </a:lnTo>
                  <a:lnTo>
                    <a:pt x="1349" y="4115"/>
                  </a:lnTo>
                  <a:lnTo>
                    <a:pt x="1349" y="4114"/>
                  </a:lnTo>
                  <a:cubicBezTo>
                    <a:pt x="1349" y="2980"/>
                    <a:pt x="1955" y="2057"/>
                    <a:pt x="2699" y="2057"/>
                  </a:cubicBezTo>
                  <a:lnTo>
                    <a:pt x="18899" y="2057"/>
                  </a:lnTo>
                  <a:cubicBezTo>
                    <a:pt x="19643" y="2057"/>
                    <a:pt x="20249" y="2980"/>
                    <a:pt x="20249" y="4114"/>
                  </a:cubicBezTo>
                  <a:cubicBezTo>
                    <a:pt x="20249" y="4114"/>
                    <a:pt x="11610" y="13990"/>
                    <a:pt x="11610" y="13990"/>
                  </a:cubicBezTo>
                  <a:close/>
                  <a:moveTo>
                    <a:pt x="20249" y="16198"/>
                  </a:moveTo>
                  <a:lnTo>
                    <a:pt x="15525" y="10800"/>
                  </a:lnTo>
                  <a:lnTo>
                    <a:pt x="20249" y="5399"/>
                  </a:lnTo>
                  <a:cubicBezTo>
                    <a:pt x="20249" y="5399"/>
                    <a:pt x="20249" y="16198"/>
                    <a:pt x="20249" y="16198"/>
                  </a:cubicBezTo>
                  <a:close/>
                  <a:moveTo>
                    <a:pt x="20249" y="17484"/>
                  </a:moveTo>
                  <a:cubicBezTo>
                    <a:pt x="20249" y="18620"/>
                    <a:pt x="19643" y="19541"/>
                    <a:pt x="18899" y="19541"/>
                  </a:cubicBezTo>
                  <a:lnTo>
                    <a:pt x="2699" y="19541"/>
                  </a:lnTo>
                  <a:cubicBezTo>
                    <a:pt x="1955" y="19541"/>
                    <a:pt x="1349" y="18620"/>
                    <a:pt x="1349" y="17484"/>
                  </a:cubicBezTo>
                  <a:lnTo>
                    <a:pt x="6636" y="11442"/>
                  </a:lnTo>
                  <a:lnTo>
                    <a:pt x="9585" y="14813"/>
                  </a:lnTo>
                  <a:cubicBezTo>
                    <a:pt x="9945" y="15222"/>
                    <a:pt x="10372" y="15429"/>
                    <a:pt x="10800" y="15429"/>
                  </a:cubicBezTo>
                  <a:cubicBezTo>
                    <a:pt x="11228" y="15429"/>
                    <a:pt x="11654" y="15222"/>
                    <a:pt x="12015" y="14813"/>
                  </a:cubicBezTo>
                  <a:lnTo>
                    <a:pt x="14963" y="11442"/>
                  </a:lnTo>
                  <a:cubicBezTo>
                    <a:pt x="14963" y="11442"/>
                    <a:pt x="20249" y="17484"/>
                    <a:pt x="20249" y="17484"/>
                  </a:cubicBezTo>
                  <a:close/>
                  <a:moveTo>
                    <a:pt x="1349" y="5399"/>
                  </a:moveTo>
                  <a:lnTo>
                    <a:pt x="6074" y="10800"/>
                  </a:lnTo>
                  <a:lnTo>
                    <a:pt x="1349" y="16198"/>
                  </a:lnTo>
                  <a:cubicBezTo>
                    <a:pt x="1349" y="16198"/>
                    <a:pt x="1349" y="5399"/>
                    <a:pt x="1349" y="5399"/>
                  </a:cubicBezTo>
                  <a:close/>
                  <a:moveTo>
                    <a:pt x="18899" y="0"/>
                  </a:moveTo>
                  <a:lnTo>
                    <a:pt x="2699" y="0"/>
                  </a:lnTo>
                  <a:cubicBezTo>
                    <a:pt x="1208" y="0"/>
                    <a:pt x="0" y="1842"/>
                    <a:pt x="0" y="4114"/>
                  </a:cubicBezTo>
                  <a:lnTo>
                    <a:pt x="0" y="17484"/>
                  </a:lnTo>
                  <a:cubicBezTo>
                    <a:pt x="0" y="19756"/>
                    <a:pt x="1208" y="21600"/>
                    <a:pt x="2699" y="21600"/>
                  </a:cubicBezTo>
                  <a:lnTo>
                    <a:pt x="18899" y="21600"/>
                  </a:lnTo>
                  <a:cubicBezTo>
                    <a:pt x="20391" y="21600"/>
                    <a:pt x="21600" y="19756"/>
                    <a:pt x="21600" y="17484"/>
                  </a:cubicBezTo>
                  <a:lnTo>
                    <a:pt x="21600" y="4114"/>
                  </a:lnTo>
                  <a:cubicBezTo>
                    <a:pt x="21600" y="1842"/>
                    <a:pt x="20391" y="0"/>
                    <a:pt x="18899" y="0"/>
                  </a:cubicBezTo>
                </a:path>
              </a:pathLst>
            </a:cu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/>
            <a:lstStyle/>
            <a:p>
              <a:pPr algn="ctr" defTabSz="17145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10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sym typeface="Gill Sans" charset="0"/>
              </a:endParaRPr>
            </a:p>
          </p:txBody>
        </p:sp>
      </p:grpSp>
      <p:grpSp>
        <p:nvGrpSpPr>
          <p:cNvPr id="35" name="Group 15"/>
          <p:cNvGrpSpPr/>
          <p:nvPr/>
        </p:nvGrpSpPr>
        <p:grpSpPr>
          <a:xfrm>
            <a:off x="4991526" y="2487796"/>
            <a:ext cx="1045094" cy="1004080"/>
            <a:chOff x="5710487" y="3160643"/>
            <a:chExt cx="1393459" cy="1338773"/>
          </a:xfrm>
        </p:grpSpPr>
        <p:sp>
          <p:nvSpPr>
            <p:cNvPr id="36" name="Diamond 16"/>
            <p:cNvSpPr/>
            <p:nvPr/>
          </p:nvSpPr>
          <p:spPr>
            <a:xfrm>
              <a:off x="5710487" y="3160643"/>
              <a:ext cx="1393459" cy="1338773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grpSp>
          <p:nvGrpSpPr>
            <p:cNvPr id="37" name="Group 17"/>
            <p:cNvGrpSpPr/>
            <p:nvPr/>
          </p:nvGrpSpPr>
          <p:grpSpPr>
            <a:xfrm>
              <a:off x="6175045" y="3597325"/>
              <a:ext cx="464344" cy="464344"/>
              <a:chOff x="4439444" y="2582069"/>
              <a:chExt cx="464344" cy="464344"/>
            </a:xfrm>
            <a:solidFill>
              <a:schemeClr val="bg1"/>
            </a:solidFill>
          </p:grpSpPr>
          <p:sp>
            <p:nvSpPr>
              <p:cNvPr id="38" name="AutoShape 123"/>
              <p:cNvSpPr/>
              <p:nvPr/>
            </p:nvSpPr>
            <p:spPr bwMode="auto">
              <a:xfrm>
                <a:off x="4439444" y="2582069"/>
                <a:ext cx="464344" cy="464344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8180" y="12132"/>
                    </a:moveTo>
                    <a:cubicBezTo>
                      <a:pt x="17710" y="12226"/>
                      <a:pt x="17327" y="12561"/>
                      <a:pt x="17170" y="13012"/>
                    </a:cubicBezTo>
                    <a:cubicBezTo>
                      <a:pt x="17083" y="13261"/>
                      <a:pt x="16981" y="13503"/>
                      <a:pt x="16868" y="13738"/>
                    </a:cubicBezTo>
                    <a:cubicBezTo>
                      <a:pt x="16658" y="14169"/>
                      <a:pt x="16694" y="14677"/>
                      <a:pt x="16959" y="15075"/>
                    </a:cubicBezTo>
                    <a:lnTo>
                      <a:pt x="18131" y="16833"/>
                    </a:lnTo>
                    <a:lnTo>
                      <a:pt x="16832" y="18132"/>
                    </a:lnTo>
                    <a:lnTo>
                      <a:pt x="15075" y="16960"/>
                    </a:lnTo>
                    <a:cubicBezTo>
                      <a:pt x="14850" y="16810"/>
                      <a:pt x="14589" y="16733"/>
                      <a:pt x="14326" y="16733"/>
                    </a:cubicBezTo>
                    <a:cubicBezTo>
                      <a:pt x="14126" y="16733"/>
                      <a:pt x="13924" y="16778"/>
                      <a:pt x="13738" y="16868"/>
                    </a:cubicBezTo>
                    <a:cubicBezTo>
                      <a:pt x="13504" y="16981"/>
                      <a:pt x="13262" y="17083"/>
                      <a:pt x="13012" y="17170"/>
                    </a:cubicBezTo>
                    <a:cubicBezTo>
                      <a:pt x="12561" y="17327"/>
                      <a:pt x="12226" y="17712"/>
                      <a:pt x="12133" y="18180"/>
                    </a:cubicBezTo>
                    <a:lnTo>
                      <a:pt x="11717" y="20249"/>
                    </a:lnTo>
                    <a:lnTo>
                      <a:pt x="9881" y="20249"/>
                    </a:lnTo>
                    <a:lnTo>
                      <a:pt x="9467" y="18180"/>
                    </a:lnTo>
                    <a:cubicBezTo>
                      <a:pt x="9373" y="17712"/>
                      <a:pt x="9039" y="17327"/>
                      <a:pt x="8588" y="17170"/>
                    </a:cubicBezTo>
                    <a:cubicBezTo>
                      <a:pt x="8339" y="17083"/>
                      <a:pt x="8096" y="16983"/>
                      <a:pt x="7861" y="16869"/>
                    </a:cubicBezTo>
                    <a:cubicBezTo>
                      <a:pt x="7675" y="16778"/>
                      <a:pt x="7474" y="16733"/>
                      <a:pt x="7273" y="16733"/>
                    </a:cubicBezTo>
                    <a:cubicBezTo>
                      <a:pt x="7011" y="16733"/>
                      <a:pt x="6750" y="16810"/>
                      <a:pt x="6525" y="16960"/>
                    </a:cubicBezTo>
                    <a:lnTo>
                      <a:pt x="4767" y="18132"/>
                    </a:lnTo>
                    <a:lnTo>
                      <a:pt x="3468" y="16833"/>
                    </a:lnTo>
                    <a:lnTo>
                      <a:pt x="4639" y="15075"/>
                    </a:lnTo>
                    <a:cubicBezTo>
                      <a:pt x="4904" y="14677"/>
                      <a:pt x="4939" y="14169"/>
                      <a:pt x="4732" y="13738"/>
                    </a:cubicBezTo>
                    <a:cubicBezTo>
                      <a:pt x="4618" y="13504"/>
                      <a:pt x="4516" y="13263"/>
                      <a:pt x="4429" y="13013"/>
                    </a:cubicBezTo>
                    <a:cubicBezTo>
                      <a:pt x="4273" y="12561"/>
                      <a:pt x="3888" y="12227"/>
                      <a:pt x="3419" y="12133"/>
                    </a:cubicBezTo>
                    <a:lnTo>
                      <a:pt x="1350" y="11718"/>
                    </a:lnTo>
                    <a:lnTo>
                      <a:pt x="1349" y="9882"/>
                    </a:lnTo>
                    <a:lnTo>
                      <a:pt x="3419" y="9468"/>
                    </a:lnTo>
                    <a:cubicBezTo>
                      <a:pt x="3888" y="9374"/>
                      <a:pt x="4273" y="9039"/>
                      <a:pt x="4429" y="8588"/>
                    </a:cubicBezTo>
                    <a:cubicBezTo>
                      <a:pt x="4516" y="8338"/>
                      <a:pt x="4617" y="8096"/>
                      <a:pt x="4731" y="7862"/>
                    </a:cubicBezTo>
                    <a:cubicBezTo>
                      <a:pt x="4940" y="7431"/>
                      <a:pt x="4905" y="6923"/>
                      <a:pt x="4639" y="6524"/>
                    </a:cubicBezTo>
                    <a:lnTo>
                      <a:pt x="3468" y="4767"/>
                    </a:lnTo>
                    <a:lnTo>
                      <a:pt x="4767" y="3468"/>
                    </a:lnTo>
                    <a:lnTo>
                      <a:pt x="6525" y="4639"/>
                    </a:lnTo>
                    <a:cubicBezTo>
                      <a:pt x="6750" y="4790"/>
                      <a:pt x="7011" y="4866"/>
                      <a:pt x="7273" y="4866"/>
                    </a:cubicBezTo>
                    <a:cubicBezTo>
                      <a:pt x="7474" y="4866"/>
                      <a:pt x="7674" y="4822"/>
                      <a:pt x="7861" y="4732"/>
                    </a:cubicBezTo>
                    <a:cubicBezTo>
                      <a:pt x="8095" y="4619"/>
                      <a:pt x="8337" y="4517"/>
                      <a:pt x="8586" y="4430"/>
                    </a:cubicBezTo>
                    <a:cubicBezTo>
                      <a:pt x="9039" y="4272"/>
                      <a:pt x="9373" y="3888"/>
                      <a:pt x="9467" y="3420"/>
                    </a:cubicBezTo>
                    <a:lnTo>
                      <a:pt x="9881" y="1350"/>
                    </a:lnTo>
                    <a:lnTo>
                      <a:pt x="11717" y="1350"/>
                    </a:lnTo>
                    <a:lnTo>
                      <a:pt x="12131" y="3420"/>
                    </a:lnTo>
                    <a:cubicBezTo>
                      <a:pt x="12225" y="3888"/>
                      <a:pt x="12560" y="4272"/>
                      <a:pt x="13012" y="4430"/>
                    </a:cubicBezTo>
                    <a:cubicBezTo>
                      <a:pt x="13261" y="4517"/>
                      <a:pt x="13502" y="4617"/>
                      <a:pt x="13737" y="4731"/>
                    </a:cubicBezTo>
                    <a:cubicBezTo>
                      <a:pt x="13924" y="4822"/>
                      <a:pt x="14125" y="4866"/>
                      <a:pt x="14326" y="4866"/>
                    </a:cubicBezTo>
                    <a:cubicBezTo>
                      <a:pt x="14589" y="4866"/>
                      <a:pt x="14850" y="4790"/>
                      <a:pt x="15075" y="4639"/>
                    </a:cubicBezTo>
                    <a:lnTo>
                      <a:pt x="16832" y="3468"/>
                    </a:lnTo>
                    <a:lnTo>
                      <a:pt x="18131" y="4767"/>
                    </a:lnTo>
                    <a:lnTo>
                      <a:pt x="16959" y="6524"/>
                    </a:lnTo>
                    <a:cubicBezTo>
                      <a:pt x="16694" y="6923"/>
                      <a:pt x="16660" y="7431"/>
                      <a:pt x="16867" y="7861"/>
                    </a:cubicBezTo>
                    <a:cubicBezTo>
                      <a:pt x="16980" y="8096"/>
                      <a:pt x="17083" y="8337"/>
                      <a:pt x="17170" y="8587"/>
                    </a:cubicBezTo>
                    <a:cubicBezTo>
                      <a:pt x="17327" y="9039"/>
                      <a:pt x="17710" y="9373"/>
                      <a:pt x="18180" y="9467"/>
                    </a:cubicBezTo>
                    <a:lnTo>
                      <a:pt x="20248" y="9882"/>
                    </a:lnTo>
                    <a:lnTo>
                      <a:pt x="20250" y="11718"/>
                    </a:lnTo>
                    <a:cubicBezTo>
                      <a:pt x="20250" y="11718"/>
                      <a:pt x="18180" y="12132"/>
                      <a:pt x="18180" y="12132"/>
                    </a:cubicBezTo>
                    <a:close/>
                    <a:moveTo>
                      <a:pt x="20513" y="8558"/>
                    </a:moveTo>
                    <a:lnTo>
                      <a:pt x="18445" y="8143"/>
                    </a:lnTo>
                    <a:cubicBezTo>
                      <a:pt x="18341" y="7844"/>
                      <a:pt x="18218" y="7554"/>
                      <a:pt x="18082" y="7273"/>
                    </a:cubicBezTo>
                    <a:lnTo>
                      <a:pt x="19254" y="5516"/>
                    </a:lnTo>
                    <a:cubicBezTo>
                      <a:pt x="19611" y="4980"/>
                      <a:pt x="19540" y="4268"/>
                      <a:pt x="19085" y="3813"/>
                    </a:cubicBezTo>
                    <a:lnTo>
                      <a:pt x="17787" y="2514"/>
                    </a:lnTo>
                    <a:cubicBezTo>
                      <a:pt x="17526" y="2253"/>
                      <a:pt x="17181" y="2118"/>
                      <a:pt x="16831" y="2118"/>
                    </a:cubicBezTo>
                    <a:cubicBezTo>
                      <a:pt x="16573" y="2118"/>
                      <a:pt x="16312" y="2193"/>
                      <a:pt x="16084" y="2345"/>
                    </a:cubicBezTo>
                    <a:lnTo>
                      <a:pt x="14326" y="3516"/>
                    </a:lnTo>
                    <a:cubicBezTo>
                      <a:pt x="14044" y="3380"/>
                      <a:pt x="13754" y="3258"/>
                      <a:pt x="13455" y="3155"/>
                    </a:cubicBezTo>
                    <a:lnTo>
                      <a:pt x="13041" y="1085"/>
                    </a:lnTo>
                    <a:cubicBezTo>
                      <a:pt x="12916" y="454"/>
                      <a:pt x="12361" y="0"/>
                      <a:pt x="11717" y="0"/>
                    </a:cubicBezTo>
                    <a:lnTo>
                      <a:pt x="9881" y="0"/>
                    </a:lnTo>
                    <a:cubicBezTo>
                      <a:pt x="9238" y="0"/>
                      <a:pt x="8684" y="454"/>
                      <a:pt x="8557" y="1085"/>
                    </a:cubicBezTo>
                    <a:lnTo>
                      <a:pt x="8143" y="3155"/>
                    </a:lnTo>
                    <a:cubicBezTo>
                      <a:pt x="7843" y="3258"/>
                      <a:pt x="7554" y="3381"/>
                      <a:pt x="7273" y="3516"/>
                    </a:cubicBezTo>
                    <a:lnTo>
                      <a:pt x="5516" y="2345"/>
                    </a:lnTo>
                    <a:cubicBezTo>
                      <a:pt x="5287" y="2193"/>
                      <a:pt x="5026" y="2118"/>
                      <a:pt x="4767" y="2118"/>
                    </a:cubicBezTo>
                    <a:cubicBezTo>
                      <a:pt x="4419" y="2118"/>
                      <a:pt x="4073" y="2253"/>
                      <a:pt x="3812" y="2514"/>
                    </a:cubicBezTo>
                    <a:lnTo>
                      <a:pt x="2514" y="3813"/>
                    </a:lnTo>
                    <a:cubicBezTo>
                      <a:pt x="2059" y="4268"/>
                      <a:pt x="1988" y="4980"/>
                      <a:pt x="2345" y="5516"/>
                    </a:cubicBezTo>
                    <a:lnTo>
                      <a:pt x="3516" y="7273"/>
                    </a:lnTo>
                    <a:cubicBezTo>
                      <a:pt x="3380" y="7555"/>
                      <a:pt x="3258" y="7844"/>
                      <a:pt x="3154" y="8144"/>
                    </a:cubicBezTo>
                    <a:lnTo>
                      <a:pt x="1085" y="8558"/>
                    </a:lnTo>
                    <a:cubicBezTo>
                      <a:pt x="454" y="8684"/>
                      <a:pt x="0" y="9238"/>
                      <a:pt x="0" y="9882"/>
                    </a:cubicBezTo>
                    <a:lnTo>
                      <a:pt x="0" y="11718"/>
                    </a:lnTo>
                    <a:cubicBezTo>
                      <a:pt x="0" y="12361"/>
                      <a:pt x="454" y="12916"/>
                      <a:pt x="1085" y="13042"/>
                    </a:cubicBezTo>
                    <a:lnTo>
                      <a:pt x="3154" y="13456"/>
                    </a:lnTo>
                    <a:cubicBezTo>
                      <a:pt x="3258" y="13755"/>
                      <a:pt x="3380" y="14046"/>
                      <a:pt x="3516" y="14326"/>
                    </a:cubicBezTo>
                    <a:lnTo>
                      <a:pt x="2345" y="16083"/>
                    </a:lnTo>
                    <a:cubicBezTo>
                      <a:pt x="1988" y="16619"/>
                      <a:pt x="2059" y="17332"/>
                      <a:pt x="2514" y="17787"/>
                    </a:cubicBezTo>
                    <a:lnTo>
                      <a:pt x="3812" y="19086"/>
                    </a:lnTo>
                    <a:cubicBezTo>
                      <a:pt x="4073" y="19346"/>
                      <a:pt x="4419" y="19482"/>
                      <a:pt x="4767" y="19482"/>
                    </a:cubicBezTo>
                    <a:cubicBezTo>
                      <a:pt x="5026" y="19482"/>
                      <a:pt x="5287" y="19406"/>
                      <a:pt x="5516" y="19254"/>
                    </a:cubicBezTo>
                    <a:lnTo>
                      <a:pt x="7273" y="18083"/>
                    </a:lnTo>
                    <a:cubicBezTo>
                      <a:pt x="7554" y="18220"/>
                      <a:pt x="7843" y="18341"/>
                      <a:pt x="8143" y="18445"/>
                    </a:cubicBezTo>
                    <a:lnTo>
                      <a:pt x="8557" y="20514"/>
                    </a:lnTo>
                    <a:cubicBezTo>
                      <a:pt x="8684" y="21146"/>
                      <a:pt x="9238" y="21599"/>
                      <a:pt x="9881" y="21599"/>
                    </a:cubicBezTo>
                    <a:lnTo>
                      <a:pt x="11717" y="21599"/>
                    </a:lnTo>
                    <a:cubicBezTo>
                      <a:pt x="12361" y="21599"/>
                      <a:pt x="12916" y="21146"/>
                      <a:pt x="13041" y="20514"/>
                    </a:cubicBezTo>
                    <a:lnTo>
                      <a:pt x="13456" y="18445"/>
                    </a:lnTo>
                    <a:cubicBezTo>
                      <a:pt x="13755" y="18341"/>
                      <a:pt x="14046" y="18219"/>
                      <a:pt x="14326" y="18083"/>
                    </a:cubicBezTo>
                    <a:lnTo>
                      <a:pt x="16084" y="19254"/>
                    </a:lnTo>
                    <a:cubicBezTo>
                      <a:pt x="16312" y="19406"/>
                      <a:pt x="16573" y="19482"/>
                      <a:pt x="16831" y="19482"/>
                    </a:cubicBezTo>
                    <a:cubicBezTo>
                      <a:pt x="17181" y="19482"/>
                      <a:pt x="17526" y="19346"/>
                      <a:pt x="17787" y="19086"/>
                    </a:cubicBezTo>
                    <a:lnTo>
                      <a:pt x="19085" y="17787"/>
                    </a:lnTo>
                    <a:cubicBezTo>
                      <a:pt x="19540" y="17332"/>
                      <a:pt x="19611" y="16619"/>
                      <a:pt x="19254" y="16083"/>
                    </a:cubicBezTo>
                    <a:lnTo>
                      <a:pt x="18082" y="14326"/>
                    </a:lnTo>
                    <a:cubicBezTo>
                      <a:pt x="18219" y="14045"/>
                      <a:pt x="18341" y="13755"/>
                      <a:pt x="18445" y="13456"/>
                    </a:cubicBezTo>
                    <a:lnTo>
                      <a:pt x="20513" y="13042"/>
                    </a:lnTo>
                    <a:cubicBezTo>
                      <a:pt x="21145" y="12916"/>
                      <a:pt x="21599" y="12361"/>
                      <a:pt x="21599" y="11718"/>
                    </a:cubicBezTo>
                    <a:lnTo>
                      <a:pt x="21599" y="9882"/>
                    </a:lnTo>
                    <a:cubicBezTo>
                      <a:pt x="21599" y="9238"/>
                      <a:pt x="21145" y="8684"/>
                      <a:pt x="20513" y="8558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/>
              <a:lstStyle/>
              <a:p>
                <a:pPr algn="ctr" defTabSz="17145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1100">
                  <a:solidFill>
                    <a:schemeClr val="tx1">
                      <a:lumMod val="65000"/>
                      <a:lumOff val="35000"/>
                    </a:schemeClr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ill Sans" charset="0"/>
                  <a:sym typeface="Gill Sans" charset="0"/>
                </a:endParaRPr>
              </a:p>
            </p:txBody>
          </p:sp>
          <p:sp>
            <p:nvSpPr>
              <p:cNvPr id="39" name="AutoShape 124"/>
              <p:cNvSpPr/>
              <p:nvPr/>
            </p:nvSpPr>
            <p:spPr bwMode="auto">
              <a:xfrm>
                <a:off x="4570413" y="2712244"/>
                <a:ext cx="203200" cy="203200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0800" y="20250"/>
                    </a:moveTo>
                    <a:cubicBezTo>
                      <a:pt x="5580" y="20250"/>
                      <a:pt x="1350" y="16017"/>
                      <a:pt x="1350" y="10800"/>
                    </a:cubicBezTo>
                    <a:cubicBezTo>
                      <a:pt x="1350" y="5582"/>
                      <a:pt x="5580" y="1349"/>
                      <a:pt x="10800" y="1349"/>
                    </a:cubicBezTo>
                    <a:cubicBezTo>
                      <a:pt x="16016" y="1349"/>
                      <a:pt x="20250" y="5582"/>
                      <a:pt x="20250" y="10800"/>
                    </a:cubicBezTo>
                    <a:cubicBezTo>
                      <a:pt x="20250" y="16017"/>
                      <a:pt x="16016" y="20250"/>
                      <a:pt x="10800" y="20250"/>
                    </a:cubicBezTo>
                    <a:moveTo>
                      <a:pt x="10800" y="0"/>
                    </a:moveTo>
                    <a:cubicBezTo>
                      <a:pt x="4836" y="0"/>
                      <a:pt x="0" y="4836"/>
                      <a:pt x="0" y="10800"/>
                    </a:cubicBezTo>
                    <a:cubicBezTo>
                      <a:pt x="0" y="16763"/>
                      <a:pt x="4836" y="21600"/>
                      <a:pt x="10800" y="21600"/>
                    </a:cubicBezTo>
                    <a:cubicBezTo>
                      <a:pt x="16763" y="21600"/>
                      <a:pt x="21599" y="16763"/>
                      <a:pt x="21599" y="10800"/>
                    </a:cubicBezTo>
                    <a:cubicBezTo>
                      <a:pt x="21599" y="4836"/>
                      <a:pt x="16763" y="0"/>
                      <a:pt x="10800" y="0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/>
              <a:lstStyle/>
              <a:p>
                <a:pPr algn="ctr" defTabSz="17145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1100">
                  <a:solidFill>
                    <a:schemeClr val="tx1">
                      <a:lumMod val="65000"/>
                      <a:lumOff val="35000"/>
                    </a:schemeClr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ill Sans" charset="0"/>
                  <a:sym typeface="Gill Sans" charset="0"/>
                </a:endParaRPr>
              </a:p>
            </p:txBody>
          </p:sp>
          <p:sp>
            <p:nvSpPr>
              <p:cNvPr id="40" name="AutoShape 125"/>
              <p:cNvSpPr/>
              <p:nvPr/>
            </p:nvSpPr>
            <p:spPr bwMode="auto">
              <a:xfrm>
                <a:off x="4613275" y="2755900"/>
                <a:ext cx="116682" cy="116682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0800" y="18900"/>
                    </a:moveTo>
                    <a:cubicBezTo>
                      <a:pt x="6328" y="18900"/>
                      <a:pt x="2699" y="15271"/>
                      <a:pt x="2699" y="10800"/>
                    </a:cubicBezTo>
                    <a:cubicBezTo>
                      <a:pt x="2699" y="6329"/>
                      <a:pt x="6328" y="2700"/>
                      <a:pt x="10800" y="2700"/>
                    </a:cubicBezTo>
                    <a:cubicBezTo>
                      <a:pt x="15271" y="2700"/>
                      <a:pt x="18899" y="6329"/>
                      <a:pt x="18899" y="10800"/>
                    </a:cubicBezTo>
                    <a:cubicBezTo>
                      <a:pt x="18899" y="15271"/>
                      <a:pt x="15271" y="18900"/>
                      <a:pt x="10800" y="18900"/>
                    </a:cubicBezTo>
                    <a:moveTo>
                      <a:pt x="10800" y="0"/>
                    </a:moveTo>
                    <a:cubicBezTo>
                      <a:pt x="4830" y="0"/>
                      <a:pt x="0" y="4833"/>
                      <a:pt x="0" y="10800"/>
                    </a:cubicBezTo>
                    <a:cubicBezTo>
                      <a:pt x="0" y="16766"/>
                      <a:pt x="4830" y="21599"/>
                      <a:pt x="10800" y="21599"/>
                    </a:cubicBezTo>
                    <a:cubicBezTo>
                      <a:pt x="16764" y="21599"/>
                      <a:pt x="21600" y="16766"/>
                      <a:pt x="21600" y="10800"/>
                    </a:cubicBezTo>
                    <a:cubicBezTo>
                      <a:pt x="21600" y="4833"/>
                      <a:pt x="16764" y="0"/>
                      <a:pt x="10800" y="0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/>
              <a:lstStyle/>
              <a:p>
                <a:pPr algn="ctr" defTabSz="17145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1100">
                  <a:solidFill>
                    <a:schemeClr val="tx1">
                      <a:lumMod val="65000"/>
                      <a:lumOff val="35000"/>
                    </a:schemeClr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ill Sans" charset="0"/>
                  <a:sym typeface="Gill Sans" charset="0"/>
                </a:endParaRPr>
              </a:p>
            </p:txBody>
          </p:sp>
        </p:grpSp>
      </p:grpSp>
      <p:grpSp>
        <p:nvGrpSpPr>
          <p:cNvPr id="41" name="Group 21"/>
          <p:cNvGrpSpPr/>
          <p:nvPr/>
        </p:nvGrpSpPr>
        <p:grpSpPr>
          <a:xfrm>
            <a:off x="4468978" y="1875842"/>
            <a:ext cx="1045094" cy="1004080"/>
            <a:chOff x="5013757" y="2344704"/>
            <a:chExt cx="1393459" cy="1338773"/>
          </a:xfrm>
        </p:grpSpPr>
        <p:sp>
          <p:nvSpPr>
            <p:cNvPr id="42" name="Diamond 22"/>
            <p:cNvSpPr/>
            <p:nvPr/>
          </p:nvSpPr>
          <p:spPr>
            <a:xfrm>
              <a:off x="5013757" y="2344704"/>
              <a:ext cx="1393459" cy="1338773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grpSp>
          <p:nvGrpSpPr>
            <p:cNvPr id="43" name="Group 23"/>
            <p:cNvGrpSpPr/>
            <p:nvPr/>
          </p:nvGrpSpPr>
          <p:grpSpPr>
            <a:xfrm>
              <a:off x="5478313" y="2752368"/>
              <a:ext cx="464344" cy="464344"/>
              <a:chOff x="4439444" y="1652588"/>
              <a:chExt cx="464344" cy="464344"/>
            </a:xfrm>
            <a:solidFill>
              <a:schemeClr val="bg2"/>
            </a:solidFill>
          </p:grpSpPr>
          <p:sp>
            <p:nvSpPr>
              <p:cNvPr id="44" name="AutoShape 136"/>
              <p:cNvSpPr/>
              <p:nvPr/>
            </p:nvSpPr>
            <p:spPr bwMode="auto">
              <a:xfrm>
                <a:off x="4686300" y="1710532"/>
                <a:ext cx="152400" cy="152400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9538" y="20579"/>
                    </a:moveTo>
                    <a:lnTo>
                      <a:pt x="19542" y="20579"/>
                    </a:lnTo>
                    <a:cubicBezTo>
                      <a:pt x="19546" y="21142"/>
                      <a:pt x="20004" y="21600"/>
                      <a:pt x="20571" y="21600"/>
                    </a:cubicBezTo>
                    <a:cubicBezTo>
                      <a:pt x="21137" y="21600"/>
                      <a:pt x="21599" y="21138"/>
                      <a:pt x="21599" y="20571"/>
                    </a:cubicBezTo>
                    <a:cubicBezTo>
                      <a:pt x="21599" y="20565"/>
                      <a:pt x="21595" y="20561"/>
                      <a:pt x="21595" y="20555"/>
                    </a:cubicBezTo>
                    <a:cubicBezTo>
                      <a:pt x="21583" y="9221"/>
                      <a:pt x="12411" y="41"/>
                      <a:pt x="1080" y="12"/>
                    </a:cubicBezTo>
                    <a:cubicBezTo>
                      <a:pt x="1064" y="10"/>
                      <a:pt x="1048" y="0"/>
                      <a:pt x="1028" y="0"/>
                    </a:cubicBezTo>
                    <a:cubicBezTo>
                      <a:pt x="458" y="0"/>
                      <a:pt x="0" y="461"/>
                      <a:pt x="0" y="1028"/>
                    </a:cubicBezTo>
                    <a:cubicBezTo>
                      <a:pt x="0" y="1594"/>
                      <a:pt x="458" y="2055"/>
                      <a:pt x="1024" y="2057"/>
                    </a:cubicBezTo>
                    <a:lnTo>
                      <a:pt x="1024" y="2065"/>
                    </a:lnTo>
                    <a:cubicBezTo>
                      <a:pt x="11233" y="2065"/>
                      <a:pt x="19538" y="10370"/>
                      <a:pt x="19538" y="20579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/>
              <a:lstStyle/>
              <a:p>
                <a:pPr algn="ctr" defTabSz="17145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1100">
                  <a:solidFill>
                    <a:schemeClr val="tx1">
                      <a:lumMod val="65000"/>
                      <a:lumOff val="35000"/>
                    </a:schemeClr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ill Sans" charset="0"/>
                  <a:sym typeface="Gill Sans" charset="0"/>
                </a:endParaRPr>
              </a:p>
            </p:txBody>
          </p:sp>
          <p:sp>
            <p:nvSpPr>
              <p:cNvPr id="45" name="AutoShape 137"/>
              <p:cNvSpPr/>
              <p:nvPr/>
            </p:nvSpPr>
            <p:spPr bwMode="auto">
              <a:xfrm>
                <a:off x="4439444" y="1652588"/>
                <a:ext cx="464344" cy="464344"/>
              </a:xfrm>
              <a:custGeom>
                <a:avLst/>
                <a:gdLst>
                  <a:gd name="T0" fmla="+- 0 10819 195"/>
                  <a:gd name="T1" fmla="*/ T0 w 21248"/>
                  <a:gd name="T2" fmla="*/ 10800 h 21600"/>
                  <a:gd name="T3" fmla="+- 0 10819 195"/>
                  <a:gd name="T4" fmla="*/ T3 w 21248"/>
                  <a:gd name="T5" fmla="*/ 10800 h 21600"/>
                  <a:gd name="T6" fmla="+- 0 10819 195"/>
                  <a:gd name="T7" fmla="*/ T6 w 21248"/>
                  <a:gd name="T8" fmla="*/ 10800 h 21600"/>
                  <a:gd name="T9" fmla="+- 0 10819 195"/>
                  <a:gd name="T10" fmla="*/ T9 w 21248"/>
                  <a:gd name="T11" fmla="*/ 10800 h 21600"/>
                </a:gdLst>
                <a:ahLst/>
                <a:cxnLst>
                  <a:cxn ang="0">
                    <a:pos x="T1" y="T2"/>
                  </a:cxn>
                  <a:cxn ang="0">
                    <a:pos x="T4" y="T5"/>
                  </a:cxn>
                  <a:cxn ang="0">
                    <a:pos x="T7" y="T8"/>
                  </a:cxn>
                  <a:cxn ang="0">
                    <a:pos x="T10" y="T11"/>
                  </a:cxn>
                </a:cxnLst>
                <a:rect l="0" t="0" r="r" b="b"/>
                <a:pathLst>
                  <a:path w="21248" h="21600">
                    <a:moveTo>
                      <a:pt x="19868" y="17133"/>
                    </a:moveTo>
                    <a:cubicBezTo>
                      <a:pt x="19766" y="17386"/>
                      <a:pt x="19525" y="17549"/>
                      <a:pt x="19255" y="17549"/>
                    </a:cubicBezTo>
                    <a:lnTo>
                      <a:pt x="19058" y="17549"/>
                    </a:lnTo>
                    <a:lnTo>
                      <a:pt x="3983" y="2226"/>
                    </a:lnTo>
                    <a:lnTo>
                      <a:pt x="3983" y="2025"/>
                    </a:lnTo>
                    <a:cubicBezTo>
                      <a:pt x="3983" y="1750"/>
                      <a:pt x="4144" y="1506"/>
                      <a:pt x="4393" y="1401"/>
                    </a:cubicBezTo>
                    <a:cubicBezTo>
                      <a:pt x="4475" y="1367"/>
                      <a:pt x="4560" y="1350"/>
                      <a:pt x="4647" y="1350"/>
                    </a:cubicBezTo>
                    <a:cubicBezTo>
                      <a:pt x="4824" y="1350"/>
                      <a:pt x="4991" y="1420"/>
                      <a:pt x="5116" y="1547"/>
                    </a:cubicBezTo>
                    <a:lnTo>
                      <a:pt x="19724" y="16397"/>
                    </a:lnTo>
                    <a:cubicBezTo>
                      <a:pt x="19915" y="16591"/>
                      <a:pt x="19972" y="16880"/>
                      <a:pt x="19868" y="17133"/>
                    </a:cubicBezTo>
                    <a:moveTo>
                      <a:pt x="10121" y="17549"/>
                    </a:moveTo>
                    <a:cubicBezTo>
                      <a:pt x="10017" y="17549"/>
                      <a:pt x="9922" y="17586"/>
                      <a:pt x="9824" y="17609"/>
                    </a:cubicBezTo>
                    <a:lnTo>
                      <a:pt x="3923" y="11612"/>
                    </a:lnTo>
                    <a:cubicBezTo>
                      <a:pt x="3946" y="11512"/>
                      <a:pt x="3982" y="11415"/>
                      <a:pt x="3982" y="11311"/>
                    </a:cubicBezTo>
                    <a:lnTo>
                      <a:pt x="3983" y="3180"/>
                    </a:lnTo>
                    <a:lnTo>
                      <a:pt x="18119" y="17549"/>
                    </a:lnTo>
                    <a:cubicBezTo>
                      <a:pt x="18119" y="17549"/>
                      <a:pt x="10121" y="17549"/>
                      <a:pt x="10121" y="17549"/>
                    </a:cubicBezTo>
                    <a:close/>
                    <a:moveTo>
                      <a:pt x="9182" y="17945"/>
                    </a:moveTo>
                    <a:lnTo>
                      <a:pt x="7109" y="20052"/>
                    </a:lnTo>
                    <a:cubicBezTo>
                      <a:pt x="6939" y="20224"/>
                      <a:pt x="6742" y="20249"/>
                      <a:pt x="6640" y="20249"/>
                    </a:cubicBezTo>
                    <a:cubicBezTo>
                      <a:pt x="6537" y="20249"/>
                      <a:pt x="6339" y="20224"/>
                      <a:pt x="6170" y="20052"/>
                    </a:cubicBezTo>
                    <a:lnTo>
                      <a:pt x="1522" y="15327"/>
                    </a:lnTo>
                    <a:cubicBezTo>
                      <a:pt x="1352" y="15154"/>
                      <a:pt x="1327" y="14953"/>
                      <a:pt x="1327" y="14850"/>
                    </a:cubicBezTo>
                    <a:cubicBezTo>
                      <a:pt x="1327" y="14745"/>
                      <a:pt x="1352" y="14544"/>
                      <a:pt x="1522" y="14373"/>
                    </a:cubicBezTo>
                    <a:lnTo>
                      <a:pt x="3593" y="12266"/>
                    </a:lnTo>
                    <a:cubicBezTo>
                      <a:pt x="3599" y="12260"/>
                      <a:pt x="3601" y="12251"/>
                      <a:pt x="3607" y="12245"/>
                    </a:cubicBezTo>
                    <a:lnTo>
                      <a:pt x="9202" y="17932"/>
                    </a:lnTo>
                    <a:cubicBezTo>
                      <a:pt x="9196" y="17937"/>
                      <a:pt x="9187" y="17939"/>
                      <a:pt x="9182" y="17945"/>
                    </a:cubicBezTo>
                    <a:moveTo>
                      <a:pt x="6056" y="593"/>
                    </a:moveTo>
                    <a:cubicBezTo>
                      <a:pt x="5675" y="205"/>
                      <a:pt x="5165" y="0"/>
                      <a:pt x="4647" y="0"/>
                    </a:cubicBezTo>
                    <a:cubicBezTo>
                      <a:pt x="4390" y="0"/>
                      <a:pt x="4132" y="49"/>
                      <a:pt x="3885" y="154"/>
                    </a:cubicBezTo>
                    <a:cubicBezTo>
                      <a:pt x="3141" y="467"/>
                      <a:pt x="2655" y="1205"/>
                      <a:pt x="2655" y="2025"/>
                    </a:cubicBezTo>
                    <a:lnTo>
                      <a:pt x="2654" y="11311"/>
                    </a:lnTo>
                    <a:lnTo>
                      <a:pt x="583" y="13418"/>
                    </a:lnTo>
                    <a:cubicBezTo>
                      <a:pt x="-195" y="14208"/>
                      <a:pt x="-195" y="15491"/>
                      <a:pt x="583" y="16281"/>
                    </a:cubicBezTo>
                    <a:lnTo>
                      <a:pt x="5231" y="21006"/>
                    </a:lnTo>
                    <a:cubicBezTo>
                      <a:pt x="5620" y="21402"/>
                      <a:pt x="6131" y="21599"/>
                      <a:pt x="6640" y="21599"/>
                    </a:cubicBezTo>
                    <a:cubicBezTo>
                      <a:pt x="7150" y="21599"/>
                      <a:pt x="7659" y="21402"/>
                      <a:pt x="8048" y="21006"/>
                    </a:cubicBezTo>
                    <a:lnTo>
                      <a:pt x="10121" y="18900"/>
                    </a:lnTo>
                    <a:lnTo>
                      <a:pt x="19255" y="18900"/>
                    </a:lnTo>
                    <a:cubicBezTo>
                      <a:pt x="20062" y="18900"/>
                      <a:pt x="20788" y="18407"/>
                      <a:pt x="21095" y="17650"/>
                    </a:cubicBezTo>
                    <a:cubicBezTo>
                      <a:pt x="21405" y="16893"/>
                      <a:pt x="21234" y="16022"/>
                      <a:pt x="20663" y="15443"/>
                    </a:cubicBezTo>
                    <a:cubicBezTo>
                      <a:pt x="20663" y="15443"/>
                      <a:pt x="6056" y="593"/>
                      <a:pt x="6056" y="593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/>
              <a:lstStyle/>
              <a:p>
                <a:pPr algn="ctr" defTabSz="17145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1100">
                  <a:solidFill>
                    <a:schemeClr val="tx1">
                      <a:lumMod val="65000"/>
                      <a:lumOff val="35000"/>
                    </a:schemeClr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ill Sans" charset="0"/>
                  <a:sym typeface="Gill Sans" charset="0"/>
                </a:endParaRPr>
              </a:p>
            </p:txBody>
          </p:sp>
          <p:sp>
            <p:nvSpPr>
              <p:cNvPr id="46" name="AutoShape 138"/>
              <p:cNvSpPr/>
              <p:nvPr/>
            </p:nvSpPr>
            <p:spPr bwMode="auto">
              <a:xfrm>
                <a:off x="4686300" y="1652588"/>
                <a:ext cx="217488" cy="217488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437" y="2880"/>
                    </a:moveTo>
                    <a:lnTo>
                      <a:pt x="1437" y="2885"/>
                    </a:lnTo>
                    <a:cubicBezTo>
                      <a:pt x="10965" y="2885"/>
                      <a:pt x="18717" y="10637"/>
                      <a:pt x="18717" y="20165"/>
                    </a:cubicBezTo>
                    <a:lnTo>
                      <a:pt x="18720" y="20165"/>
                    </a:lnTo>
                    <a:cubicBezTo>
                      <a:pt x="18722" y="20959"/>
                      <a:pt x="19366" y="21600"/>
                      <a:pt x="20160" y="21600"/>
                    </a:cubicBezTo>
                    <a:cubicBezTo>
                      <a:pt x="20955" y="21600"/>
                      <a:pt x="21599" y="20956"/>
                      <a:pt x="21599" y="20160"/>
                    </a:cubicBezTo>
                    <a:cubicBezTo>
                      <a:pt x="21599" y="20155"/>
                      <a:pt x="21597" y="20152"/>
                      <a:pt x="21597" y="20148"/>
                    </a:cubicBezTo>
                    <a:cubicBezTo>
                      <a:pt x="21588" y="9034"/>
                      <a:pt x="12588" y="28"/>
                      <a:pt x="1476" y="8"/>
                    </a:cubicBezTo>
                    <a:cubicBezTo>
                      <a:pt x="1465" y="7"/>
                      <a:pt x="1454" y="0"/>
                      <a:pt x="1440" y="0"/>
                    </a:cubicBezTo>
                    <a:cubicBezTo>
                      <a:pt x="644" y="0"/>
                      <a:pt x="0" y="644"/>
                      <a:pt x="0" y="1440"/>
                    </a:cubicBezTo>
                    <a:cubicBezTo>
                      <a:pt x="0" y="2234"/>
                      <a:pt x="644" y="2878"/>
                      <a:pt x="1437" y="2880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/>
              <a:lstStyle/>
              <a:p>
                <a:pPr algn="ctr" defTabSz="17145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1100">
                  <a:solidFill>
                    <a:schemeClr val="tx1">
                      <a:lumMod val="65000"/>
                      <a:lumOff val="35000"/>
                    </a:schemeClr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ill Sans" charset="0"/>
                  <a:sym typeface="Gill Sans" charset="0"/>
                </a:endParaRPr>
              </a:p>
            </p:txBody>
          </p:sp>
        </p:grpSp>
      </p:grpSp>
      <p:sp>
        <p:nvSpPr>
          <p:cNvPr id="47" name="TextBox 42"/>
          <p:cNvSpPr txBox="1"/>
          <p:nvPr/>
        </p:nvSpPr>
        <p:spPr>
          <a:xfrm>
            <a:off x="3418191" y="1865391"/>
            <a:ext cx="640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漏洞</a:t>
            </a:r>
            <a:endParaRPr lang="zh-CN" altLang="en-US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TextBox 46"/>
          <p:cNvSpPr txBox="1"/>
          <p:nvPr/>
        </p:nvSpPr>
        <p:spPr>
          <a:xfrm>
            <a:off x="6123574" y="1161058"/>
            <a:ext cx="63881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Bug</a:t>
            </a:r>
            <a:endParaRPr lang="zh-CN" altLang="en-US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TextBox 47"/>
          <p:cNvSpPr txBox="1"/>
          <p:nvPr/>
        </p:nvSpPr>
        <p:spPr>
          <a:xfrm>
            <a:off x="6154308" y="1574912"/>
            <a:ext cx="4003152" cy="1245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00" dirty="0"/>
              <a:t>代码可靠性方面的问题</a:t>
            </a:r>
            <a:endParaRPr lang="en-US" altLang="zh-CN" sz="1500" dirty="0"/>
          </a:p>
          <a:p>
            <a:endParaRPr lang="en-US" altLang="zh-CN" sz="1500" dirty="0"/>
          </a:p>
          <a:p>
            <a:r>
              <a:rPr lang="en-US" altLang="zh-CN" sz="1500" dirty="0"/>
              <a:t>Bug</a:t>
            </a:r>
            <a:r>
              <a:rPr lang="zh-CN" altLang="en-US" sz="1500" dirty="0"/>
              <a:t>是出现了明显错误或是高度近似期望之外行为的代码，它会使（或在某种条件下）软件不能正常工作。</a:t>
            </a:r>
            <a:r>
              <a:rPr lang="en-US" altLang="zh-CN" sz="1500" dirty="0"/>
              <a:t>4</a:t>
            </a:r>
            <a:endParaRPr lang="en-US" altLang="zh-CN" sz="1500" dirty="0"/>
          </a:p>
        </p:txBody>
      </p:sp>
      <p:sp>
        <p:nvSpPr>
          <p:cNvPr id="53" name="TextBox 48"/>
          <p:cNvSpPr txBox="1"/>
          <p:nvPr/>
        </p:nvSpPr>
        <p:spPr>
          <a:xfrm>
            <a:off x="6239347" y="3429000"/>
            <a:ext cx="8686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坏味道</a:t>
            </a:r>
            <a:endParaRPr lang="zh-CN" altLang="en-US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TextBox 47"/>
          <p:cNvSpPr txBox="1"/>
          <p:nvPr/>
        </p:nvSpPr>
        <p:spPr>
          <a:xfrm>
            <a:off x="341100" y="2256674"/>
            <a:ext cx="4003152" cy="1245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00" dirty="0"/>
              <a:t>代码安全性方面的问题</a:t>
            </a:r>
            <a:endParaRPr lang="en-US" altLang="zh-CN" sz="1500" dirty="0"/>
          </a:p>
          <a:p>
            <a:r>
              <a:rPr lang="zh-CN" altLang="en-US" sz="1500" dirty="0"/>
              <a:t>漏洞是指代码中可能出现被黑客利用的潜在风险点。</a:t>
            </a:r>
            <a:endParaRPr lang="en-US" altLang="zh-CN" sz="1500" dirty="0"/>
          </a:p>
          <a:p>
            <a:r>
              <a:rPr lang="zh-CN" altLang="en-US" sz="1500" dirty="0"/>
              <a:t>例如不安全的</a:t>
            </a:r>
            <a:r>
              <a:rPr lang="en-US" altLang="zh-CN" sz="1500" dirty="0"/>
              <a:t>Cookies</a:t>
            </a:r>
            <a:r>
              <a:rPr lang="zh-CN" altLang="en-US" sz="1500" dirty="0"/>
              <a:t>、使用不安全的加密算法等</a:t>
            </a:r>
            <a:endParaRPr lang="en-US" altLang="zh-CN" sz="1500" dirty="0"/>
          </a:p>
        </p:txBody>
      </p:sp>
      <p:sp>
        <p:nvSpPr>
          <p:cNvPr id="56" name="TextBox 47"/>
          <p:cNvSpPr txBox="1"/>
          <p:nvPr/>
        </p:nvSpPr>
        <p:spPr>
          <a:xfrm>
            <a:off x="6154308" y="3912441"/>
            <a:ext cx="4003152" cy="2168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00" dirty="0"/>
              <a:t>代码可维护性方面的问题</a:t>
            </a:r>
            <a:endParaRPr lang="en-US" altLang="zh-CN" sz="1500" dirty="0"/>
          </a:p>
          <a:p>
            <a:endParaRPr lang="en-US" altLang="zh-CN" sz="1500" dirty="0"/>
          </a:p>
          <a:p>
            <a:r>
              <a:rPr lang="zh-CN" altLang="en-US" sz="1500" dirty="0"/>
              <a:t>例如不遵守代码标准、代码重复率过高、函数圈复杂度过高、注释率不足或过高等</a:t>
            </a:r>
            <a:endParaRPr lang="en-US" altLang="zh-CN" sz="1500" dirty="0"/>
          </a:p>
          <a:p>
            <a:endParaRPr lang="en-US" altLang="zh-CN" sz="1500" dirty="0"/>
          </a:p>
          <a:p>
            <a:r>
              <a:rPr lang="zh-CN" altLang="en-US" sz="1500" dirty="0"/>
              <a:t>代码坏味道会困扰代码的维护者并降低开发效率。</a:t>
            </a:r>
            <a:endParaRPr lang="en-US" altLang="zh-CN" sz="1500" dirty="0"/>
          </a:p>
          <a:p>
            <a:r>
              <a:rPr lang="zh-CN" altLang="en-US" sz="1500" dirty="0"/>
              <a:t>代码坏味道严重程度主要的衡量标准是修复坏味道所需的时间。</a:t>
            </a:r>
            <a:endParaRPr lang="en-US" altLang="zh-CN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000">
        <p:random/>
      </p:transition>
    </mc:Choice>
    <mc:Fallback>
      <p:transition spd="slow" advTm="1000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/>
          <p:cNvSpPr txBox="1"/>
          <p:nvPr/>
        </p:nvSpPr>
        <p:spPr>
          <a:xfrm>
            <a:off x="1160823" y="135105"/>
            <a:ext cx="9267385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2800"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SonarQube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质量问题的五种严重程度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Flowchart: Decision 64"/>
          <p:cNvSpPr/>
          <p:nvPr/>
        </p:nvSpPr>
        <p:spPr>
          <a:xfrm flipV="1">
            <a:off x="7594742" y="2650566"/>
            <a:ext cx="1375279" cy="1375279"/>
          </a:xfrm>
          <a:prstGeom prst="flowChartDecision">
            <a:avLst/>
          </a:prstGeom>
          <a:solidFill>
            <a:schemeClr val="accent1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50" name="组合 49"/>
          <p:cNvGrpSpPr/>
          <p:nvPr/>
        </p:nvGrpSpPr>
        <p:grpSpPr>
          <a:xfrm>
            <a:off x="7594742" y="2440286"/>
            <a:ext cx="1375279" cy="1375279"/>
            <a:chOff x="5428969" y="2181871"/>
            <a:chExt cx="1375279" cy="1375279"/>
          </a:xfrm>
        </p:grpSpPr>
        <p:sp>
          <p:nvSpPr>
            <p:cNvPr id="54" name="Flowchart: Decision 65"/>
            <p:cNvSpPr/>
            <p:nvPr/>
          </p:nvSpPr>
          <p:spPr>
            <a:xfrm flipV="1">
              <a:off x="5428969" y="2181871"/>
              <a:ext cx="1375279" cy="1375279"/>
            </a:xfrm>
            <a:prstGeom prst="flowChartDecision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57" name="Group 52"/>
            <p:cNvGrpSpPr/>
            <p:nvPr/>
          </p:nvGrpSpPr>
          <p:grpSpPr>
            <a:xfrm>
              <a:off x="5933033" y="2685621"/>
              <a:ext cx="367150" cy="367778"/>
              <a:chOff x="9145588" y="4435475"/>
              <a:chExt cx="464344" cy="465138"/>
            </a:xfrm>
            <a:solidFill>
              <a:schemeClr val="accent5"/>
            </a:solidFill>
          </p:grpSpPr>
          <p:sp>
            <p:nvSpPr>
              <p:cNvPr id="58" name="AutoShape 7"/>
              <p:cNvSpPr/>
              <p:nvPr/>
            </p:nvSpPr>
            <p:spPr bwMode="auto">
              <a:xfrm>
                <a:off x="9145588" y="4435475"/>
                <a:ext cx="464344" cy="465138"/>
              </a:xfrm>
              <a:custGeom>
                <a:avLst/>
                <a:gdLst>
                  <a:gd name="T0" fmla="+- 0 10800 1271"/>
                  <a:gd name="T1" fmla="*/ T0 w 19058"/>
                  <a:gd name="T2" fmla="+- 0 10799 1270"/>
                  <a:gd name="T3" fmla="*/ 10799 h 19059"/>
                  <a:gd name="T4" fmla="+- 0 10800 1271"/>
                  <a:gd name="T5" fmla="*/ T4 w 19058"/>
                  <a:gd name="T6" fmla="+- 0 10799 1270"/>
                  <a:gd name="T7" fmla="*/ 10799 h 19059"/>
                  <a:gd name="T8" fmla="+- 0 10800 1271"/>
                  <a:gd name="T9" fmla="*/ T8 w 19058"/>
                  <a:gd name="T10" fmla="+- 0 10799 1270"/>
                  <a:gd name="T11" fmla="*/ 10799 h 19059"/>
                  <a:gd name="T12" fmla="+- 0 10800 1271"/>
                  <a:gd name="T13" fmla="*/ T12 w 19058"/>
                  <a:gd name="T14" fmla="+- 0 10799 1270"/>
                  <a:gd name="T15" fmla="*/ 10799 h 1905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19058" h="19059">
                    <a:moveTo>
                      <a:pt x="6430" y="17268"/>
                    </a:moveTo>
                    <a:cubicBezTo>
                      <a:pt x="2162" y="15559"/>
                      <a:pt x="82" y="10698"/>
                      <a:pt x="1790" y="6431"/>
                    </a:cubicBezTo>
                    <a:cubicBezTo>
                      <a:pt x="3499" y="2164"/>
                      <a:pt x="8360" y="81"/>
                      <a:pt x="12627" y="1791"/>
                    </a:cubicBezTo>
                    <a:cubicBezTo>
                      <a:pt x="16894" y="3499"/>
                      <a:pt x="18975" y="8361"/>
                      <a:pt x="17267" y="12628"/>
                    </a:cubicBezTo>
                    <a:cubicBezTo>
                      <a:pt x="15558" y="16895"/>
                      <a:pt x="10696" y="18976"/>
                      <a:pt x="6430" y="17268"/>
                    </a:cubicBezTo>
                    <a:moveTo>
                      <a:pt x="13070" y="685"/>
                    </a:moveTo>
                    <a:cubicBezTo>
                      <a:pt x="8186" y="-1270"/>
                      <a:pt x="2641" y="1103"/>
                      <a:pt x="685" y="5987"/>
                    </a:cubicBezTo>
                    <a:cubicBezTo>
                      <a:pt x="-1271" y="10872"/>
                      <a:pt x="1103" y="16418"/>
                      <a:pt x="5987" y="18373"/>
                    </a:cubicBezTo>
                    <a:cubicBezTo>
                      <a:pt x="10871" y="20330"/>
                      <a:pt x="16416" y="17955"/>
                      <a:pt x="18373" y="13071"/>
                    </a:cubicBezTo>
                    <a:cubicBezTo>
                      <a:pt x="20329" y="8186"/>
                      <a:pt x="17954" y="2641"/>
                      <a:pt x="13070" y="685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/>
              <a:lstStyle/>
              <a:p>
                <a:pPr algn="ctr" defTabSz="17145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110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ill Sans" charset="0"/>
                  <a:sym typeface="Gill Sans" charset="0"/>
                </a:endParaRPr>
              </a:p>
            </p:txBody>
          </p:sp>
          <p:sp>
            <p:nvSpPr>
              <p:cNvPr id="59" name="AutoShape 8"/>
              <p:cNvSpPr/>
              <p:nvPr/>
            </p:nvSpPr>
            <p:spPr bwMode="auto">
              <a:xfrm>
                <a:off x="9348788" y="4638675"/>
                <a:ext cx="57944" cy="57944"/>
              </a:xfrm>
              <a:custGeom>
                <a:avLst/>
                <a:gdLst>
                  <a:gd name="T0" fmla="+- 0 10801 1272"/>
                  <a:gd name="T1" fmla="*/ T0 w 19059"/>
                  <a:gd name="T2" fmla="+- 0 10800 1272"/>
                  <a:gd name="T3" fmla="*/ 10800 h 19056"/>
                  <a:gd name="T4" fmla="+- 0 10801 1272"/>
                  <a:gd name="T5" fmla="*/ T4 w 19059"/>
                  <a:gd name="T6" fmla="+- 0 10800 1272"/>
                  <a:gd name="T7" fmla="*/ 10800 h 19056"/>
                  <a:gd name="T8" fmla="+- 0 10801 1272"/>
                  <a:gd name="T9" fmla="*/ T8 w 19059"/>
                  <a:gd name="T10" fmla="+- 0 10800 1272"/>
                  <a:gd name="T11" fmla="*/ 10800 h 19056"/>
                  <a:gd name="T12" fmla="+- 0 10801 1272"/>
                  <a:gd name="T13" fmla="*/ T12 w 19059"/>
                  <a:gd name="T14" fmla="+- 0 10800 1272"/>
                  <a:gd name="T15" fmla="*/ 10800 h 190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19059" h="19056">
                    <a:moveTo>
                      <a:pt x="7753" y="13951"/>
                    </a:moveTo>
                    <a:cubicBezTo>
                      <a:pt x="5315" y="12969"/>
                      <a:pt x="4129" y="10197"/>
                      <a:pt x="5101" y="7755"/>
                    </a:cubicBezTo>
                    <a:cubicBezTo>
                      <a:pt x="6083" y="5323"/>
                      <a:pt x="8860" y="4132"/>
                      <a:pt x="11298" y="5104"/>
                    </a:cubicBezTo>
                    <a:cubicBezTo>
                      <a:pt x="13735" y="6081"/>
                      <a:pt x="14926" y="8858"/>
                      <a:pt x="13949" y="11300"/>
                    </a:cubicBezTo>
                    <a:cubicBezTo>
                      <a:pt x="12972" y="13737"/>
                      <a:pt x="10195" y="14923"/>
                      <a:pt x="7753" y="13951"/>
                    </a:cubicBezTo>
                    <a:moveTo>
                      <a:pt x="13070" y="686"/>
                    </a:moveTo>
                    <a:cubicBezTo>
                      <a:pt x="8190" y="-1272"/>
                      <a:pt x="2640" y="1104"/>
                      <a:pt x="686" y="5988"/>
                    </a:cubicBezTo>
                    <a:cubicBezTo>
                      <a:pt x="-1272" y="10872"/>
                      <a:pt x="1105" y="16416"/>
                      <a:pt x="5985" y="18369"/>
                    </a:cubicBezTo>
                    <a:cubicBezTo>
                      <a:pt x="10870" y="20328"/>
                      <a:pt x="16415" y="17951"/>
                      <a:pt x="18374" y="13072"/>
                    </a:cubicBezTo>
                    <a:cubicBezTo>
                      <a:pt x="20328" y="8188"/>
                      <a:pt x="17960" y="2644"/>
                      <a:pt x="13070" y="686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/>
              <a:lstStyle/>
              <a:p>
                <a:pPr algn="ctr" defTabSz="17145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110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ill Sans" charset="0"/>
                  <a:sym typeface="Gill Sans" charset="0"/>
                </a:endParaRPr>
              </a:p>
            </p:txBody>
          </p:sp>
          <p:sp>
            <p:nvSpPr>
              <p:cNvPr id="60" name="AutoShape 9"/>
              <p:cNvSpPr/>
              <p:nvPr/>
            </p:nvSpPr>
            <p:spPr bwMode="auto">
              <a:xfrm>
                <a:off x="9290050" y="4580732"/>
                <a:ext cx="174625" cy="174625"/>
              </a:xfrm>
              <a:custGeom>
                <a:avLst/>
                <a:gdLst>
                  <a:gd name="T0" fmla="+- 0 10800 1271"/>
                  <a:gd name="T1" fmla="*/ T0 w 19059"/>
                  <a:gd name="T2" fmla="+- 0 10800 1271"/>
                  <a:gd name="T3" fmla="*/ 10800 h 19058"/>
                  <a:gd name="T4" fmla="+- 0 10800 1271"/>
                  <a:gd name="T5" fmla="*/ T4 w 19059"/>
                  <a:gd name="T6" fmla="+- 0 10800 1271"/>
                  <a:gd name="T7" fmla="*/ 10800 h 19058"/>
                  <a:gd name="T8" fmla="+- 0 10800 1271"/>
                  <a:gd name="T9" fmla="*/ T8 w 19059"/>
                  <a:gd name="T10" fmla="+- 0 10800 1271"/>
                  <a:gd name="T11" fmla="*/ 10800 h 19058"/>
                  <a:gd name="T12" fmla="+- 0 10800 1271"/>
                  <a:gd name="T13" fmla="*/ T12 w 19059"/>
                  <a:gd name="T14" fmla="+- 0 10800 1271"/>
                  <a:gd name="T15" fmla="*/ 10800 h 19058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19059" h="19058">
                    <a:moveTo>
                      <a:pt x="7169" y="15424"/>
                    </a:moveTo>
                    <a:cubicBezTo>
                      <a:pt x="3916" y="14123"/>
                      <a:pt x="2331" y="10417"/>
                      <a:pt x="3632" y="7167"/>
                    </a:cubicBezTo>
                    <a:cubicBezTo>
                      <a:pt x="4934" y="3917"/>
                      <a:pt x="8638" y="2331"/>
                      <a:pt x="11889" y="3632"/>
                    </a:cubicBezTo>
                    <a:cubicBezTo>
                      <a:pt x="15141" y="4934"/>
                      <a:pt x="16728" y="8640"/>
                      <a:pt x="15425" y="11890"/>
                    </a:cubicBezTo>
                    <a:cubicBezTo>
                      <a:pt x="14124" y="15140"/>
                      <a:pt x="10419" y="16728"/>
                      <a:pt x="7169" y="15424"/>
                    </a:cubicBezTo>
                    <a:moveTo>
                      <a:pt x="13071" y="685"/>
                    </a:moveTo>
                    <a:cubicBezTo>
                      <a:pt x="8186" y="-1271"/>
                      <a:pt x="2639" y="1104"/>
                      <a:pt x="686" y="5987"/>
                    </a:cubicBezTo>
                    <a:cubicBezTo>
                      <a:pt x="-1271" y="10871"/>
                      <a:pt x="1104" y="16416"/>
                      <a:pt x="5987" y="18372"/>
                    </a:cubicBezTo>
                    <a:cubicBezTo>
                      <a:pt x="10874" y="20329"/>
                      <a:pt x="16418" y="17955"/>
                      <a:pt x="18375" y="13070"/>
                    </a:cubicBezTo>
                    <a:cubicBezTo>
                      <a:pt x="20328" y="8186"/>
                      <a:pt x="17956" y="2641"/>
                      <a:pt x="13071" y="685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/>
              <a:lstStyle/>
              <a:p>
                <a:pPr algn="ctr" defTabSz="17145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110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ill Sans" charset="0"/>
                  <a:sym typeface="Gill Sans" charset="0"/>
                </a:endParaRPr>
              </a:p>
            </p:txBody>
          </p:sp>
          <p:sp>
            <p:nvSpPr>
              <p:cNvPr id="61" name="AutoShape 10"/>
              <p:cNvSpPr/>
              <p:nvPr/>
            </p:nvSpPr>
            <p:spPr bwMode="auto">
              <a:xfrm>
                <a:off x="9406732" y="4696619"/>
                <a:ext cx="72231" cy="74613"/>
              </a:xfrm>
              <a:custGeom>
                <a:avLst/>
                <a:gdLst>
                  <a:gd name="T0" fmla="+- 0 10804 288"/>
                  <a:gd name="T1" fmla="*/ T0 w 21033"/>
                  <a:gd name="T2" fmla="+- 0 10798 277"/>
                  <a:gd name="T3" fmla="*/ 10798 h 21043"/>
                  <a:gd name="T4" fmla="+- 0 10804 288"/>
                  <a:gd name="T5" fmla="*/ T4 w 21033"/>
                  <a:gd name="T6" fmla="+- 0 10798 277"/>
                  <a:gd name="T7" fmla="*/ 10798 h 21043"/>
                  <a:gd name="T8" fmla="+- 0 10804 288"/>
                  <a:gd name="T9" fmla="*/ T8 w 21033"/>
                  <a:gd name="T10" fmla="+- 0 10798 277"/>
                  <a:gd name="T11" fmla="*/ 10798 h 21043"/>
                  <a:gd name="T12" fmla="+- 0 10804 288"/>
                  <a:gd name="T13" fmla="*/ T12 w 21033"/>
                  <a:gd name="T14" fmla="+- 0 10798 277"/>
                  <a:gd name="T15" fmla="*/ 10798 h 21043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21033" h="21043">
                    <a:moveTo>
                      <a:pt x="20881" y="2825"/>
                    </a:moveTo>
                    <a:cubicBezTo>
                      <a:pt x="21312" y="1771"/>
                      <a:pt x="20787" y="572"/>
                      <a:pt x="19713" y="149"/>
                    </a:cubicBezTo>
                    <a:cubicBezTo>
                      <a:pt x="18636" y="-277"/>
                      <a:pt x="17414" y="238"/>
                      <a:pt x="16984" y="1296"/>
                    </a:cubicBezTo>
                    <a:lnTo>
                      <a:pt x="16980" y="1292"/>
                    </a:lnTo>
                    <a:cubicBezTo>
                      <a:pt x="13964" y="8692"/>
                      <a:pt x="8182" y="14184"/>
                      <a:pt x="1269" y="17089"/>
                    </a:cubicBezTo>
                    <a:cubicBezTo>
                      <a:pt x="207" y="17536"/>
                      <a:pt x="-288" y="18747"/>
                      <a:pt x="170" y="19789"/>
                    </a:cubicBezTo>
                    <a:cubicBezTo>
                      <a:pt x="629" y="20840"/>
                      <a:pt x="1863" y="21323"/>
                      <a:pt x="2924" y="20876"/>
                    </a:cubicBezTo>
                    <a:cubicBezTo>
                      <a:pt x="2961" y="20860"/>
                      <a:pt x="2982" y="20828"/>
                      <a:pt x="3014" y="20815"/>
                    </a:cubicBezTo>
                    <a:cubicBezTo>
                      <a:pt x="10874" y="17480"/>
                      <a:pt x="17451" y="11227"/>
                      <a:pt x="20877" y="2825"/>
                    </a:cubicBezTo>
                    <a:cubicBezTo>
                      <a:pt x="20877" y="2825"/>
                      <a:pt x="20881" y="2825"/>
                      <a:pt x="20881" y="282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/>
              <a:lstStyle/>
              <a:p>
                <a:pPr algn="ctr" defTabSz="17145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110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ill Sans" charset="0"/>
                  <a:sym typeface="Gill Sans" charset="0"/>
                </a:endParaRPr>
              </a:p>
            </p:txBody>
          </p:sp>
          <p:sp>
            <p:nvSpPr>
              <p:cNvPr id="62" name="AutoShape 11"/>
              <p:cNvSpPr/>
              <p:nvPr/>
            </p:nvSpPr>
            <p:spPr bwMode="auto">
              <a:xfrm>
                <a:off x="9435307" y="4725988"/>
                <a:ext cx="103981" cy="106363"/>
              </a:xfrm>
              <a:custGeom>
                <a:avLst/>
                <a:gdLst>
                  <a:gd name="T0" fmla="+- 0 10803 203"/>
                  <a:gd name="T1" fmla="*/ T0 w 21201"/>
                  <a:gd name="T2" fmla="+- 0 10798 194"/>
                  <a:gd name="T3" fmla="*/ 10798 h 21209"/>
                  <a:gd name="T4" fmla="+- 0 10803 203"/>
                  <a:gd name="T5" fmla="*/ T4 w 21201"/>
                  <a:gd name="T6" fmla="+- 0 10798 194"/>
                  <a:gd name="T7" fmla="*/ 10798 h 21209"/>
                  <a:gd name="T8" fmla="+- 0 10803 203"/>
                  <a:gd name="T9" fmla="*/ T8 w 21201"/>
                  <a:gd name="T10" fmla="+- 0 10798 194"/>
                  <a:gd name="T11" fmla="*/ 10798 h 21209"/>
                  <a:gd name="T12" fmla="+- 0 10803 203"/>
                  <a:gd name="T13" fmla="*/ T12 w 21201"/>
                  <a:gd name="T14" fmla="+- 0 10798 194"/>
                  <a:gd name="T15" fmla="*/ 10798 h 2120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21201" h="21209">
                    <a:moveTo>
                      <a:pt x="20267" y="104"/>
                    </a:moveTo>
                    <a:cubicBezTo>
                      <a:pt x="19508" y="-194"/>
                      <a:pt x="18645" y="169"/>
                      <a:pt x="18339" y="912"/>
                    </a:cubicBezTo>
                    <a:cubicBezTo>
                      <a:pt x="14991" y="9110"/>
                      <a:pt x="8568" y="15198"/>
                      <a:pt x="894" y="18420"/>
                    </a:cubicBezTo>
                    <a:cubicBezTo>
                      <a:pt x="144" y="18735"/>
                      <a:pt x="-203" y="19589"/>
                      <a:pt x="121" y="20327"/>
                    </a:cubicBezTo>
                    <a:cubicBezTo>
                      <a:pt x="442" y="21068"/>
                      <a:pt x="1314" y="21406"/>
                      <a:pt x="2067" y="21090"/>
                    </a:cubicBezTo>
                    <a:cubicBezTo>
                      <a:pt x="2102" y="21073"/>
                      <a:pt x="2125" y="21042"/>
                      <a:pt x="2159" y="21025"/>
                    </a:cubicBezTo>
                    <a:cubicBezTo>
                      <a:pt x="10491" y="17500"/>
                      <a:pt x="17461" y="10881"/>
                      <a:pt x="21095" y="1994"/>
                    </a:cubicBezTo>
                    <a:cubicBezTo>
                      <a:pt x="21397" y="1250"/>
                      <a:pt x="21026" y="404"/>
                      <a:pt x="20267" y="104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/>
              <a:lstStyle/>
              <a:p>
                <a:pPr algn="ctr" defTabSz="17145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110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ill Sans" charset="0"/>
                  <a:sym typeface="Gill Sans" charset="0"/>
                </a:endParaRPr>
              </a:p>
            </p:txBody>
          </p:sp>
          <p:sp>
            <p:nvSpPr>
              <p:cNvPr id="63" name="AutoShape 12"/>
              <p:cNvSpPr/>
              <p:nvPr/>
            </p:nvSpPr>
            <p:spPr bwMode="auto">
              <a:xfrm>
                <a:off x="9421019" y="4711700"/>
                <a:ext cx="88106" cy="89694"/>
              </a:xfrm>
              <a:custGeom>
                <a:avLst/>
                <a:gdLst>
                  <a:gd name="T0" fmla="+- 0 10802 238"/>
                  <a:gd name="T1" fmla="*/ T0 w 21128"/>
                  <a:gd name="T2" fmla="+- 0 10797 227"/>
                  <a:gd name="T3" fmla="*/ 10797 h 21141"/>
                  <a:gd name="T4" fmla="+- 0 10802 238"/>
                  <a:gd name="T5" fmla="*/ T4 w 21128"/>
                  <a:gd name="T6" fmla="+- 0 10797 227"/>
                  <a:gd name="T7" fmla="*/ 10797 h 21141"/>
                  <a:gd name="T8" fmla="+- 0 10802 238"/>
                  <a:gd name="T9" fmla="*/ T8 w 21128"/>
                  <a:gd name="T10" fmla="+- 0 10797 227"/>
                  <a:gd name="T11" fmla="*/ 10797 h 21141"/>
                  <a:gd name="T12" fmla="+- 0 10802 238"/>
                  <a:gd name="T13" fmla="*/ T12 w 21128"/>
                  <a:gd name="T14" fmla="+- 0 10797 227"/>
                  <a:gd name="T15" fmla="*/ 10797 h 21141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21128" h="21141">
                    <a:moveTo>
                      <a:pt x="20035" y="122"/>
                    </a:moveTo>
                    <a:cubicBezTo>
                      <a:pt x="19142" y="-227"/>
                      <a:pt x="18134" y="195"/>
                      <a:pt x="17778" y="1071"/>
                    </a:cubicBezTo>
                    <a:cubicBezTo>
                      <a:pt x="14571" y="8936"/>
                      <a:pt x="8412" y="14778"/>
                      <a:pt x="1051" y="17867"/>
                    </a:cubicBezTo>
                    <a:lnTo>
                      <a:pt x="1054" y="17867"/>
                    </a:lnTo>
                    <a:cubicBezTo>
                      <a:pt x="172" y="18240"/>
                      <a:pt x="-238" y="19242"/>
                      <a:pt x="142" y="20108"/>
                    </a:cubicBezTo>
                    <a:cubicBezTo>
                      <a:pt x="522" y="20973"/>
                      <a:pt x="1543" y="21372"/>
                      <a:pt x="2425" y="21003"/>
                    </a:cubicBezTo>
                    <a:cubicBezTo>
                      <a:pt x="2459" y="20986"/>
                      <a:pt x="2476" y="20956"/>
                      <a:pt x="2514" y="20936"/>
                    </a:cubicBezTo>
                    <a:cubicBezTo>
                      <a:pt x="10651" y="17491"/>
                      <a:pt x="17459" y="11027"/>
                      <a:pt x="21002" y="2339"/>
                    </a:cubicBezTo>
                    <a:cubicBezTo>
                      <a:pt x="21361" y="1463"/>
                      <a:pt x="20927" y="472"/>
                      <a:pt x="20035" y="122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/>
              <a:lstStyle/>
              <a:p>
                <a:pPr algn="ctr" defTabSz="17145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110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ill Sans" charset="0"/>
                  <a:sym typeface="Gill Sans" charset="0"/>
                </a:endParaRPr>
              </a:p>
            </p:txBody>
          </p:sp>
          <p:sp>
            <p:nvSpPr>
              <p:cNvPr id="64" name="AutoShape 13"/>
              <p:cNvSpPr/>
              <p:nvPr/>
            </p:nvSpPr>
            <p:spPr bwMode="auto">
              <a:xfrm>
                <a:off x="9275763" y="4566444"/>
                <a:ext cx="73025" cy="73819"/>
              </a:xfrm>
              <a:custGeom>
                <a:avLst/>
                <a:gdLst>
                  <a:gd name="T0" fmla="+- 0 10797 278"/>
                  <a:gd name="T1" fmla="*/ T0 w 21039"/>
                  <a:gd name="T2" fmla="+- 0 10803 281"/>
                  <a:gd name="T3" fmla="*/ 10803 h 21044"/>
                  <a:gd name="T4" fmla="+- 0 10797 278"/>
                  <a:gd name="T5" fmla="*/ T4 w 21039"/>
                  <a:gd name="T6" fmla="+- 0 10803 281"/>
                  <a:gd name="T7" fmla="*/ 10803 h 21044"/>
                  <a:gd name="T8" fmla="+- 0 10797 278"/>
                  <a:gd name="T9" fmla="*/ T8 w 21039"/>
                  <a:gd name="T10" fmla="+- 0 10803 281"/>
                  <a:gd name="T11" fmla="*/ 10803 h 21044"/>
                  <a:gd name="T12" fmla="+- 0 10797 278"/>
                  <a:gd name="T13" fmla="*/ T12 w 21039"/>
                  <a:gd name="T14" fmla="+- 0 10803 281"/>
                  <a:gd name="T15" fmla="*/ 10803 h 21044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21039" h="21044">
                    <a:moveTo>
                      <a:pt x="20871" y="1248"/>
                    </a:moveTo>
                    <a:cubicBezTo>
                      <a:pt x="20411" y="197"/>
                      <a:pt x="19177" y="-281"/>
                      <a:pt x="18112" y="169"/>
                    </a:cubicBezTo>
                    <a:cubicBezTo>
                      <a:pt x="18075" y="181"/>
                      <a:pt x="18050" y="214"/>
                      <a:pt x="18021" y="226"/>
                    </a:cubicBezTo>
                    <a:cubicBezTo>
                      <a:pt x="10159" y="3562"/>
                      <a:pt x="3583" y="9820"/>
                      <a:pt x="152" y="18220"/>
                    </a:cubicBezTo>
                    <a:lnTo>
                      <a:pt x="148" y="18220"/>
                    </a:lnTo>
                    <a:cubicBezTo>
                      <a:pt x="-278" y="19278"/>
                      <a:pt x="242" y="20473"/>
                      <a:pt x="1320" y="20896"/>
                    </a:cubicBezTo>
                    <a:cubicBezTo>
                      <a:pt x="2398" y="21318"/>
                      <a:pt x="3620" y="20803"/>
                      <a:pt x="4046" y="19749"/>
                    </a:cubicBezTo>
                    <a:lnTo>
                      <a:pt x="4051" y="19749"/>
                    </a:lnTo>
                    <a:cubicBezTo>
                      <a:pt x="7068" y="12356"/>
                      <a:pt x="12856" y="6858"/>
                      <a:pt x="19764" y="3956"/>
                    </a:cubicBezTo>
                    <a:cubicBezTo>
                      <a:pt x="20830" y="3506"/>
                      <a:pt x="21322" y="2298"/>
                      <a:pt x="20871" y="1248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/>
              <a:lstStyle/>
              <a:p>
                <a:pPr algn="ctr" defTabSz="17145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110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ill Sans" charset="0"/>
                  <a:sym typeface="Gill Sans" charset="0"/>
                </a:endParaRPr>
              </a:p>
            </p:txBody>
          </p:sp>
          <p:sp>
            <p:nvSpPr>
              <p:cNvPr id="65" name="AutoShape 14"/>
              <p:cNvSpPr/>
              <p:nvPr/>
            </p:nvSpPr>
            <p:spPr bwMode="auto">
              <a:xfrm>
                <a:off x="9217819" y="4508500"/>
                <a:ext cx="103981" cy="105569"/>
              </a:xfrm>
              <a:custGeom>
                <a:avLst/>
                <a:gdLst>
                  <a:gd name="T0" fmla="+- 0 10797 198"/>
                  <a:gd name="T1" fmla="*/ T0 w 21199"/>
                  <a:gd name="T2" fmla="+- 0 10802 198"/>
                  <a:gd name="T3" fmla="*/ 10802 h 21208"/>
                  <a:gd name="T4" fmla="+- 0 10797 198"/>
                  <a:gd name="T5" fmla="*/ T4 w 21199"/>
                  <a:gd name="T6" fmla="+- 0 10802 198"/>
                  <a:gd name="T7" fmla="*/ 10802 h 21208"/>
                  <a:gd name="T8" fmla="+- 0 10797 198"/>
                  <a:gd name="T9" fmla="*/ T8 w 21199"/>
                  <a:gd name="T10" fmla="+- 0 10802 198"/>
                  <a:gd name="T11" fmla="*/ 10802 h 21208"/>
                  <a:gd name="T12" fmla="+- 0 10797 198"/>
                  <a:gd name="T13" fmla="*/ T12 w 21199"/>
                  <a:gd name="T14" fmla="+- 0 10802 198"/>
                  <a:gd name="T15" fmla="*/ 10802 h 21208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21199" h="21208">
                    <a:moveTo>
                      <a:pt x="21077" y="880"/>
                    </a:moveTo>
                    <a:cubicBezTo>
                      <a:pt x="20753" y="142"/>
                      <a:pt x="19881" y="-198"/>
                      <a:pt x="19129" y="117"/>
                    </a:cubicBezTo>
                    <a:cubicBezTo>
                      <a:pt x="19097" y="131"/>
                      <a:pt x="19071" y="162"/>
                      <a:pt x="19039" y="179"/>
                    </a:cubicBezTo>
                    <a:cubicBezTo>
                      <a:pt x="10706" y="3707"/>
                      <a:pt x="3739" y="10322"/>
                      <a:pt x="106" y="19208"/>
                    </a:cubicBezTo>
                    <a:cubicBezTo>
                      <a:pt x="-198" y="19957"/>
                      <a:pt x="172" y="20803"/>
                      <a:pt x="934" y="21101"/>
                    </a:cubicBezTo>
                    <a:cubicBezTo>
                      <a:pt x="1689" y="21401"/>
                      <a:pt x="2552" y="21041"/>
                      <a:pt x="2859" y="20292"/>
                    </a:cubicBezTo>
                    <a:cubicBezTo>
                      <a:pt x="6206" y="12096"/>
                      <a:pt x="12625" y="6008"/>
                      <a:pt x="20301" y="2787"/>
                    </a:cubicBezTo>
                    <a:cubicBezTo>
                      <a:pt x="21051" y="2469"/>
                      <a:pt x="21402" y="1618"/>
                      <a:pt x="21077" y="88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/>
              <a:lstStyle/>
              <a:p>
                <a:pPr algn="ctr" defTabSz="17145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110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ill Sans" charset="0"/>
                  <a:sym typeface="Gill Sans" charset="0"/>
                </a:endParaRPr>
              </a:p>
            </p:txBody>
          </p:sp>
          <p:sp>
            <p:nvSpPr>
              <p:cNvPr id="66" name="AutoShape 15"/>
              <p:cNvSpPr/>
              <p:nvPr/>
            </p:nvSpPr>
            <p:spPr bwMode="auto">
              <a:xfrm>
                <a:off x="9247188" y="4537075"/>
                <a:ext cx="88107" cy="90488"/>
              </a:xfrm>
              <a:custGeom>
                <a:avLst/>
                <a:gdLst>
                  <a:gd name="T0" fmla="+- 0 10796 232"/>
                  <a:gd name="T1" fmla="*/ T0 w 21129"/>
                  <a:gd name="T2" fmla="+- 0 10804 234"/>
                  <a:gd name="T3" fmla="*/ 10804 h 21141"/>
                  <a:gd name="T4" fmla="+- 0 10796 232"/>
                  <a:gd name="T5" fmla="*/ T4 w 21129"/>
                  <a:gd name="T6" fmla="+- 0 10804 234"/>
                  <a:gd name="T7" fmla="*/ 10804 h 21141"/>
                  <a:gd name="T8" fmla="+- 0 10796 232"/>
                  <a:gd name="T9" fmla="*/ T8 w 21129"/>
                  <a:gd name="T10" fmla="+- 0 10804 234"/>
                  <a:gd name="T11" fmla="*/ 10804 h 21141"/>
                  <a:gd name="T12" fmla="+- 0 10796 232"/>
                  <a:gd name="T13" fmla="*/ T12 w 21129"/>
                  <a:gd name="T14" fmla="+- 0 10804 234"/>
                  <a:gd name="T15" fmla="*/ 10804 h 21141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21129" h="21141">
                    <a:moveTo>
                      <a:pt x="20075" y="3267"/>
                    </a:moveTo>
                    <a:cubicBezTo>
                      <a:pt x="20953" y="2898"/>
                      <a:pt x="21368" y="1899"/>
                      <a:pt x="20987" y="1030"/>
                    </a:cubicBezTo>
                    <a:cubicBezTo>
                      <a:pt x="20611" y="168"/>
                      <a:pt x="19589" y="-234"/>
                      <a:pt x="18707" y="138"/>
                    </a:cubicBezTo>
                    <a:cubicBezTo>
                      <a:pt x="18670" y="152"/>
                      <a:pt x="18649" y="185"/>
                      <a:pt x="18615" y="198"/>
                    </a:cubicBezTo>
                    <a:cubicBezTo>
                      <a:pt x="10481" y="3647"/>
                      <a:pt x="3673" y="10118"/>
                      <a:pt x="124" y="18802"/>
                    </a:cubicBezTo>
                    <a:cubicBezTo>
                      <a:pt x="-232" y="19678"/>
                      <a:pt x="205" y="20666"/>
                      <a:pt x="1094" y="21019"/>
                    </a:cubicBezTo>
                    <a:cubicBezTo>
                      <a:pt x="1983" y="21366"/>
                      <a:pt x="2991" y="20946"/>
                      <a:pt x="3354" y="20071"/>
                    </a:cubicBezTo>
                    <a:cubicBezTo>
                      <a:pt x="6561" y="12205"/>
                      <a:pt x="12717" y="6360"/>
                      <a:pt x="20075" y="3274"/>
                    </a:cubicBezTo>
                    <a:cubicBezTo>
                      <a:pt x="20075" y="3274"/>
                      <a:pt x="20075" y="3267"/>
                      <a:pt x="20075" y="326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/>
              <a:lstStyle/>
              <a:p>
                <a:pPr algn="ctr" defTabSz="17145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110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ill Sans" charset="0"/>
                  <a:sym typeface="Gill Sans" charset="0"/>
                </a:endParaRPr>
              </a:p>
            </p:txBody>
          </p:sp>
        </p:grpSp>
      </p:grpSp>
      <p:sp>
        <p:nvSpPr>
          <p:cNvPr id="67" name="Flowchart: Decision 71"/>
          <p:cNvSpPr/>
          <p:nvPr/>
        </p:nvSpPr>
        <p:spPr>
          <a:xfrm flipV="1">
            <a:off x="2879575" y="2646695"/>
            <a:ext cx="1375279" cy="1375279"/>
          </a:xfrm>
          <a:prstGeom prst="flowChartDecision">
            <a:avLst/>
          </a:prstGeom>
          <a:solidFill>
            <a:schemeClr val="accent1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68" name="组合 67"/>
          <p:cNvGrpSpPr/>
          <p:nvPr/>
        </p:nvGrpSpPr>
        <p:grpSpPr>
          <a:xfrm>
            <a:off x="2879575" y="2436415"/>
            <a:ext cx="1375279" cy="1375279"/>
            <a:chOff x="2548649" y="2178000"/>
            <a:chExt cx="1375279" cy="1375279"/>
          </a:xfrm>
        </p:grpSpPr>
        <p:sp>
          <p:nvSpPr>
            <p:cNvPr id="69" name="Flowchart: Decision 72"/>
            <p:cNvSpPr/>
            <p:nvPr/>
          </p:nvSpPr>
          <p:spPr>
            <a:xfrm flipV="1">
              <a:off x="2548649" y="2178000"/>
              <a:ext cx="1375279" cy="1375279"/>
            </a:xfrm>
            <a:prstGeom prst="flowChartDecision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70" name="Group 68"/>
            <p:cNvGrpSpPr/>
            <p:nvPr/>
          </p:nvGrpSpPr>
          <p:grpSpPr>
            <a:xfrm>
              <a:off x="3097524" y="2681122"/>
              <a:ext cx="277529" cy="367778"/>
              <a:chOff x="3582988" y="3510757"/>
              <a:chExt cx="319088" cy="465138"/>
            </a:xfrm>
            <a:solidFill>
              <a:schemeClr val="accent2"/>
            </a:solidFill>
          </p:grpSpPr>
          <p:sp>
            <p:nvSpPr>
              <p:cNvPr id="71" name="AutoShape 113"/>
              <p:cNvSpPr/>
              <p:nvPr/>
            </p:nvSpPr>
            <p:spPr bwMode="auto">
              <a:xfrm>
                <a:off x="3582988" y="3510757"/>
                <a:ext cx="319088" cy="465138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5386" y="14175"/>
                    </a:moveTo>
                    <a:lnTo>
                      <a:pt x="6223" y="14175"/>
                    </a:lnTo>
                    <a:cubicBezTo>
                      <a:pt x="5734" y="13446"/>
                      <a:pt x="5147" y="12716"/>
                      <a:pt x="4568" y="12003"/>
                    </a:cubicBezTo>
                    <a:cubicBezTo>
                      <a:pt x="3287" y="10427"/>
                      <a:pt x="1963" y="8797"/>
                      <a:pt x="1963" y="7425"/>
                    </a:cubicBezTo>
                    <a:cubicBezTo>
                      <a:pt x="1963" y="4075"/>
                      <a:pt x="5927" y="1350"/>
                      <a:pt x="10800" y="1350"/>
                    </a:cubicBezTo>
                    <a:cubicBezTo>
                      <a:pt x="15672" y="1350"/>
                      <a:pt x="19636" y="4075"/>
                      <a:pt x="19636" y="7425"/>
                    </a:cubicBezTo>
                    <a:cubicBezTo>
                      <a:pt x="19636" y="8787"/>
                      <a:pt x="18312" y="10425"/>
                      <a:pt x="17029" y="12011"/>
                    </a:cubicBezTo>
                    <a:cubicBezTo>
                      <a:pt x="16455" y="12723"/>
                      <a:pt x="15873" y="13449"/>
                      <a:pt x="15386" y="14175"/>
                    </a:cubicBezTo>
                    <a:moveTo>
                      <a:pt x="10800" y="20249"/>
                    </a:moveTo>
                    <a:cubicBezTo>
                      <a:pt x="9805" y="20249"/>
                      <a:pt x="9347" y="20171"/>
                      <a:pt x="8839" y="19406"/>
                    </a:cubicBezTo>
                    <a:lnTo>
                      <a:pt x="13000" y="19048"/>
                    </a:lnTo>
                    <a:cubicBezTo>
                      <a:pt x="12398" y="20164"/>
                      <a:pt x="11959" y="20249"/>
                      <a:pt x="10800" y="20249"/>
                    </a:cubicBezTo>
                    <a:moveTo>
                      <a:pt x="7595" y="16813"/>
                    </a:moveTo>
                    <a:cubicBezTo>
                      <a:pt x="7417" y="16407"/>
                      <a:pt x="7215" y="15978"/>
                      <a:pt x="6991" y="15525"/>
                    </a:cubicBezTo>
                    <a:lnTo>
                      <a:pt x="14616" y="15525"/>
                    </a:lnTo>
                    <a:cubicBezTo>
                      <a:pt x="14496" y="15767"/>
                      <a:pt x="14375" y="16010"/>
                      <a:pt x="14270" y="16239"/>
                    </a:cubicBezTo>
                    <a:cubicBezTo>
                      <a:pt x="14270" y="16239"/>
                      <a:pt x="7595" y="16813"/>
                      <a:pt x="7595" y="16813"/>
                    </a:cubicBezTo>
                    <a:close/>
                    <a:moveTo>
                      <a:pt x="13345" y="18343"/>
                    </a:moveTo>
                    <a:lnTo>
                      <a:pt x="8476" y="18762"/>
                    </a:lnTo>
                    <a:cubicBezTo>
                      <a:pt x="8303" y="18416"/>
                      <a:pt x="8116" y="18011"/>
                      <a:pt x="7890" y="17483"/>
                    </a:cubicBezTo>
                    <a:cubicBezTo>
                      <a:pt x="7887" y="17477"/>
                      <a:pt x="7883" y="17469"/>
                      <a:pt x="7881" y="17462"/>
                    </a:cubicBezTo>
                    <a:lnTo>
                      <a:pt x="13957" y="16941"/>
                    </a:lnTo>
                    <a:cubicBezTo>
                      <a:pt x="13871" y="17140"/>
                      <a:pt x="13778" y="17350"/>
                      <a:pt x="13698" y="17537"/>
                    </a:cubicBezTo>
                    <a:cubicBezTo>
                      <a:pt x="13569" y="17841"/>
                      <a:pt x="13453" y="18104"/>
                      <a:pt x="13345" y="18343"/>
                    </a:cubicBezTo>
                    <a:moveTo>
                      <a:pt x="10800" y="0"/>
                    </a:moveTo>
                    <a:cubicBezTo>
                      <a:pt x="4835" y="0"/>
                      <a:pt x="0" y="3324"/>
                      <a:pt x="0" y="7425"/>
                    </a:cubicBezTo>
                    <a:cubicBezTo>
                      <a:pt x="0" y="10146"/>
                      <a:pt x="3621" y="13029"/>
                      <a:pt x="4939" y="15562"/>
                    </a:cubicBezTo>
                    <a:cubicBezTo>
                      <a:pt x="6906" y="19339"/>
                      <a:pt x="6688" y="21599"/>
                      <a:pt x="10800" y="21599"/>
                    </a:cubicBezTo>
                    <a:cubicBezTo>
                      <a:pt x="14972" y="21599"/>
                      <a:pt x="14692" y="19349"/>
                      <a:pt x="16660" y="15577"/>
                    </a:cubicBezTo>
                    <a:cubicBezTo>
                      <a:pt x="17983" y="13039"/>
                      <a:pt x="21600" y="10124"/>
                      <a:pt x="21600" y="7425"/>
                    </a:cubicBezTo>
                    <a:cubicBezTo>
                      <a:pt x="21600" y="3324"/>
                      <a:pt x="16764" y="0"/>
                      <a:pt x="10800" y="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/>
              <a:lstStyle/>
              <a:p>
                <a:pPr algn="ctr" defTabSz="17145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110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ill Sans" charset="0"/>
                  <a:sym typeface="Gill Sans" charset="0"/>
                </a:endParaRPr>
              </a:p>
            </p:txBody>
          </p:sp>
          <p:sp>
            <p:nvSpPr>
              <p:cNvPr id="72" name="AutoShape 114"/>
              <p:cNvSpPr/>
              <p:nvPr/>
            </p:nvSpPr>
            <p:spPr bwMode="auto">
              <a:xfrm>
                <a:off x="3655219" y="3583782"/>
                <a:ext cx="94456" cy="94456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9938" y="0"/>
                    </a:moveTo>
                    <a:cubicBezTo>
                      <a:pt x="8943" y="0"/>
                      <a:pt x="0" y="8942"/>
                      <a:pt x="0" y="19938"/>
                    </a:cubicBezTo>
                    <a:cubicBezTo>
                      <a:pt x="0" y="20855"/>
                      <a:pt x="743" y="21600"/>
                      <a:pt x="1661" y="21600"/>
                    </a:cubicBezTo>
                    <a:cubicBezTo>
                      <a:pt x="2579" y="21600"/>
                      <a:pt x="3323" y="20855"/>
                      <a:pt x="3323" y="19938"/>
                    </a:cubicBezTo>
                    <a:cubicBezTo>
                      <a:pt x="3323" y="10777"/>
                      <a:pt x="10777" y="3323"/>
                      <a:pt x="19938" y="3323"/>
                    </a:cubicBezTo>
                    <a:cubicBezTo>
                      <a:pt x="20856" y="3323"/>
                      <a:pt x="21600" y="2578"/>
                      <a:pt x="21600" y="1661"/>
                    </a:cubicBezTo>
                    <a:cubicBezTo>
                      <a:pt x="21600" y="744"/>
                      <a:pt x="20856" y="0"/>
                      <a:pt x="19938" y="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/>
              <a:lstStyle/>
              <a:p>
                <a:pPr algn="ctr" defTabSz="17145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110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ill Sans" charset="0"/>
                  <a:sym typeface="Gill Sans" charset="0"/>
                </a:endParaRPr>
              </a:p>
            </p:txBody>
          </p:sp>
        </p:grpSp>
      </p:grpSp>
      <p:sp>
        <p:nvSpPr>
          <p:cNvPr id="73" name="Flowchart: Decision 78"/>
          <p:cNvSpPr/>
          <p:nvPr/>
        </p:nvSpPr>
        <p:spPr>
          <a:xfrm>
            <a:off x="641210" y="2173319"/>
            <a:ext cx="1375279" cy="1375279"/>
          </a:xfrm>
          <a:prstGeom prst="flowChartDecision">
            <a:avLst/>
          </a:prstGeom>
          <a:solidFill>
            <a:schemeClr val="accent1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74" name="组合 73"/>
          <p:cNvGrpSpPr/>
          <p:nvPr/>
        </p:nvGrpSpPr>
        <p:grpSpPr>
          <a:xfrm>
            <a:off x="641210" y="2383599"/>
            <a:ext cx="1375279" cy="1375279"/>
            <a:chOff x="1120674" y="2125184"/>
            <a:chExt cx="1375279" cy="1375279"/>
          </a:xfrm>
        </p:grpSpPr>
        <p:sp>
          <p:nvSpPr>
            <p:cNvPr id="75" name="Flowchart: Decision 79"/>
            <p:cNvSpPr/>
            <p:nvPr/>
          </p:nvSpPr>
          <p:spPr>
            <a:xfrm>
              <a:off x="1120674" y="2125184"/>
              <a:ext cx="1375279" cy="1375279"/>
            </a:xfrm>
            <a:prstGeom prst="flowChartDecision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76" name="Group 75"/>
            <p:cNvGrpSpPr/>
            <p:nvPr/>
          </p:nvGrpSpPr>
          <p:grpSpPr>
            <a:xfrm>
              <a:off x="1669549" y="2628305"/>
              <a:ext cx="275519" cy="367778"/>
              <a:chOff x="2639219" y="3510757"/>
              <a:chExt cx="348456" cy="465138"/>
            </a:xfrm>
            <a:solidFill>
              <a:schemeClr val="accent1"/>
            </a:solidFill>
          </p:grpSpPr>
          <p:sp>
            <p:nvSpPr>
              <p:cNvPr id="77" name="AutoShape 115"/>
              <p:cNvSpPr/>
              <p:nvPr/>
            </p:nvSpPr>
            <p:spPr bwMode="auto">
              <a:xfrm>
                <a:off x="2639219" y="3510757"/>
                <a:ext cx="348456" cy="465138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9800" y="12825"/>
                    </a:moveTo>
                    <a:lnTo>
                      <a:pt x="19800" y="13500"/>
                    </a:lnTo>
                    <a:lnTo>
                      <a:pt x="19800" y="14850"/>
                    </a:lnTo>
                    <a:lnTo>
                      <a:pt x="19800" y="15525"/>
                    </a:lnTo>
                    <a:cubicBezTo>
                      <a:pt x="19800" y="18129"/>
                      <a:pt x="16972" y="20249"/>
                      <a:pt x="13499" y="20249"/>
                    </a:cubicBezTo>
                    <a:lnTo>
                      <a:pt x="8099" y="20249"/>
                    </a:lnTo>
                    <a:cubicBezTo>
                      <a:pt x="4627" y="20249"/>
                      <a:pt x="1800" y="18129"/>
                      <a:pt x="1800" y="15525"/>
                    </a:cubicBezTo>
                    <a:lnTo>
                      <a:pt x="1800" y="14850"/>
                    </a:lnTo>
                    <a:lnTo>
                      <a:pt x="1800" y="13500"/>
                    </a:lnTo>
                    <a:lnTo>
                      <a:pt x="1800" y="12825"/>
                    </a:lnTo>
                    <a:lnTo>
                      <a:pt x="1800" y="10800"/>
                    </a:lnTo>
                    <a:cubicBezTo>
                      <a:pt x="1800" y="10427"/>
                      <a:pt x="2203" y="10124"/>
                      <a:pt x="2699" y="10124"/>
                    </a:cubicBezTo>
                    <a:lnTo>
                      <a:pt x="4499" y="10124"/>
                    </a:lnTo>
                    <a:lnTo>
                      <a:pt x="17100" y="10124"/>
                    </a:lnTo>
                    <a:lnTo>
                      <a:pt x="18899" y="10124"/>
                    </a:lnTo>
                    <a:cubicBezTo>
                      <a:pt x="19396" y="10124"/>
                      <a:pt x="19800" y="10427"/>
                      <a:pt x="19800" y="10800"/>
                    </a:cubicBezTo>
                    <a:cubicBezTo>
                      <a:pt x="19800" y="10800"/>
                      <a:pt x="19800" y="12825"/>
                      <a:pt x="19800" y="12825"/>
                    </a:cubicBezTo>
                    <a:close/>
                    <a:moveTo>
                      <a:pt x="14400" y="6075"/>
                    </a:moveTo>
                    <a:lnTo>
                      <a:pt x="14400" y="6076"/>
                    </a:lnTo>
                    <a:lnTo>
                      <a:pt x="14400" y="8774"/>
                    </a:lnTo>
                    <a:lnTo>
                      <a:pt x="7200" y="8774"/>
                    </a:lnTo>
                    <a:lnTo>
                      <a:pt x="7200" y="6076"/>
                    </a:lnTo>
                    <a:lnTo>
                      <a:pt x="7200" y="6075"/>
                    </a:lnTo>
                    <a:cubicBezTo>
                      <a:pt x="7200" y="4583"/>
                      <a:pt x="8811" y="3375"/>
                      <a:pt x="10800" y="3375"/>
                    </a:cubicBezTo>
                    <a:cubicBezTo>
                      <a:pt x="12788" y="3375"/>
                      <a:pt x="14400" y="4583"/>
                      <a:pt x="14400" y="6075"/>
                    </a:cubicBezTo>
                    <a:moveTo>
                      <a:pt x="4499" y="6075"/>
                    </a:moveTo>
                    <a:cubicBezTo>
                      <a:pt x="4499" y="3465"/>
                      <a:pt x="7320" y="1350"/>
                      <a:pt x="10800" y="1350"/>
                    </a:cubicBezTo>
                    <a:cubicBezTo>
                      <a:pt x="14279" y="1350"/>
                      <a:pt x="17100" y="3465"/>
                      <a:pt x="17100" y="6075"/>
                    </a:cubicBezTo>
                    <a:lnTo>
                      <a:pt x="17100" y="8774"/>
                    </a:lnTo>
                    <a:lnTo>
                      <a:pt x="15299" y="8774"/>
                    </a:lnTo>
                    <a:lnTo>
                      <a:pt x="15299" y="6076"/>
                    </a:lnTo>
                    <a:cubicBezTo>
                      <a:pt x="15299" y="4212"/>
                      <a:pt x="13285" y="2701"/>
                      <a:pt x="10800" y="2701"/>
                    </a:cubicBezTo>
                    <a:cubicBezTo>
                      <a:pt x="8314" y="2701"/>
                      <a:pt x="6299" y="4212"/>
                      <a:pt x="6299" y="6076"/>
                    </a:cubicBezTo>
                    <a:lnTo>
                      <a:pt x="6299" y="8774"/>
                    </a:lnTo>
                    <a:lnTo>
                      <a:pt x="4499" y="8774"/>
                    </a:lnTo>
                    <a:cubicBezTo>
                      <a:pt x="4499" y="8774"/>
                      <a:pt x="4499" y="6075"/>
                      <a:pt x="4499" y="6075"/>
                    </a:cubicBezTo>
                    <a:close/>
                    <a:moveTo>
                      <a:pt x="18899" y="8774"/>
                    </a:moveTo>
                    <a:lnTo>
                      <a:pt x="18899" y="6075"/>
                    </a:lnTo>
                    <a:cubicBezTo>
                      <a:pt x="18899" y="2719"/>
                      <a:pt x="15274" y="0"/>
                      <a:pt x="10800" y="0"/>
                    </a:cubicBezTo>
                    <a:cubicBezTo>
                      <a:pt x="6325" y="0"/>
                      <a:pt x="2699" y="2719"/>
                      <a:pt x="2699" y="6075"/>
                    </a:cubicBezTo>
                    <a:lnTo>
                      <a:pt x="2699" y="8774"/>
                    </a:lnTo>
                    <a:cubicBezTo>
                      <a:pt x="1208" y="8774"/>
                      <a:pt x="0" y="9681"/>
                      <a:pt x="0" y="10800"/>
                    </a:cubicBezTo>
                    <a:lnTo>
                      <a:pt x="0" y="12825"/>
                    </a:lnTo>
                    <a:lnTo>
                      <a:pt x="0" y="13500"/>
                    </a:lnTo>
                    <a:lnTo>
                      <a:pt x="0" y="14850"/>
                    </a:lnTo>
                    <a:lnTo>
                      <a:pt x="0" y="15525"/>
                    </a:lnTo>
                    <a:cubicBezTo>
                      <a:pt x="0" y="18880"/>
                      <a:pt x="3625" y="21599"/>
                      <a:pt x="8099" y="21599"/>
                    </a:cubicBezTo>
                    <a:lnTo>
                      <a:pt x="13499" y="21599"/>
                    </a:lnTo>
                    <a:cubicBezTo>
                      <a:pt x="17974" y="21599"/>
                      <a:pt x="21600" y="18880"/>
                      <a:pt x="21600" y="15525"/>
                    </a:cubicBezTo>
                    <a:lnTo>
                      <a:pt x="21600" y="14850"/>
                    </a:lnTo>
                    <a:lnTo>
                      <a:pt x="21600" y="13500"/>
                    </a:lnTo>
                    <a:lnTo>
                      <a:pt x="21600" y="12825"/>
                    </a:lnTo>
                    <a:lnTo>
                      <a:pt x="21600" y="10800"/>
                    </a:lnTo>
                    <a:cubicBezTo>
                      <a:pt x="21600" y="9681"/>
                      <a:pt x="20391" y="8774"/>
                      <a:pt x="18899" y="8774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/>
              <a:lstStyle/>
              <a:p>
                <a:pPr algn="ctr" defTabSz="17145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110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ill Sans" charset="0"/>
                  <a:sym typeface="Gill Sans" charset="0"/>
                </a:endParaRPr>
              </a:p>
            </p:txBody>
          </p:sp>
          <p:sp>
            <p:nvSpPr>
              <p:cNvPr id="78" name="AutoShape 116"/>
              <p:cNvSpPr/>
              <p:nvPr/>
            </p:nvSpPr>
            <p:spPr bwMode="auto">
              <a:xfrm>
                <a:off x="2784475" y="3786982"/>
                <a:ext cx="57944" cy="87313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0800" y="0"/>
                    </a:moveTo>
                    <a:cubicBezTo>
                      <a:pt x="4838" y="0"/>
                      <a:pt x="0" y="3226"/>
                      <a:pt x="0" y="7201"/>
                    </a:cubicBezTo>
                    <a:cubicBezTo>
                      <a:pt x="0" y="9390"/>
                      <a:pt x="1798" y="13537"/>
                      <a:pt x="3601" y="16821"/>
                    </a:cubicBezTo>
                    <a:cubicBezTo>
                      <a:pt x="5070" y="19493"/>
                      <a:pt x="6916" y="21600"/>
                      <a:pt x="10800" y="21600"/>
                    </a:cubicBezTo>
                    <a:cubicBezTo>
                      <a:pt x="15016" y="21600"/>
                      <a:pt x="16529" y="19514"/>
                      <a:pt x="18003" y="16858"/>
                    </a:cubicBezTo>
                    <a:cubicBezTo>
                      <a:pt x="19828" y="13567"/>
                      <a:pt x="21600" y="9397"/>
                      <a:pt x="21600" y="7201"/>
                    </a:cubicBezTo>
                    <a:cubicBezTo>
                      <a:pt x="21600" y="3226"/>
                      <a:pt x="16761" y="0"/>
                      <a:pt x="10800" y="0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/>
              <a:lstStyle/>
              <a:p>
                <a:pPr algn="ctr" defTabSz="17145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110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ill Sans" charset="0"/>
                  <a:sym typeface="Gill Sans" charset="0"/>
                </a:endParaRPr>
              </a:p>
            </p:txBody>
          </p:sp>
        </p:grpSp>
      </p:grpSp>
      <p:sp>
        <p:nvSpPr>
          <p:cNvPr id="79" name="Flowchart: Decision 86"/>
          <p:cNvSpPr/>
          <p:nvPr/>
        </p:nvSpPr>
        <p:spPr>
          <a:xfrm>
            <a:off x="5258997" y="2170934"/>
            <a:ext cx="1375279" cy="1375279"/>
          </a:xfrm>
          <a:prstGeom prst="flowChartDecision">
            <a:avLst/>
          </a:prstGeom>
          <a:solidFill>
            <a:schemeClr val="accent1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80" name="组合 79"/>
          <p:cNvGrpSpPr/>
          <p:nvPr/>
        </p:nvGrpSpPr>
        <p:grpSpPr>
          <a:xfrm>
            <a:off x="5258997" y="2381214"/>
            <a:ext cx="1375279" cy="1375279"/>
            <a:chOff x="3993114" y="2122799"/>
            <a:chExt cx="1375279" cy="1375279"/>
          </a:xfrm>
        </p:grpSpPr>
        <p:sp>
          <p:nvSpPr>
            <p:cNvPr id="81" name="Flowchart: Decision 87"/>
            <p:cNvSpPr/>
            <p:nvPr/>
          </p:nvSpPr>
          <p:spPr>
            <a:xfrm>
              <a:off x="3993114" y="2122799"/>
              <a:ext cx="1375279" cy="1375279"/>
            </a:xfrm>
            <a:prstGeom prst="flowChartDecision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82" name="Group 82"/>
            <p:cNvGrpSpPr/>
            <p:nvPr/>
          </p:nvGrpSpPr>
          <p:grpSpPr>
            <a:xfrm>
              <a:off x="4497178" y="2626549"/>
              <a:ext cx="367150" cy="367150"/>
              <a:chOff x="4439444" y="2582069"/>
              <a:chExt cx="464344" cy="464344"/>
            </a:xfrm>
            <a:solidFill>
              <a:schemeClr val="accent4"/>
            </a:solidFill>
          </p:grpSpPr>
          <p:sp>
            <p:nvSpPr>
              <p:cNvPr id="83" name="AutoShape 123"/>
              <p:cNvSpPr/>
              <p:nvPr/>
            </p:nvSpPr>
            <p:spPr bwMode="auto">
              <a:xfrm>
                <a:off x="4439444" y="2582069"/>
                <a:ext cx="464344" cy="464344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8180" y="12132"/>
                    </a:moveTo>
                    <a:cubicBezTo>
                      <a:pt x="17710" y="12226"/>
                      <a:pt x="17327" y="12561"/>
                      <a:pt x="17170" y="13012"/>
                    </a:cubicBezTo>
                    <a:cubicBezTo>
                      <a:pt x="17083" y="13261"/>
                      <a:pt x="16981" y="13503"/>
                      <a:pt x="16868" y="13738"/>
                    </a:cubicBezTo>
                    <a:cubicBezTo>
                      <a:pt x="16658" y="14169"/>
                      <a:pt x="16694" y="14677"/>
                      <a:pt x="16959" y="15075"/>
                    </a:cubicBezTo>
                    <a:lnTo>
                      <a:pt x="18131" y="16833"/>
                    </a:lnTo>
                    <a:lnTo>
                      <a:pt x="16832" y="18132"/>
                    </a:lnTo>
                    <a:lnTo>
                      <a:pt x="15075" y="16960"/>
                    </a:lnTo>
                    <a:cubicBezTo>
                      <a:pt x="14850" y="16810"/>
                      <a:pt x="14589" y="16733"/>
                      <a:pt x="14326" y="16733"/>
                    </a:cubicBezTo>
                    <a:cubicBezTo>
                      <a:pt x="14126" y="16733"/>
                      <a:pt x="13924" y="16778"/>
                      <a:pt x="13738" y="16868"/>
                    </a:cubicBezTo>
                    <a:cubicBezTo>
                      <a:pt x="13504" y="16981"/>
                      <a:pt x="13262" y="17083"/>
                      <a:pt x="13012" y="17170"/>
                    </a:cubicBezTo>
                    <a:cubicBezTo>
                      <a:pt x="12561" y="17327"/>
                      <a:pt x="12226" y="17712"/>
                      <a:pt x="12133" y="18180"/>
                    </a:cubicBezTo>
                    <a:lnTo>
                      <a:pt x="11717" y="20249"/>
                    </a:lnTo>
                    <a:lnTo>
                      <a:pt x="9881" y="20249"/>
                    </a:lnTo>
                    <a:lnTo>
                      <a:pt x="9467" y="18180"/>
                    </a:lnTo>
                    <a:cubicBezTo>
                      <a:pt x="9373" y="17712"/>
                      <a:pt x="9039" y="17327"/>
                      <a:pt x="8588" y="17170"/>
                    </a:cubicBezTo>
                    <a:cubicBezTo>
                      <a:pt x="8339" y="17083"/>
                      <a:pt x="8096" y="16983"/>
                      <a:pt x="7861" y="16869"/>
                    </a:cubicBezTo>
                    <a:cubicBezTo>
                      <a:pt x="7675" y="16778"/>
                      <a:pt x="7474" y="16733"/>
                      <a:pt x="7273" y="16733"/>
                    </a:cubicBezTo>
                    <a:cubicBezTo>
                      <a:pt x="7011" y="16733"/>
                      <a:pt x="6750" y="16810"/>
                      <a:pt x="6525" y="16960"/>
                    </a:cubicBezTo>
                    <a:lnTo>
                      <a:pt x="4767" y="18132"/>
                    </a:lnTo>
                    <a:lnTo>
                      <a:pt x="3468" y="16833"/>
                    </a:lnTo>
                    <a:lnTo>
                      <a:pt x="4639" y="15075"/>
                    </a:lnTo>
                    <a:cubicBezTo>
                      <a:pt x="4904" y="14677"/>
                      <a:pt x="4939" y="14169"/>
                      <a:pt x="4732" y="13738"/>
                    </a:cubicBezTo>
                    <a:cubicBezTo>
                      <a:pt x="4618" y="13504"/>
                      <a:pt x="4516" y="13263"/>
                      <a:pt x="4429" y="13013"/>
                    </a:cubicBezTo>
                    <a:cubicBezTo>
                      <a:pt x="4273" y="12561"/>
                      <a:pt x="3888" y="12227"/>
                      <a:pt x="3419" y="12133"/>
                    </a:cubicBezTo>
                    <a:lnTo>
                      <a:pt x="1350" y="11718"/>
                    </a:lnTo>
                    <a:lnTo>
                      <a:pt x="1349" y="9882"/>
                    </a:lnTo>
                    <a:lnTo>
                      <a:pt x="3419" y="9468"/>
                    </a:lnTo>
                    <a:cubicBezTo>
                      <a:pt x="3888" y="9374"/>
                      <a:pt x="4273" y="9039"/>
                      <a:pt x="4429" y="8588"/>
                    </a:cubicBezTo>
                    <a:cubicBezTo>
                      <a:pt x="4516" y="8338"/>
                      <a:pt x="4617" y="8096"/>
                      <a:pt x="4731" y="7862"/>
                    </a:cubicBezTo>
                    <a:cubicBezTo>
                      <a:pt x="4940" y="7431"/>
                      <a:pt x="4905" y="6923"/>
                      <a:pt x="4639" y="6524"/>
                    </a:cubicBezTo>
                    <a:lnTo>
                      <a:pt x="3468" y="4767"/>
                    </a:lnTo>
                    <a:lnTo>
                      <a:pt x="4767" y="3468"/>
                    </a:lnTo>
                    <a:lnTo>
                      <a:pt x="6525" y="4639"/>
                    </a:lnTo>
                    <a:cubicBezTo>
                      <a:pt x="6750" y="4790"/>
                      <a:pt x="7011" y="4866"/>
                      <a:pt x="7273" y="4866"/>
                    </a:cubicBezTo>
                    <a:cubicBezTo>
                      <a:pt x="7474" y="4866"/>
                      <a:pt x="7674" y="4822"/>
                      <a:pt x="7861" y="4732"/>
                    </a:cubicBezTo>
                    <a:cubicBezTo>
                      <a:pt x="8095" y="4619"/>
                      <a:pt x="8337" y="4517"/>
                      <a:pt x="8586" y="4430"/>
                    </a:cubicBezTo>
                    <a:cubicBezTo>
                      <a:pt x="9039" y="4272"/>
                      <a:pt x="9373" y="3888"/>
                      <a:pt x="9467" y="3420"/>
                    </a:cubicBezTo>
                    <a:lnTo>
                      <a:pt x="9881" y="1350"/>
                    </a:lnTo>
                    <a:lnTo>
                      <a:pt x="11717" y="1350"/>
                    </a:lnTo>
                    <a:lnTo>
                      <a:pt x="12131" y="3420"/>
                    </a:lnTo>
                    <a:cubicBezTo>
                      <a:pt x="12225" y="3888"/>
                      <a:pt x="12560" y="4272"/>
                      <a:pt x="13012" y="4430"/>
                    </a:cubicBezTo>
                    <a:cubicBezTo>
                      <a:pt x="13261" y="4517"/>
                      <a:pt x="13502" y="4617"/>
                      <a:pt x="13737" y="4731"/>
                    </a:cubicBezTo>
                    <a:cubicBezTo>
                      <a:pt x="13924" y="4822"/>
                      <a:pt x="14125" y="4866"/>
                      <a:pt x="14326" y="4866"/>
                    </a:cubicBezTo>
                    <a:cubicBezTo>
                      <a:pt x="14589" y="4866"/>
                      <a:pt x="14850" y="4790"/>
                      <a:pt x="15075" y="4639"/>
                    </a:cubicBezTo>
                    <a:lnTo>
                      <a:pt x="16832" y="3468"/>
                    </a:lnTo>
                    <a:lnTo>
                      <a:pt x="18131" y="4767"/>
                    </a:lnTo>
                    <a:lnTo>
                      <a:pt x="16959" y="6524"/>
                    </a:lnTo>
                    <a:cubicBezTo>
                      <a:pt x="16694" y="6923"/>
                      <a:pt x="16660" y="7431"/>
                      <a:pt x="16867" y="7861"/>
                    </a:cubicBezTo>
                    <a:cubicBezTo>
                      <a:pt x="16980" y="8096"/>
                      <a:pt x="17083" y="8337"/>
                      <a:pt x="17170" y="8587"/>
                    </a:cubicBezTo>
                    <a:cubicBezTo>
                      <a:pt x="17327" y="9039"/>
                      <a:pt x="17710" y="9373"/>
                      <a:pt x="18180" y="9467"/>
                    </a:cubicBezTo>
                    <a:lnTo>
                      <a:pt x="20248" y="9882"/>
                    </a:lnTo>
                    <a:lnTo>
                      <a:pt x="20250" y="11718"/>
                    </a:lnTo>
                    <a:cubicBezTo>
                      <a:pt x="20250" y="11718"/>
                      <a:pt x="18180" y="12132"/>
                      <a:pt x="18180" y="12132"/>
                    </a:cubicBezTo>
                    <a:close/>
                    <a:moveTo>
                      <a:pt x="20513" y="8558"/>
                    </a:moveTo>
                    <a:lnTo>
                      <a:pt x="18445" y="8143"/>
                    </a:lnTo>
                    <a:cubicBezTo>
                      <a:pt x="18341" y="7844"/>
                      <a:pt x="18218" y="7554"/>
                      <a:pt x="18082" y="7273"/>
                    </a:cubicBezTo>
                    <a:lnTo>
                      <a:pt x="19254" y="5516"/>
                    </a:lnTo>
                    <a:cubicBezTo>
                      <a:pt x="19611" y="4980"/>
                      <a:pt x="19540" y="4268"/>
                      <a:pt x="19085" y="3813"/>
                    </a:cubicBezTo>
                    <a:lnTo>
                      <a:pt x="17787" y="2514"/>
                    </a:lnTo>
                    <a:cubicBezTo>
                      <a:pt x="17526" y="2253"/>
                      <a:pt x="17181" y="2118"/>
                      <a:pt x="16831" y="2118"/>
                    </a:cubicBezTo>
                    <a:cubicBezTo>
                      <a:pt x="16573" y="2118"/>
                      <a:pt x="16312" y="2193"/>
                      <a:pt x="16084" y="2345"/>
                    </a:cubicBezTo>
                    <a:lnTo>
                      <a:pt x="14326" y="3516"/>
                    </a:lnTo>
                    <a:cubicBezTo>
                      <a:pt x="14044" y="3380"/>
                      <a:pt x="13754" y="3258"/>
                      <a:pt x="13455" y="3155"/>
                    </a:cubicBezTo>
                    <a:lnTo>
                      <a:pt x="13041" y="1085"/>
                    </a:lnTo>
                    <a:cubicBezTo>
                      <a:pt x="12916" y="454"/>
                      <a:pt x="12361" y="0"/>
                      <a:pt x="11717" y="0"/>
                    </a:cubicBezTo>
                    <a:lnTo>
                      <a:pt x="9881" y="0"/>
                    </a:lnTo>
                    <a:cubicBezTo>
                      <a:pt x="9238" y="0"/>
                      <a:pt x="8684" y="454"/>
                      <a:pt x="8557" y="1085"/>
                    </a:cubicBezTo>
                    <a:lnTo>
                      <a:pt x="8143" y="3155"/>
                    </a:lnTo>
                    <a:cubicBezTo>
                      <a:pt x="7843" y="3258"/>
                      <a:pt x="7554" y="3381"/>
                      <a:pt x="7273" y="3516"/>
                    </a:cubicBezTo>
                    <a:lnTo>
                      <a:pt x="5516" y="2345"/>
                    </a:lnTo>
                    <a:cubicBezTo>
                      <a:pt x="5287" y="2193"/>
                      <a:pt x="5026" y="2118"/>
                      <a:pt x="4767" y="2118"/>
                    </a:cubicBezTo>
                    <a:cubicBezTo>
                      <a:pt x="4419" y="2118"/>
                      <a:pt x="4073" y="2253"/>
                      <a:pt x="3812" y="2514"/>
                    </a:cubicBezTo>
                    <a:lnTo>
                      <a:pt x="2514" y="3813"/>
                    </a:lnTo>
                    <a:cubicBezTo>
                      <a:pt x="2059" y="4268"/>
                      <a:pt x="1988" y="4980"/>
                      <a:pt x="2345" y="5516"/>
                    </a:cubicBezTo>
                    <a:lnTo>
                      <a:pt x="3516" y="7273"/>
                    </a:lnTo>
                    <a:cubicBezTo>
                      <a:pt x="3380" y="7555"/>
                      <a:pt x="3258" y="7844"/>
                      <a:pt x="3154" y="8144"/>
                    </a:cubicBezTo>
                    <a:lnTo>
                      <a:pt x="1085" y="8558"/>
                    </a:lnTo>
                    <a:cubicBezTo>
                      <a:pt x="454" y="8684"/>
                      <a:pt x="0" y="9238"/>
                      <a:pt x="0" y="9882"/>
                    </a:cubicBezTo>
                    <a:lnTo>
                      <a:pt x="0" y="11718"/>
                    </a:lnTo>
                    <a:cubicBezTo>
                      <a:pt x="0" y="12361"/>
                      <a:pt x="454" y="12916"/>
                      <a:pt x="1085" y="13042"/>
                    </a:cubicBezTo>
                    <a:lnTo>
                      <a:pt x="3154" y="13456"/>
                    </a:lnTo>
                    <a:cubicBezTo>
                      <a:pt x="3258" y="13755"/>
                      <a:pt x="3380" y="14046"/>
                      <a:pt x="3516" y="14326"/>
                    </a:cubicBezTo>
                    <a:lnTo>
                      <a:pt x="2345" y="16083"/>
                    </a:lnTo>
                    <a:cubicBezTo>
                      <a:pt x="1988" y="16619"/>
                      <a:pt x="2059" y="17332"/>
                      <a:pt x="2514" y="17787"/>
                    </a:cubicBezTo>
                    <a:lnTo>
                      <a:pt x="3812" y="19086"/>
                    </a:lnTo>
                    <a:cubicBezTo>
                      <a:pt x="4073" y="19346"/>
                      <a:pt x="4419" y="19482"/>
                      <a:pt x="4767" y="19482"/>
                    </a:cubicBezTo>
                    <a:cubicBezTo>
                      <a:pt x="5026" y="19482"/>
                      <a:pt x="5287" y="19406"/>
                      <a:pt x="5516" y="19254"/>
                    </a:cubicBezTo>
                    <a:lnTo>
                      <a:pt x="7273" y="18083"/>
                    </a:lnTo>
                    <a:cubicBezTo>
                      <a:pt x="7554" y="18220"/>
                      <a:pt x="7843" y="18341"/>
                      <a:pt x="8143" y="18445"/>
                    </a:cubicBezTo>
                    <a:lnTo>
                      <a:pt x="8557" y="20514"/>
                    </a:lnTo>
                    <a:cubicBezTo>
                      <a:pt x="8684" y="21146"/>
                      <a:pt x="9238" y="21599"/>
                      <a:pt x="9881" y="21599"/>
                    </a:cubicBezTo>
                    <a:lnTo>
                      <a:pt x="11717" y="21599"/>
                    </a:lnTo>
                    <a:cubicBezTo>
                      <a:pt x="12361" y="21599"/>
                      <a:pt x="12916" y="21146"/>
                      <a:pt x="13041" y="20514"/>
                    </a:cubicBezTo>
                    <a:lnTo>
                      <a:pt x="13456" y="18445"/>
                    </a:lnTo>
                    <a:cubicBezTo>
                      <a:pt x="13755" y="18341"/>
                      <a:pt x="14046" y="18219"/>
                      <a:pt x="14326" y="18083"/>
                    </a:cubicBezTo>
                    <a:lnTo>
                      <a:pt x="16084" y="19254"/>
                    </a:lnTo>
                    <a:cubicBezTo>
                      <a:pt x="16312" y="19406"/>
                      <a:pt x="16573" y="19482"/>
                      <a:pt x="16831" y="19482"/>
                    </a:cubicBezTo>
                    <a:cubicBezTo>
                      <a:pt x="17181" y="19482"/>
                      <a:pt x="17526" y="19346"/>
                      <a:pt x="17787" y="19086"/>
                    </a:cubicBezTo>
                    <a:lnTo>
                      <a:pt x="19085" y="17787"/>
                    </a:lnTo>
                    <a:cubicBezTo>
                      <a:pt x="19540" y="17332"/>
                      <a:pt x="19611" y="16619"/>
                      <a:pt x="19254" y="16083"/>
                    </a:cubicBezTo>
                    <a:lnTo>
                      <a:pt x="18082" y="14326"/>
                    </a:lnTo>
                    <a:cubicBezTo>
                      <a:pt x="18219" y="14045"/>
                      <a:pt x="18341" y="13755"/>
                      <a:pt x="18445" y="13456"/>
                    </a:cubicBezTo>
                    <a:lnTo>
                      <a:pt x="20513" y="13042"/>
                    </a:lnTo>
                    <a:cubicBezTo>
                      <a:pt x="21145" y="12916"/>
                      <a:pt x="21599" y="12361"/>
                      <a:pt x="21599" y="11718"/>
                    </a:cubicBezTo>
                    <a:lnTo>
                      <a:pt x="21599" y="9882"/>
                    </a:lnTo>
                    <a:cubicBezTo>
                      <a:pt x="21599" y="9238"/>
                      <a:pt x="21145" y="8684"/>
                      <a:pt x="20513" y="8558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/>
              <a:lstStyle/>
              <a:p>
                <a:pPr algn="ctr" defTabSz="17145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110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ill Sans" charset="0"/>
                  <a:sym typeface="Gill Sans" charset="0"/>
                </a:endParaRPr>
              </a:p>
            </p:txBody>
          </p:sp>
          <p:sp>
            <p:nvSpPr>
              <p:cNvPr id="84" name="AutoShape 124"/>
              <p:cNvSpPr/>
              <p:nvPr/>
            </p:nvSpPr>
            <p:spPr bwMode="auto">
              <a:xfrm>
                <a:off x="4570413" y="2712244"/>
                <a:ext cx="203200" cy="203200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0800" y="20250"/>
                    </a:moveTo>
                    <a:cubicBezTo>
                      <a:pt x="5580" y="20250"/>
                      <a:pt x="1350" y="16017"/>
                      <a:pt x="1350" y="10800"/>
                    </a:cubicBezTo>
                    <a:cubicBezTo>
                      <a:pt x="1350" y="5582"/>
                      <a:pt x="5580" y="1349"/>
                      <a:pt x="10800" y="1349"/>
                    </a:cubicBezTo>
                    <a:cubicBezTo>
                      <a:pt x="16016" y="1349"/>
                      <a:pt x="20250" y="5582"/>
                      <a:pt x="20250" y="10800"/>
                    </a:cubicBezTo>
                    <a:cubicBezTo>
                      <a:pt x="20250" y="16017"/>
                      <a:pt x="16016" y="20250"/>
                      <a:pt x="10800" y="20250"/>
                    </a:cubicBezTo>
                    <a:moveTo>
                      <a:pt x="10800" y="0"/>
                    </a:moveTo>
                    <a:cubicBezTo>
                      <a:pt x="4836" y="0"/>
                      <a:pt x="0" y="4836"/>
                      <a:pt x="0" y="10800"/>
                    </a:cubicBezTo>
                    <a:cubicBezTo>
                      <a:pt x="0" y="16763"/>
                      <a:pt x="4836" y="21600"/>
                      <a:pt x="10800" y="21600"/>
                    </a:cubicBezTo>
                    <a:cubicBezTo>
                      <a:pt x="16763" y="21600"/>
                      <a:pt x="21599" y="16763"/>
                      <a:pt x="21599" y="10800"/>
                    </a:cubicBezTo>
                    <a:cubicBezTo>
                      <a:pt x="21599" y="4836"/>
                      <a:pt x="16763" y="0"/>
                      <a:pt x="10800" y="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/>
              <a:lstStyle/>
              <a:p>
                <a:pPr algn="ctr" defTabSz="17145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110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ill Sans" charset="0"/>
                  <a:sym typeface="Gill Sans" charset="0"/>
                </a:endParaRPr>
              </a:p>
            </p:txBody>
          </p:sp>
          <p:sp>
            <p:nvSpPr>
              <p:cNvPr id="85" name="AutoShape 125"/>
              <p:cNvSpPr/>
              <p:nvPr/>
            </p:nvSpPr>
            <p:spPr bwMode="auto">
              <a:xfrm>
                <a:off x="4613275" y="2755900"/>
                <a:ext cx="116682" cy="116682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0800" y="18900"/>
                    </a:moveTo>
                    <a:cubicBezTo>
                      <a:pt x="6328" y="18900"/>
                      <a:pt x="2699" y="15271"/>
                      <a:pt x="2699" y="10800"/>
                    </a:cubicBezTo>
                    <a:cubicBezTo>
                      <a:pt x="2699" y="6329"/>
                      <a:pt x="6328" y="2700"/>
                      <a:pt x="10800" y="2700"/>
                    </a:cubicBezTo>
                    <a:cubicBezTo>
                      <a:pt x="15271" y="2700"/>
                      <a:pt x="18899" y="6329"/>
                      <a:pt x="18899" y="10800"/>
                    </a:cubicBezTo>
                    <a:cubicBezTo>
                      <a:pt x="18899" y="15271"/>
                      <a:pt x="15271" y="18900"/>
                      <a:pt x="10800" y="18900"/>
                    </a:cubicBezTo>
                    <a:moveTo>
                      <a:pt x="10800" y="0"/>
                    </a:moveTo>
                    <a:cubicBezTo>
                      <a:pt x="4830" y="0"/>
                      <a:pt x="0" y="4833"/>
                      <a:pt x="0" y="10800"/>
                    </a:cubicBezTo>
                    <a:cubicBezTo>
                      <a:pt x="0" y="16766"/>
                      <a:pt x="4830" y="21599"/>
                      <a:pt x="10800" y="21599"/>
                    </a:cubicBezTo>
                    <a:cubicBezTo>
                      <a:pt x="16764" y="21599"/>
                      <a:pt x="21600" y="16766"/>
                      <a:pt x="21600" y="10800"/>
                    </a:cubicBezTo>
                    <a:cubicBezTo>
                      <a:pt x="21600" y="4833"/>
                      <a:pt x="16764" y="0"/>
                      <a:pt x="10800" y="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/>
              <a:lstStyle/>
              <a:p>
                <a:pPr algn="ctr" defTabSz="17145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110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ill Sans" charset="0"/>
                  <a:sym typeface="Gill Sans" charset="0"/>
                </a:endParaRPr>
              </a:p>
            </p:txBody>
          </p:sp>
        </p:grpSp>
      </p:grpSp>
      <p:sp>
        <p:nvSpPr>
          <p:cNvPr id="86" name="Flowchart: Decision 106"/>
          <p:cNvSpPr/>
          <p:nvPr/>
        </p:nvSpPr>
        <p:spPr>
          <a:xfrm>
            <a:off x="10058165" y="2166221"/>
            <a:ext cx="1375279" cy="1375279"/>
          </a:xfrm>
          <a:prstGeom prst="flowChartDecision">
            <a:avLst/>
          </a:prstGeom>
          <a:solidFill>
            <a:schemeClr val="accent1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87" name="组合 86"/>
          <p:cNvGrpSpPr/>
          <p:nvPr/>
        </p:nvGrpSpPr>
        <p:grpSpPr>
          <a:xfrm>
            <a:off x="10058165" y="2376501"/>
            <a:ext cx="1375279" cy="1375279"/>
            <a:chOff x="6869129" y="2118086"/>
            <a:chExt cx="1375279" cy="1375279"/>
          </a:xfrm>
        </p:grpSpPr>
        <p:sp>
          <p:nvSpPr>
            <p:cNvPr id="88" name="Flowchart: Decision 107"/>
            <p:cNvSpPr/>
            <p:nvPr/>
          </p:nvSpPr>
          <p:spPr>
            <a:xfrm>
              <a:off x="6869129" y="2118086"/>
              <a:ext cx="1375279" cy="1375279"/>
            </a:xfrm>
            <a:prstGeom prst="flowChartDecision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89" name="Group 102"/>
            <p:cNvGrpSpPr/>
            <p:nvPr/>
          </p:nvGrpSpPr>
          <p:grpSpPr>
            <a:xfrm>
              <a:off x="7402716" y="2605601"/>
              <a:ext cx="303429" cy="333772"/>
              <a:chOff x="4439444" y="1652588"/>
              <a:chExt cx="464344" cy="464344"/>
            </a:xfrm>
            <a:solidFill>
              <a:schemeClr val="accent3"/>
            </a:solidFill>
          </p:grpSpPr>
          <p:sp>
            <p:nvSpPr>
              <p:cNvPr id="90" name="AutoShape 136"/>
              <p:cNvSpPr/>
              <p:nvPr/>
            </p:nvSpPr>
            <p:spPr bwMode="auto">
              <a:xfrm>
                <a:off x="4686300" y="1710532"/>
                <a:ext cx="152400" cy="152400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9538" y="20579"/>
                    </a:moveTo>
                    <a:lnTo>
                      <a:pt x="19542" y="20579"/>
                    </a:lnTo>
                    <a:cubicBezTo>
                      <a:pt x="19546" y="21142"/>
                      <a:pt x="20004" y="21600"/>
                      <a:pt x="20571" y="21600"/>
                    </a:cubicBezTo>
                    <a:cubicBezTo>
                      <a:pt x="21137" y="21600"/>
                      <a:pt x="21599" y="21138"/>
                      <a:pt x="21599" y="20571"/>
                    </a:cubicBezTo>
                    <a:cubicBezTo>
                      <a:pt x="21599" y="20565"/>
                      <a:pt x="21595" y="20561"/>
                      <a:pt x="21595" y="20555"/>
                    </a:cubicBezTo>
                    <a:cubicBezTo>
                      <a:pt x="21583" y="9221"/>
                      <a:pt x="12411" y="41"/>
                      <a:pt x="1080" y="12"/>
                    </a:cubicBezTo>
                    <a:cubicBezTo>
                      <a:pt x="1064" y="10"/>
                      <a:pt x="1048" y="0"/>
                      <a:pt x="1028" y="0"/>
                    </a:cubicBezTo>
                    <a:cubicBezTo>
                      <a:pt x="458" y="0"/>
                      <a:pt x="0" y="461"/>
                      <a:pt x="0" y="1028"/>
                    </a:cubicBezTo>
                    <a:cubicBezTo>
                      <a:pt x="0" y="1594"/>
                      <a:pt x="458" y="2055"/>
                      <a:pt x="1024" y="2057"/>
                    </a:cubicBezTo>
                    <a:lnTo>
                      <a:pt x="1024" y="2065"/>
                    </a:lnTo>
                    <a:cubicBezTo>
                      <a:pt x="11233" y="2065"/>
                      <a:pt x="19538" y="10370"/>
                      <a:pt x="19538" y="20579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/>
              <a:lstStyle/>
              <a:p>
                <a:pPr algn="ctr" defTabSz="17145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110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ill Sans" charset="0"/>
                  <a:sym typeface="Gill Sans" charset="0"/>
                </a:endParaRPr>
              </a:p>
            </p:txBody>
          </p:sp>
          <p:sp>
            <p:nvSpPr>
              <p:cNvPr id="91" name="AutoShape 137"/>
              <p:cNvSpPr/>
              <p:nvPr/>
            </p:nvSpPr>
            <p:spPr bwMode="auto">
              <a:xfrm>
                <a:off x="4439444" y="1652588"/>
                <a:ext cx="464344" cy="464344"/>
              </a:xfrm>
              <a:custGeom>
                <a:avLst/>
                <a:gdLst>
                  <a:gd name="T0" fmla="+- 0 10819 195"/>
                  <a:gd name="T1" fmla="*/ T0 w 21248"/>
                  <a:gd name="T2" fmla="*/ 10800 h 21600"/>
                  <a:gd name="T3" fmla="+- 0 10819 195"/>
                  <a:gd name="T4" fmla="*/ T3 w 21248"/>
                  <a:gd name="T5" fmla="*/ 10800 h 21600"/>
                  <a:gd name="T6" fmla="+- 0 10819 195"/>
                  <a:gd name="T7" fmla="*/ T6 w 21248"/>
                  <a:gd name="T8" fmla="*/ 10800 h 21600"/>
                  <a:gd name="T9" fmla="+- 0 10819 195"/>
                  <a:gd name="T10" fmla="*/ T9 w 21248"/>
                  <a:gd name="T11" fmla="*/ 10800 h 21600"/>
                </a:gdLst>
                <a:ahLst/>
                <a:cxnLst>
                  <a:cxn ang="0">
                    <a:pos x="T1" y="T2"/>
                  </a:cxn>
                  <a:cxn ang="0">
                    <a:pos x="T4" y="T5"/>
                  </a:cxn>
                  <a:cxn ang="0">
                    <a:pos x="T7" y="T8"/>
                  </a:cxn>
                  <a:cxn ang="0">
                    <a:pos x="T10" y="T11"/>
                  </a:cxn>
                </a:cxnLst>
                <a:rect l="0" t="0" r="r" b="b"/>
                <a:pathLst>
                  <a:path w="21248" h="21600">
                    <a:moveTo>
                      <a:pt x="19868" y="17133"/>
                    </a:moveTo>
                    <a:cubicBezTo>
                      <a:pt x="19766" y="17386"/>
                      <a:pt x="19525" y="17549"/>
                      <a:pt x="19255" y="17549"/>
                    </a:cubicBezTo>
                    <a:lnTo>
                      <a:pt x="19058" y="17549"/>
                    </a:lnTo>
                    <a:lnTo>
                      <a:pt x="3983" y="2226"/>
                    </a:lnTo>
                    <a:lnTo>
                      <a:pt x="3983" y="2025"/>
                    </a:lnTo>
                    <a:cubicBezTo>
                      <a:pt x="3983" y="1750"/>
                      <a:pt x="4144" y="1506"/>
                      <a:pt x="4393" y="1401"/>
                    </a:cubicBezTo>
                    <a:cubicBezTo>
                      <a:pt x="4475" y="1367"/>
                      <a:pt x="4560" y="1350"/>
                      <a:pt x="4647" y="1350"/>
                    </a:cubicBezTo>
                    <a:cubicBezTo>
                      <a:pt x="4824" y="1350"/>
                      <a:pt x="4991" y="1420"/>
                      <a:pt x="5116" y="1547"/>
                    </a:cubicBezTo>
                    <a:lnTo>
                      <a:pt x="19724" y="16397"/>
                    </a:lnTo>
                    <a:cubicBezTo>
                      <a:pt x="19915" y="16591"/>
                      <a:pt x="19972" y="16880"/>
                      <a:pt x="19868" y="17133"/>
                    </a:cubicBezTo>
                    <a:moveTo>
                      <a:pt x="10121" y="17549"/>
                    </a:moveTo>
                    <a:cubicBezTo>
                      <a:pt x="10017" y="17549"/>
                      <a:pt x="9922" y="17586"/>
                      <a:pt x="9824" y="17609"/>
                    </a:cubicBezTo>
                    <a:lnTo>
                      <a:pt x="3923" y="11612"/>
                    </a:lnTo>
                    <a:cubicBezTo>
                      <a:pt x="3946" y="11512"/>
                      <a:pt x="3982" y="11415"/>
                      <a:pt x="3982" y="11311"/>
                    </a:cubicBezTo>
                    <a:lnTo>
                      <a:pt x="3983" y="3180"/>
                    </a:lnTo>
                    <a:lnTo>
                      <a:pt x="18119" y="17549"/>
                    </a:lnTo>
                    <a:cubicBezTo>
                      <a:pt x="18119" y="17549"/>
                      <a:pt x="10121" y="17549"/>
                      <a:pt x="10121" y="17549"/>
                    </a:cubicBezTo>
                    <a:close/>
                    <a:moveTo>
                      <a:pt x="9182" y="17945"/>
                    </a:moveTo>
                    <a:lnTo>
                      <a:pt x="7109" y="20052"/>
                    </a:lnTo>
                    <a:cubicBezTo>
                      <a:pt x="6939" y="20224"/>
                      <a:pt x="6742" y="20249"/>
                      <a:pt x="6640" y="20249"/>
                    </a:cubicBezTo>
                    <a:cubicBezTo>
                      <a:pt x="6537" y="20249"/>
                      <a:pt x="6339" y="20224"/>
                      <a:pt x="6170" y="20052"/>
                    </a:cubicBezTo>
                    <a:lnTo>
                      <a:pt x="1522" y="15327"/>
                    </a:lnTo>
                    <a:cubicBezTo>
                      <a:pt x="1352" y="15154"/>
                      <a:pt x="1327" y="14953"/>
                      <a:pt x="1327" y="14850"/>
                    </a:cubicBezTo>
                    <a:cubicBezTo>
                      <a:pt x="1327" y="14745"/>
                      <a:pt x="1352" y="14544"/>
                      <a:pt x="1522" y="14373"/>
                    </a:cubicBezTo>
                    <a:lnTo>
                      <a:pt x="3593" y="12266"/>
                    </a:lnTo>
                    <a:cubicBezTo>
                      <a:pt x="3599" y="12260"/>
                      <a:pt x="3601" y="12251"/>
                      <a:pt x="3607" y="12245"/>
                    </a:cubicBezTo>
                    <a:lnTo>
                      <a:pt x="9202" y="17932"/>
                    </a:lnTo>
                    <a:cubicBezTo>
                      <a:pt x="9196" y="17937"/>
                      <a:pt x="9187" y="17939"/>
                      <a:pt x="9182" y="17945"/>
                    </a:cubicBezTo>
                    <a:moveTo>
                      <a:pt x="6056" y="593"/>
                    </a:moveTo>
                    <a:cubicBezTo>
                      <a:pt x="5675" y="205"/>
                      <a:pt x="5165" y="0"/>
                      <a:pt x="4647" y="0"/>
                    </a:cubicBezTo>
                    <a:cubicBezTo>
                      <a:pt x="4390" y="0"/>
                      <a:pt x="4132" y="49"/>
                      <a:pt x="3885" y="154"/>
                    </a:cubicBezTo>
                    <a:cubicBezTo>
                      <a:pt x="3141" y="467"/>
                      <a:pt x="2655" y="1205"/>
                      <a:pt x="2655" y="2025"/>
                    </a:cubicBezTo>
                    <a:lnTo>
                      <a:pt x="2654" y="11311"/>
                    </a:lnTo>
                    <a:lnTo>
                      <a:pt x="583" y="13418"/>
                    </a:lnTo>
                    <a:cubicBezTo>
                      <a:pt x="-195" y="14208"/>
                      <a:pt x="-195" y="15491"/>
                      <a:pt x="583" y="16281"/>
                    </a:cubicBezTo>
                    <a:lnTo>
                      <a:pt x="5231" y="21006"/>
                    </a:lnTo>
                    <a:cubicBezTo>
                      <a:pt x="5620" y="21402"/>
                      <a:pt x="6131" y="21599"/>
                      <a:pt x="6640" y="21599"/>
                    </a:cubicBezTo>
                    <a:cubicBezTo>
                      <a:pt x="7150" y="21599"/>
                      <a:pt x="7659" y="21402"/>
                      <a:pt x="8048" y="21006"/>
                    </a:cubicBezTo>
                    <a:lnTo>
                      <a:pt x="10121" y="18900"/>
                    </a:lnTo>
                    <a:lnTo>
                      <a:pt x="19255" y="18900"/>
                    </a:lnTo>
                    <a:cubicBezTo>
                      <a:pt x="20062" y="18900"/>
                      <a:pt x="20788" y="18407"/>
                      <a:pt x="21095" y="17650"/>
                    </a:cubicBezTo>
                    <a:cubicBezTo>
                      <a:pt x="21405" y="16893"/>
                      <a:pt x="21234" y="16022"/>
                      <a:pt x="20663" y="15443"/>
                    </a:cubicBezTo>
                    <a:cubicBezTo>
                      <a:pt x="20663" y="15443"/>
                      <a:pt x="6056" y="593"/>
                      <a:pt x="6056" y="59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/>
              <a:lstStyle/>
              <a:p>
                <a:pPr algn="ctr" defTabSz="17145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110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ill Sans" charset="0"/>
                  <a:sym typeface="Gill Sans" charset="0"/>
                </a:endParaRPr>
              </a:p>
            </p:txBody>
          </p:sp>
          <p:sp>
            <p:nvSpPr>
              <p:cNvPr id="92" name="AutoShape 138"/>
              <p:cNvSpPr/>
              <p:nvPr/>
            </p:nvSpPr>
            <p:spPr bwMode="auto">
              <a:xfrm>
                <a:off x="4686300" y="1652588"/>
                <a:ext cx="217488" cy="217488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437" y="2880"/>
                    </a:moveTo>
                    <a:lnTo>
                      <a:pt x="1437" y="2885"/>
                    </a:lnTo>
                    <a:cubicBezTo>
                      <a:pt x="10965" y="2885"/>
                      <a:pt x="18717" y="10637"/>
                      <a:pt x="18717" y="20165"/>
                    </a:cubicBezTo>
                    <a:lnTo>
                      <a:pt x="18720" y="20165"/>
                    </a:lnTo>
                    <a:cubicBezTo>
                      <a:pt x="18722" y="20959"/>
                      <a:pt x="19366" y="21600"/>
                      <a:pt x="20160" y="21600"/>
                    </a:cubicBezTo>
                    <a:cubicBezTo>
                      <a:pt x="20955" y="21600"/>
                      <a:pt x="21599" y="20956"/>
                      <a:pt x="21599" y="20160"/>
                    </a:cubicBezTo>
                    <a:cubicBezTo>
                      <a:pt x="21599" y="20155"/>
                      <a:pt x="21597" y="20152"/>
                      <a:pt x="21597" y="20148"/>
                    </a:cubicBezTo>
                    <a:cubicBezTo>
                      <a:pt x="21588" y="9034"/>
                      <a:pt x="12588" y="28"/>
                      <a:pt x="1476" y="8"/>
                    </a:cubicBezTo>
                    <a:cubicBezTo>
                      <a:pt x="1465" y="7"/>
                      <a:pt x="1454" y="0"/>
                      <a:pt x="1440" y="0"/>
                    </a:cubicBezTo>
                    <a:cubicBezTo>
                      <a:pt x="644" y="0"/>
                      <a:pt x="0" y="644"/>
                      <a:pt x="0" y="1440"/>
                    </a:cubicBezTo>
                    <a:cubicBezTo>
                      <a:pt x="0" y="2234"/>
                      <a:pt x="644" y="2878"/>
                      <a:pt x="1437" y="288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/>
              <a:lstStyle/>
              <a:p>
                <a:pPr algn="ctr" defTabSz="17145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110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ill Sans" charset="0"/>
                  <a:sym typeface="Gill Sans" charset="0"/>
                </a:endParaRPr>
              </a:p>
            </p:txBody>
          </p:sp>
        </p:grpSp>
      </p:grpSp>
      <p:sp>
        <p:nvSpPr>
          <p:cNvPr id="93" name="TextBox 2"/>
          <p:cNvSpPr txBox="1"/>
          <p:nvPr/>
        </p:nvSpPr>
        <p:spPr>
          <a:xfrm>
            <a:off x="921865" y="897705"/>
            <a:ext cx="640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阻断</a:t>
            </a:r>
            <a:endParaRPr lang="zh-CN" altLang="en-US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TextBox 75"/>
          <p:cNvSpPr txBox="1"/>
          <p:nvPr/>
        </p:nvSpPr>
        <p:spPr>
          <a:xfrm>
            <a:off x="491218" y="1218971"/>
            <a:ext cx="2505982" cy="1245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latin typeface="Roboto" panose="02000000000000000000" pitchFamily="2" charset="0"/>
              </a:rPr>
              <a:t>Bug </a:t>
            </a:r>
            <a:r>
              <a:rPr lang="zh-CN" altLang="en-US" sz="1500" b="1" dirty="0">
                <a:latin typeface="Roboto" panose="02000000000000000000" pitchFamily="2" charset="0"/>
              </a:rPr>
              <a:t>很有</a:t>
            </a:r>
            <a:r>
              <a:rPr lang="zh-CN" altLang="en-US" sz="1500" dirty="0">
                <a:latin typeface="Roboto" panose="02000000000000000000" pitchFamily="2" charset="0"/>
              </a:rPr>
              <a:t>可能影响应用程序在运行中的行为：如内存泄漏，未关闭的</a:t>
            </a:r>
            <a:r>
              <a:rPr lang="en-US" altLang="zh-CN" sz="1500" dirty="0">
                <a:latin typeface="Roboto" panose="02000000000000000000" pitchFamily="2" charset="0"/>
              </a:rPr>
              <a:t>JDBC</a:t>
            </a:r>
            <a:r>
              <a:rPr lang="zh-CN" altLang="en-US" sz="1500" dirty="0">
                <a:latin typeface="Roboto" panose="02000000000000000000" pitchFamily="2" charset="0"/>
              </a:rPr>
              <a:t>连接等</a:t>
            </a:r>
            <a:r>
              <a:rPr lang="en-US" altLang="zh-CN" sz="1500" dirty="0">
                <a:latin typeface="Roboto" panose="02000000000000000000" pitchFamily="2" charset="0"/>
              </a:rPr>
              <a:t>.</a:t>
            </a:r>
            <a:endParaRPr lang="en-US" altLang="zh-CN" sz="1500" dirty="0">
              <a:latin typeface="Roboto" panose="02000000000000000000" pitchFamily="2" charset="0"/>
            </a:endParaRPr>
          </a:p>
          <a:p>
            <a:r>
              <a:rPr lang="zh-CN" altLang="en-US" sz="1500" dirty="0">
                <a:latin typeface="Roboto" panose="02000000000000000000" pitchFamily="2" charset="0"/>
              </a:rPr>
              <a:t>代码必须立即修复。</a:t>
            </a:r>
            <a:endParaRPr lang="en-US" altLang="zh-CN" sz="15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TextBox 76"/>
          <p:cNvSpPr txBox="1"/>
          <p:nvPr/>
        </p:nvSpPr>
        <p:spPr>
          <a:xfrm>
            <a:off x="3241387" y="4062113"/>
            <a:ext cx="640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严重</a:t>
            </a:r>
            <a:endParaRPr lang="zh-CN" altLang="en-US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TextBox 78"/>
          <p:cNvSpPr txBox="1"/>
          <p:nvPr/>
        </p:nvSpPr>
        <p:spPr>
          <a:xfrm>
            <a:off x="8010196" y="4045269"/>
            <a:ext cx="640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次要</a:t>
            </a:r>
            <a:endParaRPr lang="zh-CN" altLang="en-US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8" name="TextBox 79"/>
          <p:cNvSpPr txBox="1"/>
          <p:nvPr/>
        </p:nvSpPr>
        <p:spPr>
          <a:xfrm>
            <a:off x="7594742" y="4493753"/>
            <a:ext cx="2615205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00" dirty="0">
                <a:latin typeface="Roboto" panose="02000000000000000000" pitchFamily="2" charset="0"/>
              </a:rPr>
              <a:t>可能会略微影响开发人员的工作效率：如变量、方法的命名规范</a:t>
            </a:r>
            <a:endParaRPr lang="en-US" altLang="zh-CN" sz="1500" dirty="0">
              <a:latin typeface="Roboto" panose="02000000000000000000" pitchFamily="2" charset="0"/>
            </a:endParaRPr>
          </a:p>
        </p:txBody>
      </p:sp>
      <p:sp>
        <p:nvSpPr>
          <p:cNvPr id="99" name="TextBox 80"/>
          <p:cNvSpPr txBox="1"/>
          <p:nvPr/>
        </p:nvSpPr>
        <p:spPr>
          <a:xfrm>
            <a:off x="5623470" y="902644"/>
            <a:ext cx="640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</a:t>
            </a:r>
            <a:endParaRPr lang="zh-CN" altLang="en-US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1" name="TextBox 82"/>
          <p:cNvSpPr txBox="1"/>
          <p:nvPr/>
        </p:nvSpPr>
        <p:spPr>
          <a:xfrm>
            <a:off x="10363582" y="854116"/>
            <a:ext cx="640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提示</a:t>
            </a:r>
            <a:endParaRPr lang="zh-CN" altLang="en-US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3" name="TextBox 75"/>
          <p:cNvSpPr txBox="1"/>
          <p:nvPr/>
        </p:nvSpPr>
        <p:spPr>
          <a:xfrm>
            <a:off x="4850357" y="1287872"/>
            <a:ext cx="2559708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00" dirty="0">
                <a:latin typeface="Roboto" panose="02000000000000000000" pitchFamily="2" charset="0"/>
              </a:rPr>
              <a:t>会严重影响开发人员的工作率：如重复的代码块，魔鬼数字、未使用的参数等</a:t>
            </a:r>
            <a:endParaRPr lang="en-US" altLang="zh-CN" sz="15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" name="TextBox 75"/>
          <p:cNvSpPr txBox="1"/>
          <p:nvPr/>
        </p:nvSpPr>
        <p:spPr>
          <a:xfrm>
            <a:off x="2553835" y="4414601"/>
            <a:ext cx="2705162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00" dirty="0">
                <a:latin typeface="Roboto" panose="02000000000000000000" pitchFamily="2" charset="0"/>
              </a:rPr>
              <a:t>影响应用程序行为的可能性很小的</a:t>
            </a:r>
            <a:r>
              <a:rPr lang="en-US" altLang="zh-CN" sz="1500" dirty="0">
                <a:latin typeface="Roboto" panose="02000000000000000000" pitchFamily="2" charset="0"/>
              </a:rPr>
              <a:t>bug</a:t>
            </a:r>
            <a:r>
              <a:rPr lang="zh-CN" altLang="en-US" sz="1500" dirty="0">
                <a:latin typeface="Roboto" panose="02000000000000000000" pitchFamily="2" charset="0"/>
              </a:rPr>
              <a:t>，安全漏洞的问题：如空捕获块，</a:t>
            </a:r>
            <a:r>
              <a:rPr lang="en-US" altLang="zh-CN" sz="1500" dirty="0">
                <a:latin typeface="Roboto" panose="02000000000000000000" pitchFamily="2" charset="0"/>
              </a:rPr>
              <a:t>SQL</a:t>
            </a:r>
            <a:r>
              <a:rPr lang="zh-CN" altLang="en-US" sz="1500" dirty="0">
                <a:latin typeface="Roboto" panose="02000000000000000000" pitchFamily="2" charset="0"/>
              </a:rPr>
              <a:t>注入等</a:t>
            </a:r>
            <a:endParaRPr lang="en-US" altLang="zh-CN" sz="1500" dirty="0">
              <a:latin typeface="Roboto" panose="02000000000000000000" pitchFamily="2" charset="0"/>
            </a:endParaRPr>
          </a:p>
          <a:p>
            <a:r>
              <a:rPr lang="zh-CN" altLang="en-US" sz="1500" dirty="0">
                <a:latin typeface="Roboto" panose="02000000000000000000" pitchFamily="2" charset="0"/>
              </a:rPr>
              <a:t>必须立即检查代码。</a:t>
            </a:r>
            <a:endParaRPr lang="en-US" altLang="zh-CN" sz="15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5" name="TextBox 75"/>
          <p:cNvSpPr txBox="1"/>
          <p:nvPr/>
        </p:nvSpPr>
        <p:spPr>
          <a:xfrm>
            <a:off x="9730059" y="1417835"/>
            <a:ext cx="2559708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00" dirty="0">
                <a:latin typeface="Roboto" panose="02000000000000000000" pitchFamily="2" charset="0"/>
              </a:rPr>
              <a:t>既不是错误也不是质量缺陷，只是一个信息提示。</a:t>
            </a:r>
            <a:endParaRPr lang="zh-CN" altLang="en-US" sz="1500" dirty="0">
              <a:latin typeface="Roboto" panose="02000000000000000000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000">
        <p:random/>
      </p:transition>
    </mc:Choice>
    <mc:Fallback>
      <p:transition spd="slow" advTm="1000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867" y="902473"/>
            <a:ext cx="10820400" cy="5786562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160823" y="135105"/>
            <a:ext cx="9267385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2800"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SonarQube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的项目总览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000">
        <p:random/>
      </p:transition>
    </mc:Choice>
    <mc:Fallback>
      <p:transition spd="slow" advTm="1000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640" y="1052052"/>
            <a:ext cx="7458937" cy="5437239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160823" y="135105"/>
            <a:ext cx="9267385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2800"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SonarQube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的项目质量看板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882198" y="2599624"/>
            <a:ext cx="3456362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00" dirty="0">
                <a:solidFill>
                  <a:schemeClr val="accent3">
                    <a:lumMod val="75000"/>
                  </a:schemeClr>
                </a:solidFill>
              </a:rPr>
              <a:t>技术债务</a:t>
            </a:r>
            <a:endParaRPr lang="en-US" altLang="zh-CN" sz="1500" dirty="0">
              <a:solidFill>
                <a:schemeClr val="accent3">
                  <a:lumMod val="75000"/>
                </a:schemeClr>
              </a:solidFill>
            </a:endParaRPr>
          </a:p>
          <a:p>
            <a:r>
              <a:rPr lang="zh-CN" altLang="en-US" sz="1500" dirty="0"/>
              <a:t>修复所有可维护性问题</a:t>
            </a:r>
            <a:r>
              <a:rPr lang="en-US" altLang="zh-CN" sz="1500" dirty="0"/>
              <a:t>/</a:t>
            </a:r>
            <a:r>
              <a:rPr lang="zh-CN" altLang="en-US" sz="1500" dirty="0"/>
              <a:t>代码坏味道所需的估计时间</a:t>
            </a:r>
            <a:endParaRPr lang="zh-CN" altLang="en-US" sz="1500" dirty="0"/>
          </a:p>
        </p:txBody>
      </p:sp>
      <p:sp>
        <p:nvSpPr>
          <p:cNvPr id="9" name="矩形 8"/>
          <p:cNvSpPr/>
          <p:nvPr/>
        </p:nvSpPr>
        <p:spPr>
          <a:xfrm>
            <a:off x="7871053" y="657700"/>
            <a:ext cx="6096000" cy="14763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500" dirty="0">
                <a:solidFill>
                  <a:schemeClr val="accent3">
                    <a:lumMod val="75000"/>
                  </a:schemeClr>
                </a:solidFill>
                <a:latin typeface="Roboto" panose="02000000000000000000" pitchFamily="2" charset="0"/>
              </a:rPr>
              <a:t>Bugs</a:t>
            </a:r>
            <a:r>
              <a:rPr lang="zh-CN" altLang="en-US" sz="1500" dirty="0">
                <a:solidFill>
                  <a:schemeClr val="accent3">
                    <a:lumMod val="75000"/>
                  </a:schemeClr>
                </a:solidFill>
                <a:latin typeface="Roboto" panose="02000000000000000000" pitchFamily="2" charset="0"/>
              </a:rPr>
              <a:t>和漏洞评级</a:t>
            </a:r>
            <a:endParaRPr lang="en-US" altLang="zh-CN" sz="1500" dirty="0">
              <a:latin typeface="-apple-system"/>
            </a:endParaRPr>
          </a:p>
          <a:p>
            <a:r>
              <a:rPr lang="en-US" altLang="zh-CN" sz="1500" dirty="0">
                <a:latin typeface="-apple-system"/>
              </a:rPr>
              <a:t>A = 0</a:t>
            </a:r>
            <a:r>
              <a:rPr lang="zh-CN" altLang="en-US" sz="1500" dirty="0">
                <a:latin typeface="-apple-system"/>
              </a:rPr>
              <a:t>漏洞</a:t>
            </a:r>
            <a:br>
              <a:rPr lang="zh-CN" altLang="en-US" sz="1500" dirty="0"/>
            </a:br>
            <a:r>
              <a:rPr lang="en-US" altLang="zh-CN" sz="1500" dirty="0">
                <a:latin typeface="-apple-system"/>
              </a:rPr>
              <a:t>B =</a:t>
            </a:r>
            <a:r>
              <a:rPr lang="zh-CN" altLang="en-US" sz="1500" dirty="0">
                <a:latin typeface="-apple-system"/>
              </a:rPr>
              <a:t>至少</a:t>
            </a:r>
            <a:r>
              <a:rPr lang="en-US" altLang="zh-CN" sz="1500" dirty="0">
                <a:latin typeface="-apple-system"/>
              </a:rPr>
              <a:t>1</a:t>
            </a:r>
            <a:r>
              <a:rPr lang="zh-CN" altLang="en-US" sz="1500" dirty="0">
                <a:latin typeface="-apple-system"/>
              </a:rPr>
              <a:t>个次要漏洞</a:t>
            </a:r>
            <a:br>
              <a:rPr lang="zh-CN" altLang="en-US" sz="1500" dirty="0"/>
            </a:br>
            <a:r>
              <a:rPr lang="en-US" altLang="zh-CN" sz="1500" dirty="0">
                <a:latin typeface="-apple-system"/>
              </a:rPr>
              <a:t>C =</a:t>
            </a:r>
            <a:r>
              <a:rPr lang="zh-CN" altLang="en-US" sz="1500" dirty="0">
                <a:latin typeface="-apple-system"/>
              </a:rPr>
              <a:t>至少</a:t>
            </a:r>
            <a:r>
              <a:rPr lang="en-US" altLang="zh-CN" sz="1500" dirty="0">
                <a:latin typeface="-apple-system"/>
              </a:rPr>
              <a:t>1</a:t>
            </a:r>
            <a:r>
              <a:rPr lang="zh-CN" altLang="en-US" sz="1500" dirty="0">
                <a:latin typeface="-apple-system"/>
              </a:rPr>
              <a:t>个主要漏洞</a:t>
            </a:r>
            <a:br>
              <a:rPr lang="zh-CN" altLang="en-US" sz="1500" dirty="0"/>
            </a:br>
            <a:r>
              <a:rPr lang="en-US" altLang="zh-CN" sz="1500" dirty="0">
                <a:latin typeface="-apple-system"/>
              </a:rPr>
              <a:t>D =</a:t>
            </a:r>
            <a:r>
              <a:rPr lang="zh-CN" altLang="en-US" sz="1500" dirty="0">
                <a:latin typeface="-apple-system"/>
              </a:rPr>
              <a:t>至少</a:t>
            </a:r>
            <a:r>
              <a:rPr lang="en-US" altLang="zh-CN" sz="1500" dirty="0">
                <a:latin typeface="-apple-system"/>
              </a:rPr>
              <a:t>1</a:t>
            </a:r>
            <a:r>
              <a:rPr lang="zh-CN" altLang="en-US" sz="1500" dirty="0">
                <a:latin typeface="-apple-system"/>
              </a:rPr>
              <a:t>个严重漏洞</a:t>
            </a:r>
            <a:br>
              <a:rPr lang="zh-CN" altLang="en-US" sz="1500" dirty="0"/>
            </a:br>
            <a:r>
              <a:rPr lang="en-US" altLang="zh-CN" sz="1500" dirty="0">
                <a:latin typeface="-apple-system"/>
              </a:rPr>
              <a:t>E =</a:t>
            </a:r>
            <a:r>
              <a:rPr lang="zh-CN" altLang="en-US" sz="1500" dirty="0">
                <a:latin typeface="-apple-system"/>
              </a:rPr>
              <a:t>至少</a:t>
            </a:r>
            <a:r>
              <a:rPr lang="en-US" altLang="zh-CN" sz="1500" dirty="0">
                <a:latin typeface="-apple-system"/>
              </a:rPr>
              <a:t>1</a:t>
            </a:r>
            <a:r>
              <a:rPr lang="zh-CN" altLang="en-US" sz="1500" dirty="0">
                <a:latin typeface="-apple-system"/>
              </a:rPr>
              <a:t>个阻止漏洞</a:t>
            </a:r>
            <a:endParaRPr lang="zh-CN" altLang="en-US" sz="1500" dirty="0"/>
          </a:p>
        </p:txBody>
      </p:sp>
      <p:sp>
        <p:nvSpPr>
          <p:cNvPr id="10" name="矩形 9"/>
          <p:cNvSpPr/>
          <p:nvPr/>
        </p:nvSpPr>
        <p:spPr>
          <a:xfrm>
            <a:off x="7871053" y="3640072"/>
            <a:ext cx="3467507" cy="1476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500" dirty="0">
                <a:solidFill>
                  <a:schemeClr val="accent3">
                    <a:lumMod val="75000"/>
                  </a:schemeClr>
                </a:solidFill>
                <a:latin typeface="Roboto" panose="02000000000000000000" pitchFamily="2" charset="0"/>
              </a:rPr>
              <a:t>可维护度评级</a:t>
            </a:r>
            <a:endParaRPr lang="en-US" altLang="zh-CN" sz="1500" dirty="0">
              <a:solidFill>
                <a:schemeClr val="accent3">
                  <a:lumMod val="75000"/>
                </a:schemeClr>
              </a:solidFill>
              <a:latin typeface="Roboto" panose="02000000000000000000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1500" dirty="0">
                <a:latin typeface="Roboto" panose="02000000000000000000" pitchFamily="2" charset="0"/>
              </a:rPr>
              <a:t>&lt;=</a:t>
            </a:r>
            <a:r>
              <a:rPr lang="zh-CN" altLang="en-US" sz="1500" dirty="0">
                <a:latin typeface="Roboto" panose="02000000000000000000" pitchFamily="2" charset="0"/>
              </a:rPr>
              <a:t>总时间的</a:t>
            </a:r>
            <a:r>
              <a:rPr lang="en-US" altLang="zh-CN" sz="1500" dirty="0">
                <a:latin typeface="Roboto" panose="02000000000000000000" pitchFamily="2" charset="0"/>
              </a:rPr>
              <a:t>5</a:t>
            </a:r>
            <a:r>
              <a:rPr lang="zh-CN" altLang="en-US" sz="1500" dirty="0">
                <a:latin typeface="Roboto" panose="02000000000000000000" pitchFamily="2" charset="0"/>
              </a:rPr>
              <a:t>％，评级为</a:t>
            </a:r>
            <a:r>
              <a:rPr lang="en-US" altLang="zh-CN" sz="1500" dirty="0">
                <a:latin typeface="Roboto" panose="02000000000000000000" pitchFamily="2" charset="0"/>
              </a:rPr>
              <a:t>A.</a:t>
            </a:r>
            <a:endParaRPr lang="en-US" altLang="zh-CN" sz="1500" dirty="0">
              <a:latin typeface="Roboto" panose="02000000000000000000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1500" dirty="0">
                <a:latin typeface="Roboto" panose="02000000000000000000" pitchFamily="2" charset="0"/>
              </a:rPr>
              <a:t>在</a:t>
            </a:r>
            <a:r>
              <a:rPr lang="en-US" altLang="zh-CN" sz="1500" dirty="0">
                <a:latin typeface="Roboto" panose="02000000000000000000" pitchFamily="2" charset="0"/>
              </a:rPr>
              <a:t>6</a:t>
            </a:r>
            <a:r>
              <a:rPr lang="zh-CN" altLang="en-US" sz="1500" dirty="0">
                <a:latin typeface="Roboto" panose="02000000000000000000" pitchFamily="2" charset="0"/>
              </a:rPr>
              <a:t>到</a:t>
            </a:r>
            <a:r>
              <a:rPr lang="en-US" altLang="zh-CN" sz="1500" dirty="0">
                <a:latin typeface="Roboto" panose="02000000000000000000" pitchFamily="2" charset="0"/>
              </a:rPr>
              <a:t>10</a:t>
            </a:r>
            <a:r>
              <a:rPr lang="zh-CN" altLang="en-US" sz="1500" dirty="0">
                <a:latin typeface="Roboto" panose="02000000000000000000" pitchFamily="2" charset="0"/>
              </a:rPr>
              <a:t>％之间，评级是</a:t>
            </a:r>
            <a:r>
              <a:rPr lang="en-US" altLang="zh-CN" sz="1500" dirty="0">
                <a:latin typeface="Roboto" panose="02000000000000000000" pitchFamily="2" charset="0"/>
              </a:rPr>
              <a:t>B</a:t>
            </a:r>
            <a:endParaRPr lang="en-US" altLang="zh-CN" sz="1500" dirty="0">
              <a:latin typeface="Roboto" panose="02000000000000000000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1500" dirty="0">
                <a:latin typeface="Roboto" panose="02000000000000000000" pitchFamily="2" charset="0"/>
              </a:rPr>
              <a:t>在</a:t>
            </a:r>
            <a:r>
              <a:rPr lang="en-US" altLang="zh-CN" sz="1500" dirty="0">
                <a:latin typeface="Roboto" panose="02000000000000000000" pitchFamily="2" charset="0"/>
              </a:rPr>
              <a:t>11</a:t>
            </a:r>
            <a:r>
              <a:rPr lang="zh-CN" altLang="en-US" sz="1500" dirty="0">
                <a:latin typeface="Roboto" panose="02000000000000000000" pitchFamily="2" charset="0"/>
              </a:rPr>
              <a:t>到</a:t>
            </a:r>
            <a:r>
              <a:rPr lang="en-US" altLang="zh-CN" sz="1500" dirty="0">
                <a:latin typeface="Roboto" panose="02000000000000000000" pitchFamily="2" charset="0"/>
              </a:rPr>
              <a:t>20</a:t>
            </a:r>
            <a:r>
              <a:rPr lang="zh-CN" altLang="en-US" sz="1500" dirty="0">
                <a:latin typeface="Roboto" panose="02000000000000000000" pitchFamily="2" charset="0"/>
              </a:rPr>
              <a:t>％之间，评级是</a:t>
            </a:r>
            <a:r>
              <a:rPr lang="en-US" altLang="zh-CN" sz="1500" dirty="0">
                <a:latin typeface="Roboto" panose="02000000000000000000" pitchFamily="2" charset="0"/>
              </a:rPr>
              <a:t>C</a:t>
            </a:r>
            <a:endParaRPr lang="en-US" altLang="zh-CN" sz="1500" dirty="0">
              <a:latin typeface="Roboto" panose="02000000000000000000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1500" dirty="0">
                <a:latin typeface="Roboto" panose="02000000000000000000" pitchFamily="2" charset="0"/>
              </a:rPr>
              <a:t>在</a:t>
            </a:r>
            <a:r>
              <a:rPr lang="en-US" altLang="zh-CN" sz="1500" dirty="0">
                <a:latin typeface="Roboto" panose="02000000000000000000" pitchFamily="2" charset="0"/>
              </a:rPr>
              <a:t>21</a:t>
            </a:r>
            <a:r>
              <a:rPr lang="zh-CN" altLang="en-US" sz="1500" dirty="0">
                <a:latin typeface="Roboto" panose="02000000000000000000" pitchFamily="2" charset="0"/>
              </a:rPr>
              <a:t>到</a:t>
            </a:r>
            <a:r>
              <a:rPr lang="en-US" altLang="zh-CN" sz="1500" dirty="0">
                <a:latin typeface="Roboto" panose="02000000000000000000" pitchFamily="2" charset="0"/>
              </a:rPr>
              <a:t>50</a:t>
            </a:r>
            <a:r>
              <a:rPr lang="zh-CN" altLang="en-US" sz="1500" dirty="0">
                <a:latin typeface="Roboto" panose="02000000000000000000" pitchFamily="2" charset="0"/>
              </a:rPr>
              <a:t>％之间，评级是</a:t>
            </a:r>
            <a:r>
              <a:rPr lang="en-US" altLang="zh-CN" sz="1500" dirty="0">
                <a:latin typeface="Roboto" panose="02000000000000000000" pitchFamily="2" charset="0"/>
              </a:rPr>
              <a:t>D</a:t>
            </a:r>
            <a:endParaRPr lang="en-US" altLang="zh-CN" sz="1500" dirty="0">
              <a:latin typeface="Roboto" panose="02000000000000000000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1500" dirty="0">
                <a:latin typeface="Roboto" panose="02000000000000000000" pitchFamily="2" charset="0"/>
              </a:rPr>
              <a:t>超过</a:t>
            </a:r>
            <a:r>
              <a:rPr lang="en-US" altLang="zh-CN" sz="1500" dirty="0">
                <a:latin typeface="Roboto" panose="02000000000000000000" pitchFamily="2" charset="0"/>
              </a:rPr>
              <a:t>50</a:t>
            </a:r>
            <a:r>
              <a:rPr lang="zh-CN" altLang="en-US" sz="1500" dirty="0">
                <a:latin typeface="Roboto" panose="02000000000000000000" pitchFamily="2" charset="0"/>
              </a:rPr>
              <a:t>％，评级是</a:t>
            </a:r>
            <a:r>
              <a:rPr lang="en-US" altLang="zh-CN" sz="1500" dirty="0">
                <a:latin typeface="Roboto" panose="02000000000000000000" pitchFamily="2" charset="0"/>
              </a:rPr>
              <a:t>E</a:t>
            </a:r>
            <a:endParaRPr lang="en-US" altLang="zh-CN" sz="1500" b="0" i="0" dirty="0">
              <a:effectLst/>
              <a:latin typeface="Roboto" panose="02000000000000000000" pitchFamily="2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882198" y="5755215"/>
            <a:ext cx="3467507" cy="783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500" dirty="0">
                <a:solidFill>
                  <a:schemeClr val="accent3">
                    <a:lumMod val="75000"/>
                  </a:schemeClr>
                </a:solidFill>
                <a:latin typeface="Roboto" panose="02000000000000000000" pitchFamily="2" charset="0"/>
              </a:rPr>
              <a:t>重复率</a:t>
            </a:r>
            <a:endParaRPr lang="en-US" altLang="zh-CN" sz="1500" dirty="0">
              <a:solidFill>
                <a:schemeClr val="accent3">
                  <a:lumMod val="75000"/>
                </a:schemeClr>
              </a:solidFill>
              <a:latin typeface="Roboto" panose="02000000000000000000" pitchFamily="2" charset="0"/>
            </a:endParaRPr>
          </a:p>
          <a:p>
            <a:r>
              <a:rPr lang="zh-CN" altLang="en-US" sz="1500" dirty="0">
                <a:latin typeface="Roboto" panose="02000000000000000000" pitchFamily="2" charset="0"/>
              </a:rPr>
              <a:t>重复的代码行数</a:t>
            </a:r>
            <a:r>
              <a:rPr lang="en-US" altLang="zh-CN" sz="1500" dirty="0">
                <a:latin typeface="Roboto" panose="02000000000000000000" pitchFamily="2" charset="0"/>
              </a:rPr>
              <a:t>/</a:t>
            </a:r>
            <a:r>
              <a:rPr lang="zh-CN" altLang="en-US" sz="1500" dirty="0">
                <a:latin typeface="Roboto" panose="02000000000000000000" pitchFamily="2" charset="0"/>
              </a:rPr>
              <a:t>总行数   *  </a:t>
            </a:r>
            <a:r>
              <a:rPr lang="en-US" altLang="zh-CN" sz="1500" dirty="0">
                <a:latin typeface="Roboto" panose="02000000000000000000" pitchFamily="2" charset="0"/>
              </a:rPr>
              <a:t>100%</a:t>
            </a:r>
            <a:endParaRPr lang="en-US" altLang="zh-CN" sz="1500" dirty="0">
              <a:latin typeface="Roboto" panose="02000000000000000000" pitchFamily="2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871052" y="5159308"/>
            <a:ext cx="3467507" cy="553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500" dirty="0">
                <a:solidFill>
                  <a:schemeClr val="accent3">
                    <a:lumMod val="75000"/>
                  </a:schemeClr>
                </a:solidFill>
                <a:latin typeface="Roboto" panose="02000000000000000000" pitchFamily="2" charset="0"/>
              </a:rPr>
              <a:t>覆盖率</a:t>
            </a:r>
            <a:endParaRPr lang="en-US" altLang="zh-CN" sz="1500" dirty="0">
              <a:solidFill>
                <a:schemeClr val="accent3">
                  <a:lumMod val="75000"/>
                </a:schemeClr>
              </a:solidFill>
              <a:latin typeface="Roboto" panose="02000000000000000000" pitchFamily="2" charset="0"/>
            </a:endParaRPr>
          </a:p>
          <a:p>
            <a:r>
              <a:rPr lang="zh-CN" altLang="en-US" sz="1500" dirty="0">
                <a:latin typeface="Roboto" panose="02000000000000000000" pitchFamily="2" charset="0"/>
              </a:rPr>
              <a:t>单元测试的覆盖率</a:t>
            </a:r>
            <a:endParaRPr lang="en-US" altLang="zh-CN" sz="1500" dirty="0">
              <a:latin typeface="Roboto" panose="02000000000000000000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000">
        <p:random/>
      </p:transition>
    </mc:Choice>
    <mc:Fallback>
      <p:transition spd="slow" advTm="1000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5742" y="1156929"/>
            <a:ext cx="9220658" cy="5407742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0176387" y="2045110"/>
            <a:ext cx="1559871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左边是过滤条件，右边是具体的质量问题。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可分配处理人员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可以做评论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160823" y="135105"/>
            <a:ext cx="9267385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下钻到具体的代码质量问题列表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000">
        <p:random/>
      </p:transition>
    </mc:Choice>
    <mc:Fallback>
      <p:transition spd="slow" advTm="1000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160823" y="135105"/>
            <a:ext cx="9267385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下钻到质量问题的代码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1592" y="904036"/>
            <a:ext cx="11568816" cy="56999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000">
        <p:random/>
      </p:transition>
    </mc:Choice>
    <mc:Fallback>
      <p:transition spd="slow" advTm="1000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2786887" y="3802631"/>
            <a:ext cx="2921455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2786887" y="3920382"/>
            <a:ext cx="1652606" cy="35331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latin typeface="+mj-lt"/>
              </a:rPr>
              <a:t>PART TWO</a:t>
            </a:r>
            <a:endParaRPr lang="zh-CN" altLang="en-US" sz="1600" dirty="0">
              <a:latin typeface="+mj-lt"/>
            </a:endParaRPr>
          </a:p>
        </p:txBody>
      </p:sp>
      <p:sp>
        <p:nvSpPr>
          <p:cNvPr id="15" name="Text Box 7"/>
          <p:cNvSpPr txBox="1">
            <a:spLocks noChangeArrowheads="1"/>
          </p:cNvSpPr>
          <p:nvPr/>
        </p:nvSpPr>
        <p:spPr bwMode="auto">
          <a:xfrm>
            <a:off x="1361677" y="2376850"/>
            <a:ext cx="1178560" cy="261429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60923" tIns="30461" rIns="60923" bIns="30461">
            <a:spAutoFit/>
          </a:bodyPr>
          <a:lstStyle/>
          <a:p>
            <a:pPr algn="r" defTabSz="1087755"/>
            <a:r>
              <a:rPr lang="en-US" altLang="zh-CN" sz="16600" kern="0" dirty="0">
                <a:solidFill>
                  <a:schemeClr val="accent4"/>
                </a:solidFill>
                <a:latin typeface="Impact" panose="020B0806030902050204" pitchFamily="34" charset="0"/>
                <a:ea typeface="微软雅黑" panose="020B0503020204020204" pitchFamily="34" charset="-122"/>
                <a:cs typeface="IrisUPC" pitchFamily="34" charset="-34"/>
              </a:rPr>
              <a:t>2</a:t>
            </a:r>
            <a:endParaRPr lang="en-CA" sz="16600" spc="-151" dirty="0">
              <a:solidFill>
                <a:schemeClr val="accent4"/>
              </a:solidFill>
              <a:latin typeface="Impact" panose="020B0806030902050204" pitchFamily="34" charset="0"/>
              <a:ea typeface="微软雅黑" panose="020B0503020204020204" pitchFamily="34" charset="-122"/>
              <a:cs typeface="IrisUPC" pitchFamily="34" charset="-34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1640" y="1595088"/>
            <a:ext cx="5051955" cy="4415087"/>
          </a:xfrm>
          <a:prstGeom prst="rect">
            <a:avLst/>
          </a:prstGeom>
        </p:spPr>
      </p:pic>
      <p:sp>
        <p:nvSpPr>
          <p:cNvPr id="7" name="文本框 5"/>
          <p:cNvSpPr txBox="1">
            <a:spLocks noChangeArrowheads="1"/>
          </p:cNvSpPr>
          <p:nvPr/>
        </p:nvSpPr>
        <p:spPr bwMode="auto">
          <a:xfrm>
            <a:off x="2786886" y="3038550"/>
            <a:ext cx="3984028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r>
              <a:rPr lang="zh-CN" altLang="en-US" sz="3600" b="1" dirty="0">
                <a:solidFill>
                  <a:schemeClr val="accent4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代码规范</a:t>
            </a:r>
            <a:endParaRPr lang="en-US" altLang="zh-CN" sz="3600" b="1" dirty="0">
              <a:solidFill>
                <a:schemeClr val="accent4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0">
        <p14:prism isContent="1"/>
      </p:transition>
    </mc:Choice>
    <mc:Fallback>
      <p:transition spd="slow" advClick="0" advTm="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826526" y="135105"/>
            <a:ext cx="9267385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编码规范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10093911" y="4031774"/>
          <a:ext cx="1497013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30" name="包装程序外壳对象" showAsIcon="1" r:id="rId1" imgW="2200275" imgH="638175" progId="Package">
                  <p:embed/>
                </p:oleObj>
              </mc:Choice>
              <mc:Fallback>
                <p:oleObj name="包装程序外壳对象" showAsIcon="1" r:id="rId1" imgW="2200275" imgH="638175" progId="Package">
                  <p:embed/>
                  <p:pic>
                    <p:nvPicPr>
                      <p:cNvPr id="0" name="对象 1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0093911" y="4031774"/>
                        <a:ext cx="1497013" cy="4397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326" y="1703433"/>
            <a:ext cx="2095682" cy="4191363"/>
          </a:xfrm>
          <a:prstGeom prst="rect">
            <a:avLst/>
          </a:prstGeom>
        </p:spPr>
      </p:pic>
      <p:sp>
        <p:nvSpPr>
          <p:cNvPr id="6" name="TextBox 46"/>
          <p:cNvSpPr txBox="1"/>
          <p:nvPr/>
        </p:nvSpPr>
        <p:spPr>
          <a:xfrm>
            <a:off x="952859" y="995900"/>
            <a:ext cx="109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阿里巴巴</a:t>
            </a:r>
            <a:endParaRPr lang="zh-CN" altLang="en-US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10385217" y="2430144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31" name="Document" showAsIcon="1" r:id="rId4" imgW="1143000" imgH="990600" progId="Word.Document.8">
                  <p:embed/>
                </p:oleObj>
              </mc:Choice>
              <mc:Fallback>
                <p:oleObj name="Document" showAsIcon="1" r:id="rId4" imgW="1143000" imgH="990600" progId="Word.Document.8">
                  <p:embed/>
                  <p:pic>
                    <p:nvPicPr>
                      <p:cNvPr id="0" name="图片 2630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385217" y="2430144"/>
                        <a:ext cx="914400" cy="792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10527274" y="1156493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32" name="Document" showAsIcon="1" r:id="rId6" imgW="1143000" imgH="990600" progId="Word.Document.8">
                  <p:link updateAutomatic="1"/>
                </p:oleObj>
              </mc:Choice>
              <mc:Fallback>
                <p:oleObj name="Document" showAsIcon="1" r:id="rId6" imgW="1143000" imgH="990600" progId="Word.Document.8">
                  <p:link updateAutomatic="1"/>
                  <p:pic>
                    <p:nvPicPr>
                      <p:cNvPr id="0" name="图片 263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527274" y="1156493"/>
                        <a:ext cx="914400" cy="792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图片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79590" y="1703433"/>
            <a:ext cx="2979678" cy="4084674"/>
          </a:xfrm>
          <a:prstGeom prst="rect">
            <a:avLst/>
          </a:prstGeom>
        </p:spPr>
      </p:pic>
      <p:sp>
        <p:nvSpPr>
          <p:cNvPr id="12" name="TextBox 46"/>
          <p:cNvSpPr txBox="1"/>
          <p:nvPr/>
        </p:nvSpPr>
        <p:spPr>
          <a:xfrm>
            <a:off x="4988004" y="998507"/>
            <a:ext cx="109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南网培评</a:t>
            </a:r>
            <a:endParaRPr lang="zh-CN" altLang="en-US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000">
        <p:random/>
      </p:transition>
    </mc:Choice>
    <mc:Fallback>
      <p:transition spd="slow" advTm="1000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5"/>
          <p:cNvSpPr txBox="1">
            <a:spLocks noChangeArrowheads="1"/>
          </p:cNvSpPr>
          <p:nvPr/>
        </p:nvSpPr>
        <p:spPr bwMode="auto">
          <a:xfrm>
            <a:off x="2786886" y="3038550"/>
            <a:ext cx="4136428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r>
              <a:rPr lang="en-US" altLang="zh-CN" sz="3600" b="1" dirty="0">
                <a:solidFill>
                  <a:schemeClr val="accent4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WEB</a:t>
            </a:r>
            <a:r>
              <a:rPr lang="zh-CN" altLang="en-US" sz="3600" b="1" dirty="0">
                <a:solidFill>
                  <a:schemeClr val="accent4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开发安全规范</a:t>
            </a:r>
            <a:endParaRPr lang="en-US" altLang="zh-CN" sz="3600" b="1" dirty="0">
              <a:solidFill>
                <a:schemeClr val="accent4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2786887" y="3802631"/>
            <a:ext cx="2921455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2786887" y="3920382"/>
            <a:ext cx="1652606" cy="35331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latin typeface="+mj-lt"/>
              </a:rPr>
              <a:t>PART THREE</a:t>
            </a:r>
            <a:endParaRPr lang="zh-CN" altLang="en-US" sz="1600" dirty="0">
              <a:latin typeface="+mj-lt"/>
            </a:endParaRPr>
          </a:p>
        </p:txBody>
      </p:sp>
      <p:sp>
        <p:nvSpPr>
          <p:cNvPr id="15" name="Text Box 7"/>
          <p:cNvSpPr txBox="1">
            <a:spLocks noChangeArrowheads="1"/>
          </p:cNvSpPr>
          <p:nvPr/>
        </p:nvSpPr>
        <p:spPr bwMode="auto">
          <a:xfrm>
            <a:off x="1320402" y="2376850"/>
            <a:ext cx="1219835" cy="261429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60923" tIns="30461" rIns="60923" bIns="30461">
            <a:spAutoFit/>
          </a:bodyPr>
          <a:lstStyle/>
          <a:p>
            <a:pPr algn="r" defTabSz="1087755"/>
            <a:r>
              <a:rPr lang="en-CA" sz="16600" spc="-151" dirty="0">
                <a:solidFill>
                  <a:schemeClr val="accent4"/>
                </a:solidFill>
                <a:latin typeface="Impact" panose="020B0806030902050204" pitchFamily="34" charset="0"/>
                <a:ea typeface="微软雅黑" panose="020B0503020204020204" pitchFamily="34" charset="-122"/>
                <a:cs typeface="IrisUPC" pitchFamily="34" charset="-34"/>
              </a:rPr>
              <a:t>3</a:t>
            </a:r>
            <a:endParaRPr lang="en-CA" sz="16600" spc="-151" dirty="0">
              <a:solidFill>
                <a:schemeClr val="accent4"/>
              </a:solidFill>
              <a:latin typeface="Impact" panose="020B0806030902050204" pitchFamily="34" charset="0"/>
              <a:ea typeface="微软雅黑" panose="020B0503020204020204" pitchFamily="34" charset="-122"/>
              <a:cs typeface="IrisUPC" pitchFamily="34" charset="-34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1640" y="1595088"/>
            <a:ext cx="5051955" cy="44150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0">
        <p14:prism isContent="1"/>
      </p:transition>
    </mc:Choice>
    <mc:Fallback>
      <p:transition spd="slow" advClick="0" advTm="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0797" y="657700"/>
            <a:ext cx="8443692" cy="4343776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826526" y="135105"/>
            <a:ext cx="9267385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编码安全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0797" y="5263391"/>
            <a:ext cx="8413209" cy="1470787"/>
          </a:xfrm>
          <a:prstGeom prst="rect">
            <a:avLst/>
          </a:prstGeom>
        </p:spPr>
      </p:pic>
      <p:sp>
        <p:nvSpPr>
          <p:cNvPr id="5" name="Pentagon 25"/>
          <p:cNvSpPr/>
          <p:nvPr/>
        </p:nvSpPr>
        <p:spPr>
          <a:xfrm>
            <a:off x="446987" y="657700"/>
            <a:ext cx="1305614" cy="4343776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r>
              <a:rPr lang="zh-CN" altLang="en-US" sz="1500" dirty="0">
                <a:solidFill>
                  <a:schemeClr val="bg1"/>
                </a:solidFill>
              </a:rPr>
              <a:t>输入验证</a:t>
            </a:r>
            <a:endParaRPr lang="en-GB" sz="1500" dirty="0">
              <a:solidFill>
                <a:schemeClr val="bg1"/>
              </a:solidFill>
            </a:endParaRPr>
          </a:p>
        </p:txBody>
      </p:sp>
      <p:sp>
        <p:nvSpPr>
          <p:cNvPr id="6" name="Pentagon 25"/>
          <p:cNvSpPr/>
          <p:nvPr/>
        </p:nvSpPr>
        <p:spPr>
          <a:xfrm>
            <a:off x="446987" y="5356669"/>
            <a:ext cx="1305614" cy="1470787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r>
              <a:rPr lang="zh-CN" altLang="en-US" sz="1500" dirty="0">
                <a:solidFill>
                  <a:schemeClr val="bg1"/>
                </a:solidFill>
              </a:rPr>
              <a:t>输出验证</a:t>
            </a:r>
            <a:endParaRPr lang="en-GB" sz="15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000">
        <p:random/>
      </p:transition>
    </mc:Choice>
    <mc:Fallback>
      <p:transition spd="slow" advTm="1000">
        <p:random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26526" y="135105"/>
            <a:ext cx="9267385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编码安全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01297" y="657700"/>
            <a:ext cx="8436071" cy="2149026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1297" y="2793331"/>
            <a:ext cx="8413209" cy="152413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6538" y="4238754"/>
            <a:ext cx="8382726" cy="118882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1297" y="5474162"/>
            <a:ext cx="8359864" cy="1386960"/>
          </a:xfrm>
          <a:prstGeom prst="rect">
            <a:avLst/>
          </a:prstGeom>
        </p:spPr>
      </p:pic>
      <p:sp>
        <p:nvSpPr>
          <p:cNvPr id="7" name="Pentagon 25"/>
          <p:cNvSpPr/>
          <p:nvPr/>
        </p:nvSpPr>
        <p:spPr>
          <a:xfrm>
            <a:off x="446987" y="5356669"/>
            <a:ext cx="1305614" cy="1470787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r>
              <a:rPr lang="en-US" altLang="zh-CN" sz="1500" dirty="0">
                <a:solidFill>
                  <a:schemeClr val="bg1"/>
                </a:solidFill>
              </a:rPr>
              <a:t>CSRF</a:t>
            </a:r>
            <a:r>
              <a:rPr lang="zh-CN" altLang="en-US" sz="1500" dirty="0">
                <a:solidFill>
                  <a:schemeClr val="bg1"/>
                </a:solidFill>
              </a:rPr>
              <a:t>跨站请求伪造</a:t>
            </a:r>
            <a:endParaRPr lang="en-GB" sz="1500" dirty="0">
              <a:solidFill>
                <a:schemeClr val="bg1"/>
              </a:solidFill>
            </a:endParaRPr>
          </a:p>
        </p:txBody>
      </p:sp>
      <p:sp>
        <p:nvSpPr>
          <p:cNvPr id="8" name="Pentagon 25"/>
          <p:cNvSpPr/>
          <p:nvPr/>
        </p:nvSpPr>
        <p:spPr>
          <a:xfrm>
            <a:off x="446987" y="4289878"/>
            <a:ext cx="1305614" cy="1011467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r>
              <a:rPr lang="en-GB" sz="1500" dirty="0">
                <a:solidFill>
                  <a:schemeClr val="bg1"/>
                </a:solidFill>
              </a:rPr>
              <a:t>XML</a:t>
            </a:r>
            <a:r>
              <a:rPr lang="zh-CN" altLang="en-US" sz="1500" dirty="0">
                <a:solidFill>
                  <a:schemeClr val="bg1"/>
                </a:solidFill>
              </a:rPr>
              <a:t>注入</a:t>
            </a:r>
            <a:endParaRPr lang="en-GB" sz="1500" dirty="0">
              <a:solidFill>
                <a:schemeClr val="bg1"/>
              </a:solidFill>
            </a:endParaRPr>
          </a:p>
        </p:txBody>
      </p:sp>
      <p:sp>
        <p:nvSpPr>
          <p:cNvPr id="9" name="Pentagon 25"/>
          <p:cNvSpPr/>
          <p:nvPr/>
        </p:nvSpPr>
        <p:spPr>
          <a:xfrm>
            <a:off x="446987" y="699777"/>
            <a:ext cx="1305614" cy="1978109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r>
              <a:rPr lang="en-US" altLang="zh-CN" sz="1500" dirty="0">
                <a:solidFill>
                  <a:schemeClr val="bg1"/>
                </a:solidFill>
              </a:rPr>
              <a:t>SQL</a:t>
            </a:r>
            <a:r>
              <a:rPr lang="zh-CN" altLang="en-US" sz="1500" dirty="0">
                <a:solidFill>
                  <a:schemeClr val="bg1"/>
                </a:solidFill>
              </a:rPr>
              <a:t>注入</a:t>
            </a:r>
            <a:endParaRPr lang="en-GB" sz="1500" dirty="0">
              <a:solidFill>
                <a:schemeClr val="bg1"/>
              </a:solidFill>
            </a:endParaRPr>
          </a:p>
        </p:txBody>
      </p:sp>
      <p:sp>
        <p:nvSpPr>
          <p:cNvPr id="10" name="Pentagon 25"/>
          <p:cNvSpPr/>
          <p:nvPr/>
        </p:nvSpPr>
        <p:spPr>
          <a:xfrm>
            <a:off x="446987" y="2867782"/>
            <a:ext cx="1305614" cy="1366765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r>
              <a:rPr lang="en-US" altLang="zh-CN" sz="1500" dirty="0">
                <a:solidFill>
                  <a:schemeClr val="bg1"/>
                </a:solidFill>
              </a:rPr>
              <a:t>XSS</a:t>
            </a:r>
            <a:endParaRPr lang="en-GB" sz="15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000">
        <p:random/>
      </p:transition>
    </mc:Choice>
    <mc:Fallback>
      <p:transition spd="slow" advTm="1000">
        <p:random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26526" y="135105"/>
            <a:ext cx="9267385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逻辑安全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38880" y="657700"/>
            <a:ext cx="8329382" cy="3322608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8880" y="4237189"/>
            <a:ext cx="8344623" cy="1714649"/>
          </a:xfrm>
          <a:prstGeom prst="rect">
            <a:avLst/>
          </a:prstGeom>
        </p:spPr>
      </p:pic>
      <p:sp>
        <p:nvSpPr>
          <p:cNvPr id="5" name="Pentagon 25"/>
          <p:cNvSpPr/>
          <p:nvPr/>
        </p:nvSpPr>
        <p:spPr>
          <a:xfrm>
            <a:off x="446987" y="699777"/>
            <a:ext cx="1305614" cy="3280531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r>
              <a:rPr lang="zh-CN" altLang="en-US" sz="1500" dirty="0">
                <a:solidFill>
                  <a:schemeClr val="bg1"/>
                </a:solidFill>
              </a:rPr>
              <a:t>身份验证</a:t>
            </a:r>
            <a:endParaRPr lang="en-GB" sz="1500" dirty="0">
              <a:solidFill>
                <a:schemeClr val="bg1"/>
              </a:solidFill>
            </a:endParaRPr>
          </a:p>
        </p:txBody>
      </p:sp>
      <p:sp>
        <p:nvSpPr>
          <p:cNvPr id="6" name="Pentagon 25"/>
          <p:cNvSpPr/>
          <p:nvPr/>
        </p:nvSpPr>
        <p:spPr>
          <a:xfrm>
            <a:off x="446987" y="4237189"/>
            <a:ext cx="1305614" cy="1714649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r>
              <a:rPr lang="zh-CN" altLang="en-US" sz="1500" dirty="0">
                <a:solidFill>
                  <a:schemeClr val="bg1"/>
                </a:solidFill>
              </a:rPr>
              <a:t>短信验证</a:t>
            </a:r>
            <a:endParaRPr lang="en-GB" sz="15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000">
        <p:random/>
      </p:transition>
    </mc:Choice>
    <mc:Fallback>
      <p:transition spd="slow" advTm="1000">
        <p:random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891842" y="135105"/>
            <a:ext cx="9267385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逻辑安全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2257" y="657700"/>
            <a:ext cx="8367485" cy="141744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2257" y="2086029"/>
            <a:ext cx="8367485" cy="4648377"/>
          </a:xfrm>
          <a:prstGeom prst="rect">
            <a:avLst/>
          </a:prstGeom>
        </p:spPr>
      </p:pic>
      <p:sp>
        <p:nvSpPr>
          <p:cNvPr id="6" name="Pentagon 25"/>
          <p:cNvSpPr/>
          <p:nvPr/>
        </p:nvSpPr>
        <p:spPr>
          <a:xfrm>
            <a:off x="370787" y="2114922"/>
            <a:ext cx="1305614" cy="4608598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r>
              <a:rPr lang="zh-CN" altLang="en-US" sz="1500" dirty="0">
                <a:solidFill>
                  <a:schemeClr val="bg1"/>
                </a:solidFill>
              </a:rPr>
              <a:t>密码管理</a:t>
            </a:r>
            <a:endParaRPr lang="en-GB" sz="1500" dirty="0">
              <a:solidFill>
                <a:schemeClr val="bg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648199" y="3864429"/>
            <a:ext cx="4005944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建议不要再用</a:t>
            </a:r>
            <a:r>
              <a:rPr lang="en-US" altLang="zh-CN" dirty="0">
                <a:solidFill>
                  <a:srgbClr val="FF0000"/>
                </a:solidFill>
              </a:rPr>
              <a:t>SHA1</a:t>
            </a:r>
            <a:r>
              <a:rPr lang="zh-CN" altLang="en-US" dirty="0">
                <a:solidFill>
                  <a:srgbClr val="FF0000"/>
                </a:solidFill>
              </a:rPr>
              <a:t>，改用</a:t>
            </a:r>
            <a:r>
              <a:rPr lang="en-US" altLang="zh-CN" dirty="0">
                <a:solidFill>
                  <a:srgbClr val="FF0000"/>
                </a:solidFill>
              </a:rPr>
              <a:t>SHA2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8" name="Pentagon 25"/>
          <p:cNvSpPr/>
          <p:nvPr/>
        </p:nvSpPr>
        <p:spPr>
          <a:xfrm>
            <a:off x="370787" y="648734"/>
            <a:ext cx="1305614" cy="1417443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r>
              <a:rPr lang="zh-CN" altLang="en-US" sz="1500" dirty="0">
                <a:solidFill>
                  <a:schemeClr val="bg1"/>
                </a:solidFill>
              </a:rPr>
              <a:t>验证码</a:t>
            </a:r>
            <a:endParaRPr lang="en-GB" sz="15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000">
        <p:random/>
      </p:transition>
    </mc:Choice>
    <mc:Fallback>
      <p:transition spd="slow" advTm="1000">
        <p:random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891842" y="135105"/>
            <a:ext cx="9267385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逻辑安全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Pentagon 25"/>
          <p:cNvSpPr/>
          <p:nvPr/>
        </p:nvSpPr>
        <p:spPr>
          <a:xfrm>
            <a:off x="370787" y="5061096"/>
            <a:ext cx="1305614" cy="1651538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r>
              <a:rPr lang="zh-CN" altLang="en-US" sz="1500" dirty="0">
                <a:solidFill>
                  <a:schemeClr val="bg1"/>
                </a:solidFill>
              </a:rPr>
              <a:t>访问控制</a:t>
            </a:r>
            <a:endParaRPr lang="en-GB" sz="1500" dirty="0">
              <a:solidFill>
                <a:schemeClr val="bg1"/>
              </a:solidFill>
            </a:endParaRPr>
          </a:p>
        </p:txBody>
      </p:sp>
      <p:sp>
        <p:nvSpPr>
          <p:cNvPr id="8" name="Pentagon 25"/>
          <p:cNvSpPr/>
          <p:nvPr/>
        </p:nvSpPr>
        <p:spPr>
          <a:xfrm>
            <a:off x="370787" y="648734"/>
            <a:ext cx="1305614" cy="4009813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r>
              <a:rPr lang="zh-CN" altLang="en-US" sz="1500" dirty="0">
                <a:solidFill>
                  <a:schemeClr val="bg1"/>
                </a:solidFill>
              </a:rPr>
              <a:t>会话安全</a:t>
            </a:r>
            <a:endParaRPr lang="en-GB" sz="1500" dirty="0">
              <a:solidFill>
                <a:schemeClr val="bg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5861" y="657700"/>
            <a:ext cx="8321761" cy="4000847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3482" y="4990365"/>
            <a:ext cx="8314140" cy="17222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000">
        <p:random/>
      </p:transition>
    </mc:Choice>
    <mc:Fallback>
      <p:transition spd="slow" advTm="1000">
        <p:random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891842" y="135105"/>
            <a:ext cx="9267385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逻辑安全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Pentagon 25"/>
          <p:cNvSpPr/>
          <p:nvPr/>
        </p:nvSpPr>
        <p:spPr>
          <a:xfrm>
            <a:off x="370787" y="4046618"/>
            <a:ext cx="1305614" cy="2206779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r>
              <a:rPr lang="zh-CN" altLang="en-US" sz="1500" dirty="0">
                <a:solidFill>
                  <a:schemeClr val="bg1"/>
                </a:solidFill>
              </a:rPr>
              <a:t>接口安全</a:t>
            </a:r>
            <a:endParaRPr lang="en-GB" sz="1500" dirty="0">
              <a:solidFill>
                <a:schemeClr val="bg1"/>
              </a:solidFill>
            </a:endParaRPr>
          </a:p>
        </p:txBody>
      </p:sp>
      <p:sp>
        <p:nvSpPr>
          <p:cNvPr id="8" name="Pentagon 25"/>
          <p:cNvSpPr/>
          <p:nvPr/>
        </p:nvSpPr>
        <p:spPr>
          <a:xfrm>
            <a:off x="370787" y="648734"/>
            <a:ext cx="1305614" cy="2780266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r>
              <a:rPr lang="zh-CN" altLang="en-US" sz="1500" dirty="0">
                <a:solidFill>
                  <a:schemeClr val="bg1"/>
                </a:solidFill>
              </a:rPr>
              <a:t>文件上传</a:t>
            </a:r>
            <a:endParaRPr lang="en-GB" sz="1500" dirty="0">
              <a:solidFill>
                <a:schemeClr val="bg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97366" y="601735"/>
            <a:ext cx="8329382" cy="282726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2608" y="3883372"/>
            <a:ext cx="8314140" cy="23700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000">
        <p:random/>
      </p:transition>
    </mc:Choice>
    <mc:Fallback>
      <p:transition spd="slow" advTm="1000">
        <p:random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891842" y="135105"/>
            <a:ext cx="9267385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数据安全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Pentagon 25"/>
          <p:cNvSpPr/>
          <p:nvPr/>
        </p:nvSpPr>
        <p:spPr>
          <a:xfrm>
            <a:off x="370787" y="4463708"/>
            <a:ext cx="1305614" cy="1598570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r>
              <a:rPr lang="zh-CN" altLang="en-US" sz="1500" dirty="0">
                <a:solidFill>
                  <a:schemeClr val="bg1"/>
                </a:solidFill>
              </a:rPr>
              <a:t>日志规范</a:t>
            </a:r>
            <a:endParaRPr lang="en-GB" sz="1500" dirty="0">
              <a:solidFill>
                <a:schemeClr val="bg1"/>
              </a:solidFill>
            </a:endParaRPr>
          </a:p>
        </p:txBody>
      </p:sp>
      <p:sp>
        <p:nvSpPr>
          <p:cNvPr id="8" name="Pentagon 25"/>
          <p:cNvSpPr/>
          <p:nvPr/>
        </p:nvSpPr>
        <p:spPr>
          <a:xfrm>
            <a:off x="370787" y="795722"/>
            <a:ext cx="1305614" cy="2933954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r>
              <a:rPr lang="zh-CN" altLang="en-US" sz="1500" dirty="0">
                <a:solidFill>
                  <a:schemeClr val="bg1"/>
                </a:solidFill>
              </a:rPr>
              <a:t>敏感信息</a:t>
            </a:r>
            <a:endParaRPr lang="en-GB" sz="1500" dirty="0">
              <a:solidFill>
                <a:schemeClr val="bg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0900" y="835031"/>
            <a:ext cx="8329382" cy="2933954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0900" y="4463708"/>
            <a:ext cx="8321761" cy="170702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000">
        <p:random/>
      </p:transition>
    </mc:Choice>
    <mc:Fallback>
      <p:transition spd="slow" advTm="1000">
        <p:random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891842" y="135105"/>
            <a:ext cx="9267385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数据安全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Pentagon 25"/>
          <p:cNvSpPr/>
          <p:nvPr/>
        </p:nvSpPr>
        <p:spPr>
          <a:xfrm>
            <a:off x="370787" y="1481516"/>
            <a:ext cx="1305614" cy="4057296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r>
              <a:rPr lang="zh-CN" altLang="en-US" sz="1500" dirty="0">
                <a:solidFill>
                  <a:schemeClr val="bg1"/>
                </a:solidFill>
              </a:rPr>
              <a:t>异常处理</a:t>
            </a:r>
            <a:endParaRPr lang="en-GB" sz="1500" dirty="0">
              <a:solidFill>
                <a:schemeClr val="bg1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5862" y="1574516"/>
            <a:ext cx="8321761" cy="38712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000">
        <p:random/>
      </p:transition>
    </mc:Choice>
    <mc:Fallback>
      <p:transition spd="slow" advTm="1000">
        <p:random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5"/>
          <p:cNvSpPr txBox="1">
            <a:spLocks noChangeArrowheads="1"/>
          </p:cNvSpPr>
          <p:nvPr/>
        </p:nvSpPr>
        <p:spPr bwMode="auto">
          <a:xfrm>
            <a:off x="2786886" y="3038550"/>
            <a:ext cx="4299714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r>
              <a:rPr lang="zh-CN" altLang="en-US" sz="3600" b="1" dirty="0">
                <a:solidFill>
                  <a:schemeClr val="accent4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圈复杂度</a:t>
            </a:r>
            <a:endParaRPr lang="en-US" altLang="zh-CN" sz="3600" b="1" dirty="0">
              <a:solidFill>
                <a:schemeClr val="accent4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2786887" y="3802631"/>
            <a:ext cx="2921455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2786887" y="3920382"/>
            <a:ext cx="1652606" cy="35331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latin typeface="+mj-lt"/>
              </a:rPr>
              <a:t>PART FOUR</a:t>
            </a:r>
            <a:endParaRPr lang="zh-CN" altLang="en-US" sz="1600" dirty="0">
              <a:latin typeface="+mj-lt"/>
            </a:endParaRPr>
          </a:p>
        </p:txBody>
      </p:sp>
      <p:sp>
        <p:nvSpPr>
          <p:cNvPr id="15" name="Text Box 7"/>
          <p:cNvSpPr txBox="1">
            <a:spLocks noChangeArrowheads="1"/>
          </p:cNvSpPr>
          <p:nvPr/>
        </p:nvSpPr>
        <p:spPr bwMode="auto">
          <a:xfrm>
            <a:off x="1385807" y="2376850"/>
            <a:ext cx="1154430" cy="261429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60923" tIns="30461" rIns="60923" bIns="30461">
            <a:spAutoFit/>
          </a:bodyPr>
          <a:lstStyle/>
          <a:p>
            <a:pPr algn="r" defTabSz="1087755"/>
            <a:r>
              <a:rPr lang="en-CA" sz="16600" spc="-151" dirty="0">
                <a:solidFill>
                  <a:schemeClr val="accent4"/>
                </a:solidFill>
                <a:latin typeface="Impact" panose="020B0806030902050204" pitchFamily="34" charset="0"/>
                <a:ea typeface="微软雅黑" panose="020B0503020204020204" pitchFamily="34" charset="-122"/>
                <a:cs typeface="IrisUPC" pitchFamily="34" charset="-34"/>
              </a:rPr>
              <a:t>4</a:t>
            </a:r>
            <a:endParaRPr lang="en-CA" sz="16600" spc="-151" dirty="0">
              <a:solidFill>
                <a:schemeClr val="accent4"/>
              </a:solidFill>
              <a:latin typeface="Impact" panose="020B0806030902050204" pitchFamily="34" charset="0"/>
              <a:ea typeface="微软雅黑" panose="020B0503020204020204" pitchFamily="34" charset="-122"/>
              <a:cs typeface="IrisUPC" pitchFamily="34" charset="-34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1640" y="1595088"/>
            <a:ext cx="5051955" cy="44150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0">
        <p14:prism isContent="1"/>
      </p:transition>
    </mc:Choice>
    <mc:Fallback>
      <p:transition spd="slow" advClick="0" advTm="0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2798" y="865449"/>
            <a:ext cx="4905234" cy="2625223"/>
          </a:xfrm>
          <a:prstGeom prst="rect">
            <a:avLst/>
          </a:prstGeom>
          <a:solidFill>
            <a:srgbClr val="FF0000"/>
          </a:solidFill>
        </p:spPr>
      </p:pic>
      <p:sp>
        <p:nvSpPr>
          <p:cNvPr id="4" name="文本框 3"/>
          <p:cNvSpPr txBox="1"/>
          <p:nvPr/>
        </p:nvSpPr>
        <p:spPr>
          <a:xfrm>
            <a:off x="139366" y="1783728"/>
            <a:ext cx="1313077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需要多少个测试用例来覆盖所有代码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91842" y="135105"/>
            <a:ext cx="9267385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什么是圈复杂度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0543" y="919798"/>
            <a:ext cx="4323376" cy="2179672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0543" y="3361568"/>
            <a:ext cx="4323376" cy="2316906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8650" y="4366961"/>
            <a:ext cx="4323376" cy="21935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000">
        <p:random/>
      </p:transition>
    </mc:Choice>
    <mc:Fallback>
      <p:transition spd="slow" advTm="1000">
        <p:random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218" y="1396970"/>
            <a:ext cx="5961905" cy="3171429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891842" y="135105"/>
            <a:ext cx="9267385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基于圈复杂度的风险分析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80"/>
          <p:cNvSpPr txBox="1"/>
          <p:nvPr/>
        </p:nvSpPr>
        <p:spPr>
          <a:xfrm>
            <a:off x="7408728" y="2481072"/>
            <a:ext cx="297942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把圈复杂度控制在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以内，</a:t>
            </a: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以提高代码的可维护性</a:t>
            </a:r>
            <a:endParaRPr lang="zh-CN" altLang="en-US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000">
        <p:random/>
      </p:transition>
    </mc:Choice>
    <mc:Fallback>
      <p:transition spd="slow" advTm="1000">
        <p:random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891842" y="135105"/>
            <a:ext cx="9267385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控制圈复杂度</a:t>
            </a:r>
            <a:r>
              <a:rPr lang="en-US" altLang="zh-CN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--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重构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90600" y="1038700"/>
            <a:ext cx="9481457" cy="4030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/>
              <a:t>可以直接降低圈复杂度的9种重构技术（针对结构化编程）：</a:t>
            </a:r>
            <a:endParaRPr lang="zh-CN" altLang="en-US" sz="16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600" dirty="0"/>
              <a:t>Composing Methods（重新组织你的函数）</a:t>
            </a:r>
            <a:endParaRPr lang="zh-CN" altLang="en-US" sz="1600" dirty="0"/>
          </a:p>
          <a:p>
            <a:r>
              <a:rPr lang="zh-CN" altLang="en-US" sz="1600" dirty="0"/>
              <a:t>	Extract Method（提炼函数）</a:t>
            </a:r>
            <a:endParaRPr lang="zh-CN" altLang="en-US" sz="1600" dirty="0"/>
          </a:p>
          <a:p>
            <a:r>
              <a:rPr lang="zh-CN" altLang="en-US" sz="1600" dirty="0"/>
              <a:t>	Substitute Algorithm（替换你的算法）</a:t>
            </a:r>
            <a:endParaRPr lang="zh-CN" altLang="en-US" sz="16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600" dirty="0"/>
              <a:t>Simplifying Conditional Expressions（简化条件表达式）</a:t>
            </a:r>
            <a:endParaRPr lang="zh-CN" altLang="en-US" sz="1600" dirty="0"/>
          </a:p>
          <a:p>
            <a:r>
              <a:rPr lang="zh-CN" altLang="en-US" sz="1600" dirty="0"/>
              <a:t>	Decompose Conditional（分解条件式）</a:t>
            </a:r>
            <a:endParaRPr lang="zh-CN" altLang="en-US" sz="1600" dirty="0"/>
          </a:p>
          <a:p>
            <a:r>
              <a:rPr lang="zh-CN" altLang="en-US" sz="1600" dirty="0"/>
              <a:t>	Consolidate Conditional Expression（合并条件式）</a:t>
            </a:r>
            <a:endParaRPr lang="zh-CN" altLang="en-US" sz="1600" dirty="0"/>
          </a:p>
          <a:p>
            <a:r>
              <a:rPr lang="zh-CN" altLang="en-US" sz="1600" dirty="0"/>
              <a:t>	Consolidate Duplicate Conditional Fragments（合并重复的条件片断）</a:t>
            </a:r>
            <a:endParaRPr lang="zh-CN" altLang="en-US" sz="1600" dirty="0"/>
          </a:p>
          <a:p>
            <a:r>
              <a:rPr lang="zh-CN" altLang="en-US" sz="1600" dirty="0"/>
              <a:t>	Remove Control Flag（移除控制标记）</a:t>
            </a:r>
            <a:endParaRPr lang="zh-CN" altLang="en-US" sz="16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600" dirty="0"/>
              <a:t>Making Method Calls Simpler（简化函数调用）</a:t>
            </a:r>
            <a:endParaRPr lang="zh-CN" altLang="en-US" sz="1600" dirty="0"/>
          </a:p>
          <a:p>
            <a:r>
              <a:rPr lang="zh-CN" altLang="en-US" sz="1600" dirty="0"/>
              <a:t>	Separate Query from Modifier（将查询函数和修改函数分离）</a:t>
            </a:r>
            <a:endParaRPr lang="zh-CN" altLang="en-US" sz="1600" dirty="0"/>
          </a:p>
          <a:p>
            <a:r>
              <a:rPr lang="zh-CN" altLang="en-US" sz="1600" dirty="0"/>
              <a:t>	Parameterize Method（令函数携带参数）</a:t>
            </a:r>
            <a:endParaRPr lang="zh-CN" altLang="en-US" sz="1600" dirty="0"/>
          </a:p>
          <a:p>
            <a:r>
              <a:rPr lang="zh-CN" altLang="en-US" sz="1600" dirty="0"/>
              <a:t>	Replace Parameter with Explicit Methods（以明确函数取代参数）</a:t>
            </a:r>
            <a:endParaRPr lang="zh-CN" altLang="en-US" sz="1600" dirty="0"/>
          </a:p>
          <a:p>
            <a:r>
              <a:rPr lang="zh-CN" altLang="en-US" sz="1600" dirty="0"/>
              <a:t>	                      </a:t>
            </a:r>
            <a:endParaRPr lang="en-US" altLang="zh-CN" sz="1600" dirty="0"/>
          </a:p>
          <a:p>
            <a:r>
              <a:rPr lang="en-US" altLang="zh-CN" sz="1600" dirty="0"/>
              <a:t>                                                                            </a:t>
            </a:r>
            <a:r>
              <a:rPr lang="zh-CN" altLang="en-US" sz="1600" dirty="0">
                <a:solidFill>
                  <a:schemeClr val="accent2">
                    <a:lumMod val="75000"/>
                  </a:schemeClr>
                </a:solidFill>
              </a:rPr>
              <a:t>--- Refactoring: Improving the Design of Existing Code</a:t>
            </a:r>
            <a:endParaRPr lang="zh-CN" altLang="en-US" sz="1600" dirty="0">
              <a:solidFill>
                <a:schemeClr val="accent2">
                  <a:lumMod val="75000"/>
                </a:schemeClr>
              </a:solidFill>
            </a:endParaRPr>
          </a:p>
          <a:p>
            <a:endParaRPr lang="zh-CN" altLang="en-US" sz="1600" dirty="0"/>
          </a:p>
        </p:txBody>
      </p:sp>
      <p:sp>
        <p:nvSpPr>
          <p:cNvPr id="9" name="矩形 8"/>
          <p:cNvSpPr/>
          <p:nvPr/>
        </p:nvSpPr>
        <p:spPr>
          <a:xfrm>
            <a:off x="990600" y="5154192"/>
            <a:ext cx="7456714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针对面向对象编程：</a:t>
            </a:r>
            <a:endParaRPr lang="zh-CN" altLang="en-US" dirty="0"/>
          </a:p>
          <a:p>
            <a:r>
              <a:rPr lang="zh-CN" altLang="en-US" dirty="0"/>
              <a:t>	Replace Conditional with Polymorphism（以多态取代条件式）</a:t>
            </a:r>
            <a:endParaRPr lang="zh-CN" altLang="en-US" dirty="0"/>
          </a:p>
        </p:txBody>
      </p:sp>
      <p:sp>
        <p:nvSpPr>
          <p:cNvPr id="10" name="Pentagon 25"/>
          <p:cNvSpPr/>
          <p:nvPr/>
        </p:nvSpPr>
        <p:spPr>
          <a:xfrm>
            <a:off x="258301" y="1125062"/>
            <a:ext cx="455636" cy="273084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r>
              <a:rPr lang="en-US" sz="1500" dirty="0">
                <a:solidFill>
                  <a:schemeClr val="bg1"/>
                </a:solidFill>
              </a:rPr>
              <a:t>01</a:t>
            </a:r>
            <a:endParaRPr lang="en-GB" sz="1500" dirty="0">
              <a:solidFill>
                <a:schemeClr val="bg1"/>
              </a:solidFill>
            </a:endParaRPr>
          </a:p>
        </p:txBody>
      </p:sp>
      <p:sp>
        <p:nvSpPr>
          <p:cNvPr id="11" name="Pentagon 25"/>
          <p:cNvSpPr/>
          <p:nvPr/>
        </p:nvSpPr>
        <p:spPr>
          <a:xfrm>
            <a:off x="287220" y="5204273"/>
            <a:ext cx="455636" cy="273084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r>
              <a:rPr lang="en-US" sz="1500" dirty="0">
                <a:solidFill>
                  <a:schemeClr val="bg1"/>
                </a:solidFill>
              </a:rPr>
              <a:t>02</a:t>
            </a:r>
            <a:endParaRPr lang="en-GB" sz="15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000">
        <p:random/>
      </p:transition>
    </mc:Choice>
    <mc:Fallback>
      <p:transition spd="slow" advTm="1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891842" y="135105"/>
            <a:ext cx="9267385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Extract Method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（提炼函数）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6270172" y="705430"/>
            <a:ext cx="5845628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 algn="l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algn="l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algn="l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algn="l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algn="l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1500" dirty="0">
                <a:ea typeface="华文细黑" panose="02010600040101010101" pitchFamily="2" charset="-122"/>
              </a:rPr>
              <a:t>将这段代码放进一个独立函数中，并让函数名称解释该函数的用途</a:t>
            </a:r>
            <a:endParaRPr lang="zh-CN" altLang="en-US" sz="1500" dirty="0">
              <a:ea typeface="华文细黑" panose="02010600040101010101" pitchFamily="2" charset="-122"/>
            </a:endParaRPr>
          </a:p>
        </p:txBody>
      </p:sp>
      <p:sp>
        <p:nvSpPr>
          <p:cNvPr id="7" name="AutoShape 8"/>
          <p:cNvSpPr>
            <a:spLocks noChangeArrowheads="1"/>
          </p:cNvSpPr>
          <p:nvPr/>
        </p:nvSpPr>
        <p:spPr bwMode="auto">
          <a:xfrm>
            <a:off x="5172167" y="2995784"/>
            <a:ext cx="1010919" cy="673893"/>
          </a:xfrm>
          <a:prstGeom prst="rightArrow">
            <a:avLst>
              <a:gd name="adj1" fmla="val 50000"/>
              <a:gd name="adj2" fmla="val 3539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8" name="Text Box 9"/>
          <p:cNvSpPr txBox="1">
            <a:spLocks noChangeArrowheads="1"/>
          </p:cNvSpPr>
          <p:nvPr/>
        </p:nvSpPr>
        <p:spPr bwMode="auto">
          <a:xfrm>
            <a:off x="582613" y="708480"/>
            <a:ext cx="3802380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 algn="l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algn="l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algn="l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algn="l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algn="l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1500" dirty="0">
                <a:ea typeface="华文细黑" panose="02010600040101010101" pitchFamily="2" charset="-122"/>
              </a:rPr>
              <a:t>你有一段代码可以被组织在一起并独立出来</a:t>
            </a:r>
            <a:endParaRPr lang="zh-CN" altLang="en-US" sz="1500" dirty="0">
              <a:ea typeface="华文细黑" panose="0201060004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7531" y="1182712"/>
            <a:ext cx="4527550" cy="389255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1300" dirty="0"/>
              <a:t>void printOwing(double previousAmount) {</a:t>
            </a:r>
            <a:endParaRPr lang="zh-CN" altLang="en-US" sz="1300" dirty="0"/>
          </a:p>
          <a:p>
            <a:r>
              <a:rPr lang="zh-CN" altLang="en-US" sz="1300" dirty="0"/>
              <a:t>    Enumeration e = _orders.elements();</a:t>
            </a:r>
            <a:endParaRPr lang="zh-CN" altLang="en-US" sz="1300" dirty="0"/>
          </a:p>
          <a:p>
            <a:r>
              <a:rPr lang="zh-CN" altLang="en-US" sz="1300" dirty="0"/>
              <a:t>    double outstanding = previousAmount * 1.2;</a:t>
            </a:r>
            <a:endParaRPr lang="zh-CN" altLang="en-US" sz="1300" dirty="0"/>
          </a:p>
          <a:p>
            <a:r>
              <a:rPr lang="zh-CN" altLang="en-US" sz="1300" dirty="0"/>
              <a:t>    </a:t>
            </a:r>
            <a:endParaRPr lang="zh-CN" altLang="en-US" sz="1300" dirty="0"/>
          </a:p>
          <a:p>
            <a:r>
              <a:rPr lang="zh-CN" altLang="en-US" sz="1300" dirty="0"/>
              <a:t>      // print banner</a:t>
            </a:r>
            <a:endParaRPr lang="zh-CN" altLang="en-US" sz="1300" dirty="0"/>
          </a:p>
          <a:p>
            <a:r>
              <a:rPr lang="zh-CN" altLang="en-US" sz="1300" dirty="0"/>
              <a:t>    System.out.println ("**************************");</a:t>
            </a:r>
            <a:endParaRPr lang="zh-CN" altLang="en-US" sz="1300" dirty="0"/>
          </a:p>
          <a:p>
            <a:r>
              <a:rPr lang="zh-CN" altLang="en-US" sz="1300" dirty="0"/>
              <a:t>    System.out.println ("***** Customer Owes ******");</a:t>
            </a:r>
            <a:endParaRPr lang="zh-CN" altLang="en-US" sz="1300" dirty="0"/>
          </a:p>
          <a:p>
            <a:r>
              <a:rPr lang="zh-CN" altLang="en-US" sz="1300" dirty="0"/>
              <a:t>    System.out.println ("**************************");</a:t>
            </a:r>
            <a:endParaRPr lang="zh-CN" altLang="en-US" sz="1300" dirty="0"/>
          </a:p>
          <a:p>
            <a:endParaRPr lang="zh-CN" altLang="en-US" sz="1300" dirty="0"/>
          </a:p>
          <a:p>
            <a:r>
              <a:rPr lang="zh-CN" altLang="en-US" sz="1300" dirty="0"/>
              <a:t>    // calculate outstanding</a:t>
            </a:r>
            <a:endParaRPr lang="zh-CN" altLang="en-US" sz="1300" dirty="0"/>
          </a:p>
          <a:p>
            <a:r>
              <a:rPr lang="zh-CN" altLang="en-US" sz="1300" dirty="0"/>
              <a:t>    while (e.hasMoreElements())  {</a:t>
            </a:r>
            <a:endParaRPr lang="zh-CN" altLang="en-US" sz="1300" dirty="0"/>
          </a:p>
          <a:p>
            <a:r>
              <a:rPr lang="zh-CN" altLang="en-US" sz="1300" dirty="0"/>
              <a:t>        Order each = (Order) e.nextElement();</a:t>
            </a:r>
            <a:endParaRPr lang="zh-CN" altLang="en-US" sz="1300" dirty="0"/>
          </a:p>
          <a:p>
            <a:r>
              <a:rPr lang="zh-CN" altLang="en-US" sz="1300" dirty="0"/>
              <a:t>        outstanding += each.getAmount();</a:t>
            </a:r>
            <a:endParaRPr lang="zh-CN" altLang="en-US" sz="1300" dirty="0"/>
          </a:p>
          <a:p>
            <a:r>
              <a:rPr lang="zh-CN" altLang="en-US" sz="1300" dirty="0"/>
              <a:t>    }</a:t>
            </a:r>
            <a:endParaRPr lang="zh-CN" altLang="en-US" sz="1300" dirty="0"/>
          </a:p>
          <a:p>
            <a:endParaRPr lang="zh-CN" altLang="en-US" sz="1300" dirty="0"/>
          </a:p>
          <a:p>
            <a:r>
              <a:rPr lang="zh-CN" altLang="en-US" sz="1300" dirty="0"/>
              <a:t>    //print details</a:t>
            </a:r>
            <a:endParaRPr lang="zh-CN" altLang="en-US" sz="1300" dirty="0"/>
          </a:p>
          <a:p>
            <a:r>
              <a:rPr lang="zh-CN" altLang="en-US" sz="1300" dirty="0"/>
              <a:t>    System.out.println ("name:" + _name);</a:t>
            </a:r>
            <a:endParaRPr lang="zh-CN" altLang="en-US" sz="1300" dirty="0"/>
          </a:p>
          <a:p>
            <a:r>
              <a:rPr lang="zh-CN" altLang="en-US" sz="1300" dirty="0"/>
              <a:t>    System.out.println ("amount" + outstanding);</a:t>
            </a:r>
            <a:endParaRPr lang="zh-CN" altLang="en-US" sz="1300" dirty="0"/>
          </a:p>
          <a:p>
            <a:r>
              <a:rPr lang="zh-CN" altLang="en-US" sz="1300" dirty="0"/>
              <a:t>}</a:t>
            </a:r>
            <a:endParaRPr lang="zh-CN" altLang="en-US" sz="1300" dirty="0"/>
          </a:p>
        </p:txBody>
      </p:sp>
      <p:sp>
        <p:nvSpPr>
          <p:cNvPr id="9" name="矩形 8"/>
          <p:cNvSpPr/>
          <p:nvPr/>
        </p:nvSpPr>
        <p:spPr>
          <a:xfrm>
            <a:off x="6270172" y="1076325"/>
            <a:ext cx="5569723" cy="529272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1300" dirty="0"/>
              <a:t>void printOwing(double previousAmount) {</a:t>
            </a:r>
            <a:endParaRPr lang="zh-CN" altLang="en-US" sz="1300" dirty="0"/>
          </a:p>
          <a:p>
            <a:r>
              <a:rPr lang="zh-CN" altLang="en-US" sz="1300" dirty="0"/>
              <a:t>    printBanner();</a:t>
            </a:r>
            <a:endParaRPr lang="zh-CN" altLang="en-US" sz="1300" dirty="0"/>
          </a:p>
          <a:p>
            <a:r>
              <a:rPr lang="zh-CN" altLang="en-US" sz="1300" dirty="0"/>
              <a:t>    double outstanding = getOutstanding(previousAmount * 1.2);</a:t>
            </a:r>
            <a:endParaRPr lang="zh-CN" altLang="en-US" sz="1300" dirty="0"/>
          </a:p>
          <a:p>
            <a:r>
              <a:rPr lang="zh-CN" altLang="en-US" sz="1300" dirty="0"/>
              <a:t>    printDetails(outstanding);</a:t>
            </a:r>
            <a:endParaRPr lang="zh-CN" altLang="en-US" sz="1300" dirty="0"/>
          </a:p>
          <a:p>
            <a:r>
              <a:rPr lang="zh-CN" altLang="en-US" sz="1300" dirty="0"/>
              <a:t>}</a:t>
            </a:r>
            <a:endParaRPr lang="zh-CN" altLang="en-US" sz="1300" dirty="0"/>
          </a:p>
          <a:p>
            <a:endParaRPr lang="zh-CN" altLang="en-US" sz="1300" dirty="0"/>
          </a:p>
          <a:p>
            <a:r>
              <a:rPr lang="zh-CN" altLang="en-US" sz="1300" dirty="0"/>
              <a:t>void printBanner() {</a:t>
            </a:r>
            <a:endParaRPr lang="zh-CN" altLang="en-US" sz="1300" dirty="0"/>
          </a:p>
          <a:p>
            <a:r>
              <a:rPr lang="zh-CN" altLang="en-US" sz="1300" dirty="0"/>
              <a:t>    // print banner</a:t>
            </a:r>
            <a:endParaRPr lang="zh-CN" altLang="en-US" sz="1300" dirty="0"/>
          </a:p>
          <a:p>
            <a:r>
              <a:rPr lang="zh-CN" altLang="en-US" sz="1300" dirty="0"/>
              <a:t>    System.out.println ("**************************");</a:t>
            </a:r>
            <a:endParaRPr lang="zh-CN" altLang="en-US" sz="1300" dirty="0"/>
          </a:p>
          <a:p>
            <a:r>
              <a:rPr lang="zh-CN" altLang="en-US" sz="1300" dirty="0"/>
              <a:t>    System.out.println ("***** Customer Owes ******");</a:t>
            </a:r>
            <a:endParaRPr lang="zh-CN" altLang="en-US" sz="1300" dirty="0"/>
          </a:p>
          <a:p>
            <a:r>
              <a:rPr lang="zh-CN" altLang="en-US" sz="1300" dirty="0"/>
              <a:t>}</a:t>
            </a:r>
            <a:endParaRPr lang="zh-CN" altLang="en-US" sz="1300" dirty="0"/>
          </a:p>
          <a:p>
            <a:endParaRPr lang="zh-CN" altLang="en-US" sz="1300" dirty="0"/>
          </a:p>
          <a:p>
            <a:r>
              <a:rPr lang="zh-CN" altLang="en-US" sz="1300" dirty="0"/>
              <a:t>double getOutstanding(double initialValue) {</a:t>
            </a:r>
            <a:endParaRPr lang="zh-CN" altLang="en-US" sz="1300" dirty="0"/>
          </a:p>
          <a:p>
            <a:r>
              <a:rPr lang="zh-CN" altLang="en-US" sz="1300" dirty="0"/>
              <a:t>    double result = initialValue;</a:t>
            </a:r>
            <a:endParaRPr lang="zh-CN" altLang="en-US" sz="1300" dirty="0"/>
          </a:p>
          <a:p>
            <a:r>
              <a:rPr lang="zh-CN" altLang="en-US" sz="1300" dirty="0"/>
              <a:t>    Enumeration e = _orders.elements();</a:t>
            </a:r>
            <a:endParaRPr lang="zh-CN" altLang="en-US" sz="1300" dirty="0"/>
          </a:p>
          <a:p>
            <a:r>
              <a:rPr lang="zh-CN" altLang="en-US" sz="1300" dirty="0"/>
              <a:t>    while (e.hasMoreElements())  {</a:t>
            </a:r>
            <a:endParaRPr lang="zh-CN" altLang="en-US" sz="1300" dirty="0"/>
          </a:p>
          <a:p>
            <a:r>
              <a:rPr lang="zh-CN" altLang="en-US" sz="1300" dirty="0"/>
              <a:t>        Order each = (Order) e.nextElement();</a:t>
            </a:r>
            <a:endParaRPr lang="zh-CN" altLang="en-US" sz="1300" dirty="0"/>
          </a:p>
          <a:p>
            <a:r>
              <a:rPr lang="zh-CN" altLang="en-US" sz="1300" dirty="0"/>
              <a:t>        result += each.getAmount();</a:t>
            </a:r>
            <a:endParaRPr lang="zh-CN" altLang="en-US" sz="1300" dirty="0"/>
          </a:p>
          <a:p>
            <a:r>
              <a:rPr lang="zh-CN" altLang="en-US" sz="1300" dirty="0"/>
              <a:t>    }</a:t>
            </a:r>
            <a:endParaRPr lang="zh-CN" altLang="en-US" sz="1300" dirty="0"/>
          </a:p>
          <a:p>
            <a:r>
              <a:rPr lang="zh-CN" altLang="en-US" sz="1300" dirty="0"/>
              <a:t>    return result;</a:t>
            </a:r>
            <a:endParaRPr lang="zh-CN" altLang="en-US" sz="1300" dirty="0"/>
          </a:p>
          <a:p>
            <a:r>
              <a:rPr lang="zh-CN" altLang="en-US" sz="1300" dirty="0"/>
              <a:t>}</a:t>
            </a:r>
            <a:endParaRPr lang="zh-CN" altLang="en-US" sz="1300" dirty="0"/>
          </a:p>
          <a:p>
            <a:endParaRPr lang="zh-CN" altLang="en-US" sz="1300" dirty="0"/>
          </a:p>
          <a:p>
            <a:r>
              <a:rPr lang="zh-CN" altLang="en-US" sz="1300" dirty="0"/>
              <a:t>void printDetails (double outstanding){</a:t>
            </a:r>
            <a:endParaRPr lang="zh-CN" altLang="en-US" sz="1300" dirty="0"/>
          </a:p>
          <a:p>
            <a:r>
              <a:rPr lang="zh-CN" altLang="en-US" sz="1300" dirty="0"/>
              <a:t>    System.out.println ("name:" + _name);</a:t>
            </a:r>
            <a:endParaRPr lang="zh-CN" altLang="en-US" sz="1300" dirty="0"/>
          </a:p>
          <a:p>
            <a:r>
              <a:rPr lang="zh-CN" altLang="en-US" sz="1300" dirty="0"/>
              <a:t>    System.out.println ("amount" + outstanding);</a:t>
            </a:r>
            <a:endParaRPr lang="zh-CN" altLang="en-US" sz="1300" dirty="0"/>
          </a:p>
          <a:p>
            <a:r>
              <a:rPr lang="zh-CN" altLang="en-US" sz="1300" dirty="0"/>
              <a:t>}</a:t>
            </a:r>
            <a:endParaRPr lang="zh-CN" alt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000">
        <p:random/>
      </p:transition>
    </mc:Choice>
    <mc:Fallback>
      <p:transition spd="slow" advTm="1000">
        <p:random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891842" y="135105"/>
            <a:ext cx="9267385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Substitute Algorithm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（替换你的算法）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AutoShape 8"/>
          <p:cNvSpPr>
            <a:spLocks noChangeArrowheads="1"/>
          </p:cNvSpPr>
          <p:nvPr/>
        </p:nvSpPr>
        <p:spPr bwMode="auto">
          <a:xfrm>
            <a:off x="5271477" y="3187796"/>
            <a:ext cx="925286" cy="673893"/>
          </a:xfrm>
          <a:prstGeom prst="rightArrow">
            <a:avLst>
              <a:gd name="adj1" fmla="val 50000"/>
              <a:gd name="adj2" fmla="val 3539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7531" y="1672572"/>
            <a:ext cx="4527550" cy="37846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500" dirty="0"/>
              <a:t>String </a:t>
            </a:r>
            <a:r>
              <a:rPr lang="en-US" altLang="zh-CN" sz="1500" dirty="0" err="1"/>
              <a:t>foundPerson</a:t>
            </a:r>
            <a:r>
              <a:rPr lang="en-US" altLang="zh-CN" sz="1500" dirty="0"/>
              <a:t>(String[] people)</a:t>
            </a:r>
            <a:endParaRPr lang="en-US" altLang="zh-CN" sz="1500" dirty="0"/>
          </a:p>
          <a:p>
            <a:r>
              <a:rPr lang="en-US" altLang="zh-CN" sz="1500" dirty="0"/>
              <a:t>{</a:t>
            </a:r>
            <a:endParaRPr lang="en-US" altLang="zh-CN" sz="1500" dirty="0"/>
          </a:p>
          <a:p>
            <a:r>
              <a:rPr lang="en-US" altLang="zh-CN" sz="1500" dirty="0"/>
              <a:t>    for (</a:t>
            </a:r>
            <a:r>
              <a:rPr lang="en-US" altLang="zh-CN" sz="1500" dirty="0" err="1"/>
              <a:t>int</a:t>
            </a:r>
            <a:r>
              <a:rPr lang="en-US" altLang="zh-CN" sz="1500" dirty="0"/>
              <a:t> </a:t>
            </a:r>
            <a:r>
              <a:rPr lang="en-US" altLang="zh-CN" sz="1500" dirty="0" err="1"/>
              <a:t>i</a:t>
            </a:r>
            <a:r>
              <a:rPr lang="en-US" altLang="zh-CN" sz="1500" dirty="0"/>
              <a:t> = 0; </a:t>
            </a:r>
            <a:r>
              <a:rPr lang="en-US" altLang="zh-CN" sz="1500" dirty="0" err="1"/>
              <a:t>i</a:t>
            </a:r>
            <a:r>
              <a:rPr lang="en-US" altLang="zh-CN" sz="1500" dirty="0"/>
              <a:t> &lt; </a:t>
            </a:r>
            <a:r>
              <a:rPr lang="en-US" altLang="zh-CN" sz="1500" dirty="0" err="1"/>
              <a:t>people.length</a:t>
            </a:r>
            <a:r>
              <a:rPr lang="en-US" altLang="zh-CN" sz="1500" dirty="0"/>
              <a:t>; </a:t>
            </a:r>
            <a:r>
              <a:rPr lang="en-US" altLang="zh-CN" sz="1500" dirty="0" err="1"/>
              <a:t>i</a:t>
            </a:r>
            <a:r>
              <a:rPr lang="en-US" altLang="zh-CN" sz="1500" dirty="0"/>
              <a:t>++) </a:t>
            </a:r>
            <a:endParaRPr lang="en-US" altLang="zh-CN" sz="1500" dirty="0"/>
          </a:p>
          <a:p>
            <a:r>
              <a:rPr lang="en-US" altLang="zh-CN" sz="1500" dirty="0"/>
              <a:t>    {</a:t>
            </a:r>
            <a:endParaRPr lang="en-US" altLang="zh-CN" sz="1500" dirty="0"/>
          </a:p>
          <a:p>
            <a:r>
              <a:rPr lang="en-US" altLang="zh-CN" sz="1500" dirty="0"/>
              <a:t>        if (people[</a:t>
            </a:r>
            <a:r>
              <a:rPr lang="en-US" altLang="zh-CN" sz="1500" dirty="0" err="1"/>
              <a:t>i</a:t>
            </a:r>
            <a:r>
              <a:rPr lang="en-US" altLang="zh-CN" sz="1500" dirty="0"/>
              <a:t>].equals ("Don"))</a:t>
            </a:r>
            <a:endParaRPr lang="en-US" altLang="zh-CN" sz="1500" dirty="0"/>
          </a:p>
          <a:p>
            <a:r>
              <a:rPr lang="en-US" altLang="zh-CN" sz="1500" dirty="0"/>
              <a:t>            return "Don";</a:t>
            </a:r>
            <a:endParaRPr lang="en-US" altLang="zh-CN" sz="1500" dirty="0"/>
          </a:p>
          <a:p>
            <a:endParaRPr lang="en-US" altLang="zh-CN" sz="1500" dirty="0"/>
          </a:p>
          <a:p>
            <a:r>
              <a:rPr lang="en-US" altLang="zh-CN" sz="1500" dirty="0"/>
              <a:t>        if (people[</a:t>
            </a:r>
            <a:r>
              <a:rPr lang="en-US" altLang="zh-CN" sz="1500" dirty="0" err="1"/>
              <a:t>i</a:t>
            </a:r>
            <a:r>
              <a:rPr lang="en-US" altLang="zh-CN" sz="1500" dirty="0"/>
              <a:t>].equals ("John"))</a:t>
            </a:r>
            <a:endParaRPr lang="en-US" altLang="zh-CN" sz="1500" dirty="0"/>
          </a:p>
          <a:p>
            <a:r>
              <a:rPr lang="en-US" altLang="zh-CN" sz="1500" dirty="0"/>
              <a:t>            return "John";</a:t>
            </a:r>
            <a:endParaRPr lang="en-US" altLang="zh-CN" sz="1500" dirty="0"/>
          </a:p>
          <a:p>
            <a:endParaRPr lang="en-US" altLang="zh-CN" sz="1500" dirty="0"/>
          </a:p>
          <a:p>
            <a:r>
              <a:rPr lang="en-US" altLang="zh-CN" sz="1500" dirty="0"/>
              <a:t>        if (people[</a:t>
            </a:r>
            <a:r>
              <a:rPr lang="en-US" altLang="zh-CN" sz="1500" dirty="0" err="1"/>
              <a:t>i</a:t>
            </a:r>
            <a:r>
              <a:rPr lang="en-US" altLang="zh-CN" sz="1500" dirty="0"/>
              <a:t>].equals ("Kent"))</a:t>
            </a:r>
            <a:endParaRPr lang="en-US" altLang="zh-CN" sz="1500" dirty="0"/>
          </a:p>
          <a:p>
            <a:r>
              <a:rPr lang="en-US" altLang="zh-CN" sz="1500" dirty="0"/>
              <a:t>            return "Kent";</a:t>
            </a:r>
            <a:endParaRPr lang="en-US" altLang="zh-CN" sz="1500" dirty="0"/>
          </a:p>
          <a:p>
            <a:r>
              <a:rPr lang="en-US" altLang="zh-CN" sz="1500" dirty="0"/>
              <a:t>    }</a:t>
            </a:r>
            <a:endParaRPr lang="en-US" altLang="zh-CN" sz="1500" dirty="0"/>
          </a:p>
          <a:p>
            <a:endParaRPr lang="en-US" altLang="zh-CN" sz="1500" dirty="0"/>
          </a:p>
          <a:p>
            <a:r>
              <a:rPr lang="en-US" altLang="zh-CN" sz="1500" dirty="0"/>
              <a:t>    return "";</a:t>
            </a:r>
            <a:endParaRPr lang="en-US" altLang="zh-CN" sz="1500" dirty="0"/>
          </a:p>
          <a:p>
            <a:r>
              <a:rPr lang="en-US" altLang="zh-CN" sz="1500" dirty="0"/>
              <a:t>}</a:t>
            </a:r>
            <a:endParaRPr lang="en-US" altLang="zh-CN" sz="1500" dirty="0"/>
          </a:p>
        </p:txBody>
      </p:sp>
      <p:sp>
        <p:nvSpPr>
          <p:cNvPr id="12" name="矩形 11"/>
          <p:cNvSpPr/>
          <p:nvPr/>
        </p:nvSpPr>
        <p:spPr>
          <a:xfrm>
            <a:off x="6383159" y="1672572"/>
            <a:ext cx="5569723" cy="263017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500" dirty="0"/>
              <a:t>String </a:t>
            </a:r>
            <a:r>
              <a:rPr lang="en-US" altLang="zh-CN" sz="1500" dirty="0" err="1"/>
              <a:t>foundPerson</a:t>
            </a:r>
            <a:r>
              <a:rPr lang="en-US" altLang="zh-CN" sz="1500" dirty="0"/>
              <a:t>(String[] people)</a:t>
            </a:r>
            <a:endParaRPr lang="en-US" altLang="zh-CN" sz="1500" dirty="0"/>
          </a:p>
          <a:p>
            <a:r>
              <a:rPr lang="en-US" altLang="zh-CN" sz="1500" dirty="0"/>
              <a:t>{</a:t>
            </a:r>
            <a:endParaRPr lang="en-US" altLang="zh-CN" sz="1500" dirty="0"/>
          </a:p>
          <a:p>
            <a:r>
              <a:rPr lang="en-US" altLang="zh-CN" sz="1500" dirty="0"/>
              <a:t>    List candidates = </a:t>
            </a:r>
            <a:r>
              <a:rPr lang="en-US" altLang="zh-CN" sz="1500" dirty="0" err="1"/>
              <a:t>Arrays.asList</a:t>
            </a:r>
            <a:r>
              <a:rPr lang="en-US" altLang="zh-CN" sz="1500" dirty="0"/>
              <a:t>(new     </a:t>
            </a:r>
            <a:endParaRPr lang="en-US" altLang="zh-CN" sz="1500" dirty="0"/>
          </a:p>
          <a:p>
            <a:r>
              <a:rPr lang="en-US" altLang="zh-CN" sz="1500" dirty="0"/>
              <a:t>            String[]{"Don", "</a:t>
            </a:r>
            <a:r>
              <a:rPr lang="en-US" altLang="zh-CN" sz="1500" dirty="0" err="1"/>
              <a:t>John","Kent</a:t>
            </a:r>
            <a:r>
              <a:rPr lang="en-US" altLang="zh-CN" sz="1500" dirty="0"/>
              <a:t>"});</a:t>
            </a:r>
            <a:endParaRPr lang="en-US" altLang="zh-CN" sz="1500" dirty="0"/>
          </a:p>
          <a:p>
            <a:endParaRPr lang="en-US" altLang="zh-CN" sz="1500" dirty="0"/>
          </a:p>
          <a:p>
            <a:r>
              <a:rPr lang="en-US" altLang="zh-CN" sz="1500" dirty="0"/>
              <a:t>    for (</a:t>
            </a:r>
            <a:r>
              <a:rPr lang="en-US" altLang="zh-CN" sz="1500" dirty="0" err="1"/>
              <a:t>int</a:t>
            </a:r>
            <a:r>
              <a:rPr lang="en-US" altLang="zh-CN" sz="1500" dirty="0"/>
              <a:t> </a:t>
            </a:r>
            <a:r>
              <a:rPr lang="en-US" altLang="zh-CN" sz="1500" dirty="0" err="1"/>
              <a:t>i</a:t>
            </a:r>
            <a:r>
              <a:rPr lang="en-US" altLang="zh-CN" sz="1500" dirty="0"/>
              <a:t>=0; </a:t>
            </a:r>
            <a:r>
              <a:rPr lang="en-US" altLang="zh-CN" sz="1500" dirty="0" err="1"/>
              <a:t>i</a:t>
            </a:r>
            <a:r>
              <a:rPr lang="en-US" altLang="zh-CN" sz="1500" dirty="0"/>
              <a:t>&lt;</a:t>
            </a:r>
            <a:r>
              <a:rPr lang="en-US" altLang="zh-CN" sz="1500" dirty="0" err="1"/>
              <a:t>people.length</a:t>
            </a:r>
            <a:r>
              <a:rPr lang="en-US" altLang="zh-CN" sz="1500" dirty="0"/>
              <a:t>; </a:t>
            </a:r>
            <a:r>
              <a:rPr lang="en-US" altLang="zh-CN" sz="1500" dirty="0" err="1"/>
              <a:t>i</a:t>
            </a:r>
            <a:r>
              <a:rPr lang="en-US" altLang="zh-CN" sz="1500" dirty="0"/>
              <a:t>++)</a:t>
            </a:r>
            <a:endParaRPr lang="en-US" altLang="zh-CN" sz="1500" dirty="0"/>
          </a:p>
          <a:p>
            <a:r>
              <a:rPr lang="en-US" altLang="zh-CN" sz="1500" dirty="0"/>
              <a:t>        if (</a:t>
            </a:r>
            <a:r>
              <a:rPr lang="en-US" altLang="zh-CN" sz="1500" dirty="0" err="1"/>
              <a:t>candidates.contains</a:t>
            </a:r>
            <a:r>
              <a:rPr lang="en-US" altLang="zh-CN" sz="1500" dirty="0"/>
              <a:t>(people[</a:t>
            </a:r>
            <a:r>
              <a:rPr lang="en-US" altLang="zh-CN" sz="1500" dirty="0" err="1"/>
              <a:t>i</a:t>
            </a:r>
            <a:r>
              <a:rPr lang="en-US" altLang="zh-CN" sz="1500" dirty="0"/>
              <a:t>]))</a:t>
            </a:r>
            <a:endParaRPr lang="en-US" altLang="zh-CN" sz="1500" dirty="0"/>
          </a:p>
          <a:p>
            <a:r>
              <a:rPr lang="en-US" altLang="zh-CN" sz="1500" dirty="0"/>
              <a:t>            return people[</a:t>
            </a:r>
            <a:r>
              <a:rPr lang="en-US" altLang="zh-CN" sz="1500" dirty="0" err="1"/>
              <a:t>i</a:t>
            </a:r>
            <a:r>
              <a:rPr lang="en-US" altLang="zh-CN" sz="1500" dirty="0"/>
              <a:t>];</a:t>
            </a:r>
            <a:endParaRPr lang="en-US" altLang="zh-CN" sz="1500" dirty="0"/>
          </a:p>
          <a:p>
            <a:endParaRPr lang="en-US" altLang="zh-CN" sz="1500" dirty="0"/>
          </a:p>
          <a:p>
            <a:r>
              <a:rPr lang="en-US" altLang="zh-CN" sz="1500" dirty="0"/>
              <a:t>    return "";</a:t>
            </a:r>
            <a:endParaRPr lang="en-US" altLang="zh-CN" sz="1500" dirty="0"/>
          </a:p>
          <a:p>
            <a:r>
              <a:rPr lang="en-US" altLang="zh-CN" sz="1500" dirty="0"/>
              <a:t>}</a:t>
            </a:r>
            <a:endParaRPr lang="zh-CN" altLang="en-US" sz="1500" dirty="0"/>
          </a:p>
        </p:txBody>
      </p:sp>
      <p:sp>
        <p:nvSpPr>
          <p:cNvPr id="13" name="Text Box 9"/>
          <p:cNvSpPr txBox="1">
            <a:spLocks noChangeArrowheads="1"/>
          </p:cNvSpPr>
          <p:nvPr/>
        </p:nvSpPr>
        <p:spPr bwMode="auto">
          <a:xfrm>
            <a:off x="557531" y="841969"/>
            <a:ext cx="3992880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 algn="l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algn="l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algn="l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algn="l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algn="l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1500" dirty="0">
                <a:ea typeface="华文细黑" panose="02010600040101010101" pitchFamily="2" charset="-122"/>
              </a:rPr>
              <a:t>你想要把某个算法替换为另一个更清晰的算法</a:t>
            </a:r>
            <a:endParaRPr lang="zh-CN" altLang="en-US" sz="1500" dirty="0">
              <a:ea typeface="华文细黑" panose="02010600040101010101" pitchFamily="2" charset="-122"/>
            </a:endParaRPr>
          </a:p>
        </p:txBody>
      </p:sp>
      <p:sp>
        <p:nvSpPr>
          <p:cNvPr id="14" name="Text Box 9"/>
          <p:cNvSpPr txBox="1">
            <a:spLocks noChangeArrowheads="1"/>
          </p:cNvSpPr>
          <p:nvPr/>
        </p:nvSpPr>
        <p:spPr bwMode="auto">
          <a:xfrm>
            <a:off x="6482670" y="841968"/>
            <a:ext cx="2659380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 algn="l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algn="l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algn="l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algn="l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algn="l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1500" dirty="0">
                <a:ea typeface="华文细黑" panose="02010600040101010101" pitchFamily="2" charset="-122"/>
              </a:rPr>
              <a:t>将函数本体替换为另一个算法</a:t>
            </a:r>
            <a:endParaRPr lang="zh-CN" altLang="en-US" sz="1500" dirty="0">
              <a:ea typeface="华文细黑" panose="0201060004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91842" y="5646699"/>
            <a:ext cx="2537158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圈复杂度：</a:t>
            </a:r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15" name="文本框 14"/>
          <p:cNvSpPr txBox="1"/>
          <p:nvPr/>
        </p:nvSpPr>
        <p:spPr>
          <a:xfrm>
            <a:off x="7989328" y="5643321"/>
            <a:ext cx="2537158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圈复杂度：</a:t>
            </a:r>
            <a:r>
              <a:rPr lang="en-US" altLang="zh-CN" dirty="0"/>
              <a:t>3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000">
        <p:random/>
      </p:transition>
    </mc:Choice>
    <mc:Fallback>
      <p:transition spd="slow" advTm="1000">
        <p:random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891842" y="135105"/>
            <a:ext cx="9267385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Decompose Conditional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（分解条件式）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891842" y="4060129"/>
            <a:ext cx="4409501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 algn="l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algn="l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algn="l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algn="l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algn="l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1500" dirty="0">
                <a:ea typeface="华文细黑" panose="02010600040101010101" pitchFamily="2" charset="-122"/>
              </a:rPr>
              <a:t>从</a:t>
            </a:r>
            <a:r>
              <a:rPr lang="en-US" altLang="zh-CN" sz="1500" dirty="0">
                <a:ea typeface="华文细黑" panose="02010600040101010101" pitchFamily="2" charset="-122"/>
              </a:rPr>
              <a:t>if</a:t>
            </a:r>
            <a:r>
              <a:rPr lang="zh-CN" altLang="en-US" sz="1500" dirty="0">
                <a:ea typeface="华文细黑" panose="02010600040101010101" pitchFamily="2" charset="-122"/>
              </a:rPr>
              <a:t>、</a:t>
            </a:r>
            <a:r>
              <a:rPr lang="en-US" altLang="zh-CN" sz="1500" dirty="0">
                <a:ea typeface="华文细黑" panose="02010600040101010101" pitchFamily="2" charset="-122"/>
              </a:rPr>
              <a:t>then</a:t>
            </a:r>
            <a:r>
              <a:rPr lang="zh-CN" altLang="en-US" sz="1500" dirty="0">
                <a:ea typeface="华文细黑" panose="02010600040101010101" pitchFamily="2" charset="-122"/>
              </a:rPr>
              <a:t>、</a:t>
            </a:r>
            <a:r>
              <a:rPr lang="en-US" altLang="zh-CN" sz="1500" dirty="0">
                <a:ea typeface="华文细黑" panose="02010600040101010101" pitchFamily="2" charset="-122"/>
              </a:rPr>
              <a:t>else</a:t>
            </a:r>
            <a:r>
              <a:rPr lang="zh-CN" altLang="en-US" sz="1500" dirty="0">
                <a:ea typeface="华文细黑" panose="02010600040101010101" pitchFamily="2" charset="-122"/>
              </a:rPr>
              <a:t>三个段落中分别提炼出独立函数</a:t>
            </a:r>
            <a:endParaRPr lang="zh-CN" altLang="en-US" sz="1500" dirty="0">
              <a:ea typeface="华文细黑" panose="02010600040101010101" pitchFamily="2" charset="-122"/>
            </a:endParaRPr>
          </a:p>
        </p:txBody>
      </p:sp>
      <p:sp>
        <p:nvSpPr>
          <p:cNvPr id="7" name="AutoShape 8"/>
          <p:cNvSpPr>
            <a:spLocks noChangeArrowheads="1"/>
          </p:cNvSpPr>
          <p:nvPr/>
        </p:nvSpPr>
        <p:spPr bwMode="auto">
          <a:xfrm rot="5400000">
            <a:off x="4869892" y="3230337"/>
            <a:ext cx="1922471" cy="673893"/>
          </a:xfrm>
          <a:prstGeom prst="rightArrow">
            <a:avLst>
              <a:gd name="adj1" fmla="val 50000"/>
              <a:gd name="adj2" fmla="val 3539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8" name="Text Box 9"/>
          <p:cNvSpPr txBox="1">
            <a:spLocks noChangeArrowheads="1"/>
          </p:cNvSpPr>
          <p:nvPr/>
        </p:nvSpPr>
        <p:spPr bwMode="auto">
          <a:xfrm>
            <a:off x="797801" y="848933"/>
            <a:ext cx="2278380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 algn="l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algn="l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algn="l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algn="l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algn="l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1500" dirty="0">
                <a:ea typeface="华文细黑" panose="02010600040101010101" pitchFamily="2" charset="-122"/>
              </a:rPr>
              <a:t>你有一个复杂的条件语句</a:t>
            </a:r>
            <a:endParaRPr lang="zh-CN" altLang="en-US" sz="1500" dirty="0">
              <a:ea typeface="华文细黑" panose="0201060004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300219" y="1396142"/>
            <a:ext cx="5646352" cy="10147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500" dirty="0"/>
              <a:t>if (</a:t>
            </a:r>
            <a:r>
              <a:rPr lang="en-US" altLang="zh-CN" sz="1500" dirty="0" err="1"/>
              <a:t>date.before</a:t>
            </a:r>
            <a:r>
              <a:rPr lang="en-US" altLang="zh-CN" sz="1500" dirty="0"/>
              <a:t> (SUMMER_START) || </a:t>
            </a:r>
            <a:r>
              <a:rPr lang="en-US" altLang="zh-CN" sz="1500" dirty="0" err="1"/>
              <a:t>date.after</a:t>
            </a:r>
            <a:r>
              <a:rPr lang="en-US" altLang="zh-CN" sz="1500" dirty="0"/>
              <a:t>(SUMMER_END))</a:t>
            </a:r>
            <a:endParaRPr lang="en-US" altLang="zh-CN" sz="1500" dirty="0"/>
          </a:p>
          <a:p>
            <a:r>
              <a:rPr lang="en-US" altLang="zh-CN" sz="1500" dirty="0"/>
              <a:t>    charge = quantity * _</a:t>
            </a:r>
            <a:r>
              <a:rPr lang="en-US" altLang="zh-CN" sz="1500" dirty="0" err="1"/>
              <a:t>winterRate</a:t>
            </a:r>
            <a:r>
              <a:rPr lang="en-US" altLang="zh-CN" sz="1500" dirty="0"/>
              <a:t> + _</a:t>
            </a:r>
            <a:r>
              <a:rPr lang="en-US" altLang="zh-CN" sz="1500" dirty="0" err="1"/>
              <a:t>winterServiceCharge</a:t>
            </a:r>
            <a:r>
              <a:rPr lang="en-US" altLang="zh-CN" sz="1500" dirty="0"/>
              <a:t>;</a:t>
            </a:r>
            <a:endParaRPr lang="en-US" altLang="zh-CN" sz="1500" dirty="0"/>
          </a:p>
          <a:p>
            <a:r>
              <a:rPr lang="en-US" altLang="zh-CN" sz="1500" dirty="0"/>
              <a:t>else </a:t>
            </a:r>
            <a:endParaRPr lang="en-US" altLang="zh-CN" sz="1500" dirty="0"/>
          </a:p>
          <a:p>
            <a:r>
              <a:rPr lang="en-US" altLang="zh-CN" sz="1500" dirty="0"/>
              <a:t>    charge = quantity * _</a:t>
            </a:r>
            <a:r>
              <a:rPr lang="en-US" altLang="zh-CN" sz="1500" dirty="0" err="1"/>
              <a:t>summerRate</a:t>
            </a:r>
            <a:r>
              <a:rPr lang="en-US" altLang="zh-CN" sz="1500" dirty="0"/>
              <a:t>;</a:t>
            </a:r>
            <a:endParaRPr lang="zh-CN" altLang="en-US" sz="1500" dirty="0"/>
          </a:p>
        </p:txBody>
      </p:sp>
      <p:sp>
        <p:nvSpPr>
          <p:cNvPr id="9" name="矩形 8"/>
          <p:cNvSpPr/>
          <p:nvPr/>
        </p:nvSpPr>
        <p:spPr>
          <a:xfrm>
            <a:off x="2300219" y="4722761"/>
            <a:ext cx="5569723" cy="14763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zh-CN" altLang="en-US" sz="1500" dirty="0"/>
          </a:p>
          <a:p>
            <a:r>
              <a:rPr lang="en-US" altLang="zh-CN" sz="1500" dirty="0"/>
              <a:t>if (</a:t>
            </a:r>
            <a:r>
              <a:rPr lang="en-US" altLang="zh-CN" sz="1500" dirty="0" err="1">
                <a:solidFill>
                  <a:schemeClr val="accent3">
                    <a:lumMod val="75000"/>
                  </a:schemeClr>
                </a:solidFill>
              </a:rPr>
              <a:t>notSummer</a:t>
            </a:r>
            <a:r>
              <a:rPr lang="en-US" altLang="zh-CN" sz="1500" dirty="0"/>
              <a:t>(date))</a:t>
            </a:r>
            <a:endParaRPr lang="en-US" altLang="zh-CN" sz="1500" dirty="0"/>
          </a:p>
          <a:p>
            <a:r>
              <a:rPr lang="en-US" altLang="zh-CN" sz="1500" dirty="0"/>
              <a:t>    charge = </a:t>
            </a:r>
            <a:r>
              <a:rPr lang="en-US" altLang="zh-CN" sz="1500" dirty="0" err="1">
                <a:solidFill>
                  <a:schemeClr val="accent3">
                    <a:lumMod val="75000"/>
                  </a:schemeClr>
                </a:solidFill>
              </a:rPr>
              <a:t>winterCharge</a:t>
            </a:r>
            <a:r>
              <a:rPr lang="en-US" altLang="zh-CN" sz="1500" dirty="0"/>
              <a:t>(quantity);</a:t>
            </a:r>
            <a:endParaRPr lang="en-US" altLang="zh-CN" sz="1500" dirty="0"/>
          </a:p>
          <a:p>
            <a:r>
              <a:rPr lang="en-US" altLang="zh-CN" sz="1500" dirty="0"/>
              <a:t>else </a:t>
            </a:r>
            <a:endParaRPr lang="en-US" altLang="zh-CN" sz="1500" dirty="0"/>
          </a:p>
          <a:p>
            <a:r>
              <a:rPr lang="en-US" altLang="zh-CN" sz="1500" dirty="0"/>
              <a:t>    charge = </a:t>
            </a:r>
            <a:r>
              <a:rPr lang="en-US" altLang="zh-CN" sz="1500" dirty="0" err="1">
                <a:solidFill>
                  <a:schemeClr val="accent3">
                    <a:lumMod val="75000"/>
                  </a:schemeClr>
                </a:solidFill>
              </a:rPr>
              <a:t>summerCharge</a:t>
            </a:r>
            <a:r>
              <a:rPr lang="en-US" altLang="zh-CN" sz="1500" dirty="0"/>
              <a:t> (quantity);</a:t>
            </a:r>
            <a:endParaRPr lang="en-US" altLang="zh-CN" sz="1500" dirty="0"/>
          </a:p>
          <a:p>
            <a:endParaRPr lang="en-US" altLang="zh-CN" sz="1500" dirty="0"/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7020499" y="4284613"/>
            <a:ext cx="4409501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 algn="l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algn="l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algn="l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algn="l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algn="l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1500" dirty="0">
                <a:ea typeface="华文细黑" panose="02010600040101010101" pitchFamily="2" charset="-122"/>
              </a:rPr>
              <a:t>代码也具备了自解释</a:t>
            </a:r>
            <a:endParaRPr lang="zh-CN" altLang="en-US" sz="1500" dirty="0">
              <a:ea typeface="华文细黑" panose="0201060004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891781" y="1534641"/>
            <a:ext cx="2537158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圈复杂度：</a:t>
            </a:r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10057614" y="5461425"/>
            <a:ext cx="2537158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圈复杂度：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000">
        <p:random/>
      </p:transition>
    </mc:Choice>
    <mc:Fallback>
      <p:transition spd="slow" advTm="1000">
        <p:random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891842" y="135105"/>
            <a:ext cx="9267385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Consolidate Conditional Expression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（合并条件式）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Box 9"/>
          <p:cNvSpPr txBox="1">
            <a:spLocks noChangeArrowheads="1"/>
          </p:cNvSpPr>
          <p:nvPr/>
        </p:nvSpPr>
        <p:spPr bwMode="auto">
          <a:xfrm>
            <a:off x="557531" y="841969"/>
            <a:ext cx="363728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 algn="l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algn="l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algn="l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algn="l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algn="l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1600" dirty="0">
                <a:ea typeface="华文细黑" panose="02010600040101010101" pitchFamily="2" charset="-122"/>
              </a:rPr>
              <a:t>你有一系列条件判断，都得到相同结果</a:t>
            </a:r>
            <a:endParaRPr lang="zh-CN" altLang="en-US" sz="1600" dirty="0">
              <a:ea typeface="华文细黑" panose="02010600040101010101" pitchFamily="2" charset="-122"/>
            </a:endParaRPr>
          </a:p>
        </p:txBody>
      </p:sp>
      <p:sp>
        <p:nvSpPr>
          <p:cNvPr id="16" name="Text Box 7"/>
          <p:cNvSpPr txBox="1">
            <a:spLocks noChangeArrowheads="1"/>
          </p:cNvSpPr>
          <p:nvPr/>
        </p:nvSpPr>
        <p:spPr bwMode="auto">
          <a:xfrm>
            <a:off x="891842" y="4103668"/>
            <a:ext cx="4409501" cy="5530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 algn="l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algn="l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algn="l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algn="l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algn="l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1500" dirty="0">
                <a:ea typeface="华文细黑" panose="02010600040101010101" pitchFamily="2" charset="-122"/>
              </a:rPr>
              <a:t>将这些判断合并为一个条件式，并将这个条件式提炼成为一个独立函数</a:t>
            </a:r>
            <a:endParaRPr lang="zh-CN" altLang="en-US" sz="1500" dirty="0">
              <a:ea typeface="华文细黑" panose="02010600040101010101" pitchFamily="2" charset="-122"/>
            </a:endParaRPr>
          </a:p>
        </p:txBody>
      </p:sp>
      <p:sp>
        <p:nvSpPr>
          <p:cNvPr id="17" name="AutoShape 8"/>
          <p:cNvSpPr>
            <a:spLocks noChangeArrowheads="1"/>
          </p:cNvSpPr>
          <p:nvPr/>
        </p:nvSpPr>
        <p:spPr bwMode="auto">
          <a:xfrm rot="5400000">
            <a:off x="5172515" y="3576499"/>
            <a:ext cx="1317226" cy="673893"/>
          </a:xfrm>
          <a:prstGeom prst="rightArrow">
            <a:avLst>
              <a:gd name="adj1" fmla="val 50000"/>
              <a:gd name="adj2" fmla="val 3539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2300219" y="1439681"/>
            <a:ext cx="5646352" cy="170688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500" dirty="0"/>
              <a:t>double </a:t>
            </a:r>
            <a:r>
              <a:rPr lang="en-US" altLang="zh-CN" sz="1500" dirty="0" err="1"/>
              <a:t>disabilityAmount</a:t>
            </a:r>
            <a:r>
              <a:rPr lang="en-US" altLang="zh-CN" sz="1500" dirty="0"/>
              <a:t>() </a:t>
            </a:r>
            <a:endParaRPr lang="en-US" altLang="zh-CN" sz="1500" dirty="0"/>
          </a:p>
          <a:p>
            <a:r>
              <a:rPr lang="en-US" altLang="zh-CN" sz="1500" dirty="0"/>
              <a:t>{</a:t>
            </a:r>
            <a:endParaRPr lang="en-US" altLang="zh-CN" sz="1500" dirty="0"/>
          </a:p>
          <a:p>
            <a:r>
              <a:rPr lang="en-US" altLang="zh-CN" sz="1500" dirty="0"/>
              <a:t>    if (_seniority &lt; 2) return 0;</a:t>
            </a:r>
            <a:endParaRPr lang="en-US" altLang="zh-CN" sz="1500" dirty="0"/>
          </a:p>
          <a:p>
            <a:r>
              <a:rPr lang="en-US" altLang="zh-CN" sz="1500" dirty="0"/>
              <a:t>    if (_</a:t>
            </a:r>
            <a:r>
              <a:rPr lang="en-US" altLang="zh-CN" sz="1500" dirty="0" err="1"/>
              <a:t>monthsDisabled</a:t>
            </a:r>
            <a:r>
              <a:rPr lang="en-US" altLang="zh-CN" sz="1500" dirty="0"/>
              <a:t> &gt; 12) return 0;</a:t>
            </a:r>
            <a:endParaRPr lang="en-US" altLang="zh-CN" sz="1500" dirty="0"/>
          </a:p>
          <a:p>
            <a:r>
              <a:rPr lang="en-US" altLang="zh-CN" sz="1500" dirty="0"/>
              <a:t>    if (_</a:t>
            </a:r>
            <a:r>
              <a:rPr lang="en-US" altLang="zh-CN" sz="1500" dirty="0" err="1"/>
              <a:t>isPartTime</a:t>
            </a:r>
            <a:r>
              <a:rPr lang="en-US" altLang="zh-CN" sz="1500" dirty="0"/>
              <a:t>) return 0;</a:t>
            </a:r>
            <a:endParaRPr lang="en-US" altLang="zh-CN" sz="1500" dirty="0"/>
          </a:p>
          <a:p>
            <a:r>
              <a:rPr lang="en-US" altLang="zh-CN" sz="1500" dirty="0"/>
              <a:t>    // compute the disability amount</a:t>
            </a:r>
            <a:endParaRPr lang="en-US" altLang="zh-CN" sz="1500" dirty="0"/>
          </a:p>
          <a:p>
            <a:r>
              <a:rPr lang="zh-CN" altLang="en-US" sz="1500" dirty="0"/>
              <a:t>｝</a:t>
            </a:r>
            <a:endParaRPr lang="zh-CN" altLang="en-US" sz="1500" dirty="0"/>
          </a:p>
        </p:txBody>
      </p:sp>
      <p:sp>
        <p:nvSpPr>
          <p:cNvPr id="20" name="矩形 19"/>
          <p:cNvSpPr/>
          <p:nvPr/>
        </p:nvSpPr>
        <p:spPr>
          <a:xfrm>
            <a:off x="2300219" y="4766300"/>
            <a:ext cx="5569723" cy="170688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zh-CN" altLang="en-US" sz="1500" dirty="0"/>
          </a:p>
          <a:p>
            <a:r>
              <a:rPr lang="en-US" altLang="zh-CN" sz="1500" dirty="0"/>
              <a:t>double </a:t>
            </a:r>
            <a:r>
              <a:rPr lang="en-US" altLang="zh-CN" sz="1500" dirty="0" err="1"/>
              <a:t>disabilityAmount</a:t>
            </a:r>
            <a:r>
              <a:rPr lang="en-US" altLang="zh-CN" sz="1500" dirty="0"/>
              <a:t>() </a:t>
            </a:r>
            <a:endParaRPr lang="en-US" altLang="zh-CN" sz="1500" dirty="0"/>
          </a:p>
          <a:p>
            <a:r>
              <a:rPr lang="en-US" altLang="zh-CN" sz="1500" dirty="0"/>
              <a:t>{</a:t>
            </a:r>
            <a:endParaRPr lang="en-US" altLang="zh-CN" sz="1500" dirty="0"/>
          </a:p>
          <a:p>
            <a:r>
              <a:rPr lang="en-US" altLang="zh-CN" sz="1500" dirty="0"/>
              <a:t>    if (</a:t>
            </a:r>
            <a:r>
              <a:rPr lang="en-US" altLang="zh-CN" sz="1500" dirty="0" err="1">
                <a:solidFill>
                  <a:schemeClr val="accent3">
                    <a:lumMod val="75000"/>
                  </a:schemeClr>
                </a:solidFill>
              </a:rPr>
              <a:t>isNotEligableForDisability</a:t>
            </a:r>
            <a:r>
              <a:rPr lang="en-US" altLang="zh-CN" sz="1500" dirty="0">
                <a:solidFill>
                  <a:schemeClr val="accent3">
                    <a:lumMod val="75000"/>
                  </a:schemeClr>
                </a:solidFill>
              </a:rPr>
              <a:t>()</a:t>
            </a:r>
            <a:r>
              <a:rPr lang="en-US" altLang="zh-CN" sz="1500" dirty="0"/>
              <a:t>) return 0;</a:t>
            </a:r>
            <a:endParaRPr lang="en-US" altLang="zh-CN" sz="1500" dirty="0"/>
          </a:p>
          <a:p>
            <a:r>
              <a:rPr lang="en-US" altLang="zh-CN" sz="1500" dirty="0"/>
              <a:t>    // compute the disability amount</a:t>
            </a:r>
            <a:endParaRPr lang="en-US" altLang="zh-CN" sz="1500" dirty="0"/>
          </a:p>
          <a:p>
            <a:r>
              <a:rPr lang="zh-CN" altLang="en-US" sz="1500" dirty="0"/>
              <a:t>｝</a:t>
            </a:r>
            <a:endParaRPr lang="zh-CN" altLang="en-US" sz="1500" dirty="0"/>
          </a:p>
          <a:p>
            <a:endParaRPr lang="en-US" altLang="zh-CN" sz="1500" dirty="0"/>
          </a:p>
        </p:txBody>
      </p:sp>
      <p:sp>
        <p:nvSpPr>
          <p:cNvPr id="22" name="文本框 21"/>
          <p:cNvSpPr txBox="1"/>
          <p:nvPr/>
        </p:nvSpPr>
        <p:spPr>
          <a:xfrm>
            <a:off x="9891781" y="1578180"/>
            <a:ext cx="2537158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圈复杂度：</a:t>
            </a:r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23" name="文本框 22"/>
          <p:cNvSpPr txBox="1"/>
          <p:nvPr/>
        </p:nvSpPr>
        <p:spPr>
          <a:xfrm>
            <a:off x="10057614" y="5504964"/>
            <a:ext cx="2537158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圈复杂度：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000">
        <p:random/>
      </p:transition>
    </mc:Choice>
    <mc:Fallback>
      <p:transition spd="slow" advTm="1000">
        <p:random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011585" y="34403"/>
            <a:ext cx="9267385" cy="95313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Consolidate Duplicate Conditional Fragments</a:t>
            </a:r>
            <a:endParaRPr lang="en-US" altLang="zh-CN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（合并重复的条件片断）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Box 9"/>
          <p:cNvSpPr txBox="1">
            <a:spLocks noChangeArrowheads="1"/>
          </p:cNvSpPr>
          <p:nvPr/>
        </p:nvSpPr>
        <p:spPr bwMode="auto">
          <a:xfrm>
            <a:off x="286362" y="1211528"/>
            <a:ext cx="424688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 algn="l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algn="l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algn="l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algn="l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algn="l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1600" dirty="0">
                <a:ea typeface="华文细黑" panose="02010600040101010101" pitchFamily="2" charset="-122"/>
              </a:rPr>
              <a:t>在条件式的每个分支上有着相同的一段代码。</a:t>
            </a:r>
            <a:endParaRPr lang="zh-CN" altLang="en-US" sz="1600" dirty="0">
              <a:ea typeface="华文细黑" panose="02010600040101010101" pitchFamily="2" charset="-122"/>
            </a:endParaRPr>
          </a:p>
        </p:txBody>
      </p:sp>
      <p:sp>
        <p:nvSpPr>
          <p:cNvPr id="16" name="Text Box 7"/>
          <p:cNvSpPr txBox="1">
            <a:spLocks noChangeArrowheads="1"/>
          </p:cNvSpPr>
          <p:nvPr/>
        </p:nvSpPr>
        <p:spPr bwMode="auto">
          <a:xfrm>
            <a:off x="6749142" y="1219222"/>
            <a:ext cx="4409501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 algn="l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algn="l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algn="l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algn="l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algn="l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1500" dirty="0">
                <a:ea typeface="华文细黑" panose="02010600040101010101" pitchFamily="2" charset="-122"/>
              </a:rPr>
              <a:t>将这段重复代码搬移到条件式之外</a:t>
            </a:r>
            <a:endParaRPr lang="zh-CN" altLang="en-US" sz="1500" dirty="0">
              <a:ea typeface="华文细黑" panose="02010600040101010101" pitchFamily="2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286362" y="1803994"/>
            <a:ext cx="4938781" cy="424624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500" dirty="0"/>
              <a:t>if (</a:t>
            </a:r>
            <a:r>
              <a:rPr lang="en-US" altLang="zh-CN" sz="1500" dirty="0" err="1"/>
              <a:t>isSpecialDeal</a:t>
            </a:r>
            <a:r>
              <a:rPr lang="en-US" altLang="zh-CN" sz="1500" dirty="0"/>
              <a:t>()) </a:t>
            </a:r>
            <a:endParaRPr lang="en-US" altLang="zh-CN" sz="1500" dirty="0"/>
          </a:p>
          <a:p>
            <a:r>
              <a:rPr lang="en-US" altLang="zh-CN" sz="1500" dirty="0"/>
              <a:t>    {</a:t>
            </a:r>
            <a:endParaRPr lang="en-US" altLang="zh-CN" sz="1500" dirty="0"/>
          </a:p>
          <a:p>
            <a:r>
              <a:rPr lang="en-US" altLang="zh-CN" sz="1500" dirty="0"/>
              <a:t>        total = price * 0.95;</a:t>
            </a:r>
            <a:endParaRPr lang="en-US" altLang="zh-CN" sz="1500" dirty="0"/>
          </a:p>
          <a:p>
            <a:r>
              <a:rPr lang="en-US" altLang="zh-CN" sz="1500" dirty="0"/>
              <a:t>      </a:t>
            </a:r>
            <a:endParaRPr lang="en-US" altLang="zh-CN" sz="1500" dirty="0"/>
          </a:p>
          <a:p>
            <a:r>
              <a:rPr lang="en-US" altLang="zh-CN" sz="1500" dirty="0">
                <a:solidFill>
                  <a:schemeClr val="accent3">
                    <a:lumMod val="75000"/>
                  </a:schemeClr>
                </a:solidFill>
              </a:rPr>
              <a:t>        if(total &gt;100)</a:t>
            </a:r>
            <a:endParaRPr lang="en-US" altLang="zh-CN" sz="1500" dirty="0">
              <a:solidFill>
                <a:schemeClr val="accent3">
                  <a:lumMod val="75000"/>
                </a:schemeClr>
              </a:solidFill>
            </a:endParaRPr>
          </a:p>
          <a:p>
            <a:r>
              <a:rPr lang="en-US" altLang="zh-CN" sz="1500" dirty="0">
                <a:solidFill>
                  <a:schemeClr val="accent3">
                    <a:lumMod val="75000"/>
                  </a:schemeClr>
                </a:solidFill>
              </a:rPr>
              <a:t>            </a:t>
            </a:r>
            <a:r>
              <a:rPr lang="en-US" altLang="zh-CN" sz="1500" dirty="0" err="1">
                <a:solidFill>
                  <a:schemeClr val="accent3">
                    <a:lumMod val="75000"/>
                  </a:schemeClr>
                </a:solidFill>
              </a:rPr>
              <a:t>dosomething</a:t>
            </a:r>
            <a:r>
              <a:rPr lang="en-US" altLang="zh-CN" sz="1500" dirty="0">
                <a:solidFill>
                  <a:schemeClr val="accent3">
                    <a:lumMod val="75000"/>
                  </a:schemeClr>
                </a:solidFill>
              </a:rPr>
              <a:t>();</a:t>
            </a:r>
            <a:endParaRPr lang="en-US" altLang="zh-CN" sz="1500" dirty="0">
              <a:solidFill>
                <a:schemeClr val="accent3">
                  <a:lumMod val="75000"/>
                </a:schemeClr>
              </a:solidFill>
            </a:endParaRPr>
          </a:p>
          <a:p>
            <a:r>
              <a:rPr lang="en-US" altLang="zh-CN" sz="1500" dirty="0">
                <a:solidFill>
                  <a:schemeClr val="accent3">
                    <a:lumMod val="75000"/>
                  </a:schemeClr>
                </a:solidFill>
              </a:rPr>
              <a:t>         else</a:t>
            </a:r>
            <a:endParaRPr lang="en-US" altLang="zh-CN" sz="1500" dirty="0">
              <a:solidFill>
                <a:schemeClr val="accent3">
                  <a:lumMod val="75000"/>
                </a:schemeClr>
              </a:solidFill>
            </a:endParaRPr>
          </a:p>
          <a:p>
            <a:r>
              <a:rPr lang="en-US" altLang="zh-CN" sz="1500" dirty="0">
                <a:solidFill>
                  <a:schemeClr val="accent3">
                    <a:lumMod val="75000"/>
                  </a:schemeClr>
                </a:solidFill>
              </a:rPr>
              <a:t>            </a:t>
            </a:r>
            <a:r>
              <a:rPr lang="en-US" altLang="zh-CN" sz="1500" dirty="0" err="1">
                <a:solidFill>
                  <a:schemeClr val="accent3">
                    <a:lumMod val="75000"/>
                  </a:schemeClr>
                </a:solidFill>
              </a:rPr>
              <a:t>doanoherthing</a:t>
            </a:r>
            <a:r>
              <a:rPr lang="en-US" altLang="zh-CN" sz="1500" dirty="0">
                <a:solidFill>
                  <a:schemeClr val="accent3">
                    <a:lumMod val="75000"/>
                  </a:schemeClr>
                </a:solidFill>
              </a:rPr>
              <a:t>(); </a:t>
            </a:r>
            <a:endParaRPr lang="en-US" altLang="zh-CN" sz="1500" dirty="0">
              <a:solidFill>
                <a:schemeClr val="accent3">
                  <a:lumMod val="75000"/>
                </a:schemeClr>
              </a:solidFill>
            </a:endParaRPr>
          </a:p>
          <a:p>
            <a:r>
              <a:rPr lang="en-US" altLang="zh-CN" sz="1500" dirty="0"/>
              <a:t>    }</a:t>
            </a:r>
            <a:endParaRPr lang="en-US" altLang="zh-CN" sz="1500" dirty="0"/>
          </a:p>
          <a:p>
            <a:r>
              <a:rPr lang="en-US" altLang="zh-CN" sz="1500" dirty="0"/>
              <a:t>else </a:t>
            </a:r>
            <a:endParaRPr lang="en-US" altLang="zh-CN" sz="1500" dirty="0"/>
          </a:p>
          <a:p>
            <a:r>
              <a:rPr lang="en-US" altLang="zh-CN" sz="1500" dirty="0"/>
              <a:t>    {</a:t>
            </a:r>
            <a:endParaRPr lang="en-US" altLang="zh-CN" sz="1500" dirty="0"/>
          </a:p>
          <a:p>
            <a:r>
              <a:rPr lang="en-US" altLang="zh-CN" sz="1500" dirty="0"/>
              <a:t>        total = price * 0.98;</a:t>
            </a:r>
            <a:endParaRPr lang="en-US" altLang="zh-CN" sz="1500" dirty="0"/>
          </a:p>
          <a:p>
            <a:r>
              <a:rPr lang="en-US" altLang="zh-CN" sz="1500" dirty="0"/>
              <a:t>        </a:t>
            </a:r>
            <a:endParaRPr lang="en-US" altLang="zh-CN" sz="1500" dirty="0"/>
          </a:p>
          <a:p>
            <a:r>
              <a:rPr lang="en-US" altLang="zh-CN" sz="1500" dirty="0">
                <a:solidFill>
                  <a:schemeClr val="accent3">
                    <a:lumMod val="75000"/>
                  </a:schemeClr>
                </a:solidFill>
              </a:rPr>
              <a:t>         if(total &gt;100)</a:t>
            </a:r>
            <a:endParaRPr lang="en-US" altLang="zh-CN" sz="1500" dirty="0">
              <a:solidFill>
                <a:schemeClr val="accent3">
                  <a:lumMod val="75000"/>
                </a:schemeClr>
              </a:solidFill>
            </a:endParaRPr>
          </a:p>
          <a:p>
            <a:r>
              <a:rPr lang="en-US" altLang="zh-CN" sz="1500" dirty="0">
                <a:solidFill>
                  <a:schemeClr val="accent3">
                    <a:lumMod val="75000"/>
                  </a:schemeClr>
                </a:solidFill>
              </a:rPr>
              <a:t>            </a:t>
            </a:r>
            <a:r>
              <a:rPr lang="en-US" altLang="zh-CN" sz="1500" dirty="0" err="1">
                <a:solidFill>
                  <a:schemeClr val="accent3">
                    <a:lumMod val="75000"/>
                  </a:schemeClr>
                </a:solidFill>
              </a:rPr>
              <a:t>dosomething</a:t>
            </a:r>
            <a:r>
              <a:rPr lang="en-US" altLang="zh-CN" sz="1500" dirty="0">
                <a:solidFill>
                  <a:schemeClr val="accent3">
                    <a:lumMod val="75000"/>
                  </a:schemeClr>
                </a:solidFill>
              </a:rPr>
              <a:t>();</a:t>
            </a:r>
            <a:endParaRPr lang="en-US" altLang="zh-CN" sz="1500" dirty="0">
              <a:solidFill>
                <a:schemeClr val="accent3">
                  <a:lumMod val="75000"/>
                </a:schemeClr>
              </a:solidFill>
            </a:endParaRPr>
          </a:p>
          <a:p>
            <a:r>
              <a:rPr lang="en-US" altLang="zh-CN" sz="1500" dirty="0">
                <a:solidFill>
                  <a:schemeClr val="accent3">
                    <a:lumMod val="75000"/>
                  </a:schemeClr>
                </a:solidFill>
              </a:rPr>
              <a:t>         else</a:t>
            </a:r>
            <a:endParaRPr lang="en-US" altLang="zh-CN" sz="1500" dirty="0">
              <a:solidFill>
                <a:schemeClr val="accent3">
                  <a:lumMod val="75000"/>
                </a:schemeClr>
              </a:solidFill>
            </a:endParaRPr>
          </a:p>
          <a:p>
            <a:r>
              <a:rPr lang="en-US" altLang="zh-CN" sz="1500" dirty="0">
                <a:solidFill>
                  <a:schemeClr val="accent3">
                    <a:lumMod val="75000"/>
                  </a:schemeClr>
                </a:solidFill>
              </a:rPr>
              <a:t>            </a:t>
            </a:r>
            <a:r>
              <a:rPr lang="en-US" altLang="zh-CN" sz="1500" dirty="0" err="1">
                <a:solidFill>
                  <a:schemeClr val="accent3">
                    <a:lumMod val="75000"/>
                  </a:schemeClr>
                </a:solidFill>
              </a:rPr>
              <a:t>doanoherthing</a:t>
            </a:r>
            <a:r>
              <a:rPr lang="en-US" altLang="zh-CN" sz="1500" dirty="0">
                <a:solidFill>
                  <a:schemeClr val="accent3">
                    <a:lumMod val="75000"/>
                  </a:schemeClr>
                </a:solidFill>
              </a:rPr>
              <a:t>();     </a:t>
            </a:r>
            <a:endParaRPr lang="en-US" altLang="zh-CN" sz="1500" dirty="0">
              <a:solidFill>
                <a:schemeClr val="accent3">
                  <a:lumMod val="75000"/>
                </a:schemeClr>
              </a:solidFill>
            </a:endParaRPr>
          </a:p>
          <a:p>
            <a:r>
              <a:rPr lang="en-US" altLang="zh-CN" sz="1500" dirty="0"/>
              <a:t>}</a:t>
            </a:r>
            <a:endParaRPr lang="en-US" altLang="zh-CN" sz="1500" dirty="0"/>
          </a:p>
        </p:txBody>
      </p:sp>
      <p:sp>
        <p:nvSpPr>
          <p:cNvPr id="20" name="矩形 19"/>
          <p:cNvSpPr/>
          <p:nvPr/>
        </p:nvSpPr>
        <p:spPr>
          <a:xfrm>
            <a:off x="6749142" y="1873243"/>
            <a:ext cx="4572001" cy="332295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500" dirty="0"/>
              <a:t>if (</a:t>
            </a:r>
            <a:r>
              <a:rPr lang="en-US" altLang="zh-CN" sz="1500" dirty="0" err="1"/>
              <a:t>isSpecialDeal</a:t>
            </a:r>
            <a:r>
              <a:rPr lang="en-US" altLang="zh-CN" sz="1500" dirty="0"/>
              <a:t>()) </a:t>
            </a:r>
            <a:endParaRPr lang="en-US" altLang="zh-CN" sz="1500" dirty="0"/>
          </a:p>
          <a:p>
            <a:r>
              <a:rPr lang="en-US" altLang="zh-CN" sz="1500" dirty="0"/>
              <a:t>    {</a:t>
            </a:r>
            <a:endParaRPr lang="en-US" altLang="zh-CN" sz="1500" dirty="0"/>
          </a:p>
          <a:p>
            <a:r>
              <a:rPr lang="en-US" altLang="zh-CN" sz="1500" dirty="0"/>
              <a:t>        total = price * 0.95;</a:t>
            </a:r>
            <a:endParaRPr lang="en-US" altLang="zh-CN" sz="1500" dirty="0"/>
          </a:p>
          <a:p>
            <a:r>
              <a:rPr lang="en-US" altLang="zh-CN" sz="1500" dirty="0"/>
              <a:t>}</a:t>
            </a:r>
            <a:endParaRPr lang="en-US" altLang="zh-CN" sz="1500" dirty="0"/>
          </a:p>
          <a:p>
            <a:r>
              <a:rPr lang="en-US" altLang="zh-CN" sz="1500" dirty="0"/>
              <a:t>else </a:t>
            </a:r>
            <a:endParaRPr lang="en-US" altLang="zh-CN" sz="1500" dirty="0"/>
          </a:p>
          <a:p>
            <a:r>
              <a:rPr lang="en-US" altLang="zh-CN" sz="1500" dirty="0"/>
              <a:t> {</a:t>
            </a:r>
            <a:endParaRPr lang="en-US" altLang="zh-CN" sz="1500" dirty="0"/>
          </a:p>
          <a:p>
            <a:r>
              <a:rPr lang="en-US" altLang="zh-CN" sz="1500" dirty="0"/>
              <a:t>        total = price * 0.98;     </a:t>
            </a:r>
            <a:endParaRPr lang="en-US" altLang="zh-CN" sz="1500" dirty="0"/>
          </a:p>
          <a:p>
            <a:r>
              <a:rPr lang="en-US" altLang="zh-CN" sz="1500" dirty="0"/>
              <a:t>}</a:t>
            </a:r>
            <a:endParaRPr lang="en-US" altLang="zh-CN" sz="1500" dirty="0"/>
          </a:p>
          <a:p>
            <a:endParaRPr lang="en-US" altLang="zh-CN" sz="1500" dirty="0"/>
          </a:p>
          <a:p>
            <a:r>
              <a:rPr lang="en-US" altLang="zh-CN" sz="1500" dirty="0"/>
              <a:t> </a:t>
            </a:r>
            <a:r>
              <a:rPr lang="en-US" altLang="zh-CN" sz="1500" dirty="0">
                <a:solidFill>
                  <a:schemeClr val="accent3">
                    <a:lumMod val="75000"/>
                  </a:schemeClr>
                </a:solidFill>
              </a:rPr>
              <a:t>if(total &gt;100)</a:t>
            </a:r>
            <a:endParaRPr lang="en-US" altLang="zh-CN" sz="1500" dirty="0">
              <a:solidFill>
                <a:schemeClr val="accent3">
                  <a:lumMod val="75000"/>
                </a:schemeClr>
              </a:solidFill>
            </a:endParaRPr>
          </a:p>
          <a:p>
            <a:r>
              <a:rPr lang="en-US" altLang="zh-CN" sz="1500" dirty="0">
                <a:solidFill>
                  <a:schemeClr val="accent3">
                    <a:lumMod val="75000"/>
                  </a:schemeClr>
                </a:solidFill>
              </a:rPr>
              <a:t>            </a:t>
            </a:r>
            <a:r>
              <a:rPr lang="en-US" altLang="zh-CN" sz="1500" dirty="0" err="1">
                <a:solidFill>
                  <a:schemeClr val="accent3">
                    <a:lumMod val="75000"/>
                  </a:schemeClr>
                </a:solidFill>
              </a:rPr>
              <a:t>dosomething</a:t>
            </a:r>
            <a:r>
              <a:rPr lang="en-US" altLang="zh-CN" sz="1500" dirty="0">
                <a:solidFill>
                  <a:schemeClr val="accent3">
                    <a:lumMod val="75000"/>
                  </a:schemeClr>
                </a:solidFill>
              </a:rPr>
              <a:t>()</a:t>
            </a:r>
            <a:endParaRPr lang="en-US" altLang="zh-CN" sz="1500" dirty="0">
              <a:solidFill>
                <a:schemeClr val="accent3">
                  <a:lumMod val="75000"/>
                </a:schemeClr>
              </a:solidFill>
            </a:endParaRPr>
          </a:p>
          <a:p>
            <a:r>
              <a:rPr lang="en-US" altLang="zh-CN" sz="1500" dirty="0">
                <a:solidFill>
                  <a:schemeClr val="accent3">
                    <a:lumMod val="75000"/>
                  </a:schemeClr>
                </a:solidFill>
              </a:rPr>
              <a:t>   else</a:t>
            </a:r>
            <a:endParaRPr lang="en-US" altLang="zh-CN" sz="1500" dirty="0">
              <a:solidFill>
                <a:schemeClr val="accent3">
                  <a:lumMod val="75000"/>
                </a:schemeClr>
              </a:solidFill>
            </a:endParaRPr>
          </a:p>
          <a:p>
            <a:r>
              <a:rPr lang="en-US" altLang="zh-CN" sz="1500" dirty="0">
                <a:solidFill>
                  <a:schemeClr val="accent3">
                    <a:lumMod val="75000"/>
                  </a:schemeClr>
                </a:solidFill>
              </a:rPr>
              <a:t>            </a:t>
            </a:r>
            <a:r>
              <a:rPr lang="en-US" altLang="zh-CN" sz="1500" dirty="0" err="1">
                <a:solidFill>
                  <a:schemeClr val="accent3">
                    <a:lumMod val="75000"/>
                  </a:schemeClr>
                </a:solidFill>
              </a:rPr>
              <a:t>doanoherthing</a:t>
            </a:r>
            <a:r>
              <a:rPr lang="en-US" altLang="zh-CN" sz="1500" dirty="0">
                <a:solidFill>
                  <a:schemeClr val="accent3">
                    <a:lumMod val="75000"/>
                  </a:schemeClr>
                </a:solidFill>
              </a:rPr>
              <a:t>();</a:t>
            </a:r>
            <a:endParaRPr lang="en-US" altLang="zh-CN" sz="1500" dirty="0">
              <a:solidFill>
                <a:schemeClr val="accent3">
                  <a:lumMod val="75000"/>
                </a:schemeClr>
              </a:solidFill>
            </a:endParaRPr>
          </a:p>
          <a:p>
            <a:endParaRPr lang="en-US" altLang="zh-CN" sz="1500" dirty="0"/>
          </a:p>
        </p:txBody>
      </p:sp>
      <p:sp>
        <p:nvSpPr>
          <p:cNvPr id="11" name="AutoShape 8"/>
          <p:cNvSpPr>
            <a:spLocks noChangeArrowheads="1"/>
          </p:cNvSpPr>
          <p:nvPr/>
        </p:nvSpPr>
        <p:spPr bwMode="auto">
          <a:xfrm>
            <a:off x="5442859" y="3198289"/>
            <a:ext cx="925286" cy="673893"/>
          </a:xfrm>
          <a:prstGeom prst="rightArrow">
            <a:avLst>
              <a:gd name="adj1" fmla="val 50000"/>
              <a:gd name="adj2" fmla="val 3539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86362" y="6305223"/>
            <a:ext cx="2537158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圈复杂度：</a:t>
            </a:r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7292642" y="6164078"/>
            <a:ext cx="2537158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圈复杂度：</a:t>
            </a:r>
            <a:r>
              <a:rPr lang="en-US" altLang="zh-CN" dirty="0"/>
              <a:t>3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000">
        <p:random/>
      </p:transition>
    </mc:Choice>
    <mc:Fallback>
      <p:transition spd="slow" advTm="1000">
        <p:random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891842" y="135105"/>
            <a:ext cx="9267385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Remove Control Flag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（移除控制标记）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286362" y="1026861"/>
            <a:ext cx="4525124" cy="706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 algn="l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algn="l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algn="l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algn="l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algn="l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1600" dirty="0">
                <a:ea typeface="华文细黑" panose="02010600040101010101" pitchFamily="2" charset="-122"/>
              </a:rPr>
              <a:t>在一系列布尔表达式种，某个变量带有</a:t>
            </a:r>
            <a:endParaRPr lang="zh-CN" altLang="en-US" sz="1600" dirty="0">
              <a:ea typeface="华文细黑" panose="0201060004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1600" dirty="0">
                <a:ea typeface="华文细黑" panose="02010600040101010101" pitchFamily="2" charset="-122"/>
              </a:rPr>
              <a:t>【</a:t>
            </a:r>
            <a:r>
              <a:rPr lang="zh-CN" altLang="en-US" sz="1600" dirty="0">
                <a:ea typeface="华文细黑" panose="02010600040101010101" pitchFamily="2" charset="-122"/>
              </a:rPr>
              <a:t>控制标记</a:t>
            </a:r>
            <a:r>
              <a:rPr lang="en-US" altLang="zh-CN" sz="1600" dirty="0">
                <a:ea typeface="华文细黑" panose="02010600040101010101" pitchFamily="2" charset="-122"/>
              </a:rPr>
              <a:t>】</a:t>
            </a:r>
            <a:r>
              <a:rPr lang="zh-CN" altLang="en-US" sz="1600" dirty="0">
                <a:ea typeface="华文细黑" panose="02010600040101010101" pitchFamily="2" charset="-122"/>
              </a:rPr>
              <a:t>的作用</a:t>
            </a:r>
            <a:endParaRPr lang="zh-CN" altLang="en-US" sz="1600" dirty="0">
              <a:ea typeface="华文细黑" panose="02010600040101010101" pitchFamily="2" charset="-122"/>
            </a:endParaRPr>
          </a:p>
        </p:txBody>
      </p:sp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6749142" y="1219222"/>
            <a:ext cx="4409501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 algn="l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algn="l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algn="l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algn="l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algn="l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1500" dirty="0">
                <a:ea typeface="华文细黑" panose="02010600040101010101" pitchFamily="2" charset="-122"/>
              </a:rPr>
              <a:t>以</a:t>
            </a:r>
            <a:r>
              <a:rPr lang="en-US" altLang="zh-CN" sz="1500" dirty="0">
                <a:ea typeface="华文细黑" panose="02010600040101010101" pitchFamily="2" charset="-122"/>
              </a:rPr>
              <a:t>break</a:t>
            </a:r>
            <a:r>
              <a:rPr lang="zh-CN" altLang="en-US" sz="1500" dirty="0">
                <a:ea typeface="华文细黑" panose="02010600040101010101" pitchFamily="2" charset="-122"/>
              </a:rPr>
              <a:t>和</a:t>
            </a:r>
            <a:r>
              <a:rPr lang="en-US" altLang="zh-CN" sz="1500" dirty="0">
                <a:ea typeface="华文细黑" panose="02010600040101010101" pitchFamily="2" charset="-122"/>
              </a:rPr>
              <a:t>return</a:t>
            </a:r>
            <a:r>
              <a:rPr lang="zh-CN" altLang="en-US" sz="1500" dirty="0">
                <a:ea typeface="华文细黑" panose="02010600040101010101" pitchFamily="2" charset="-122"/>
              </a:rPr>
              <a:t>取代控制标记</a:t>
            </a:r>
            <a:endParaRPr lang="zh-CN" altLang="en-US" sz="1500" dirty="0">
              <a:ea typeface="华文细黑" panose="02010600040101010101" pitchFamily="2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86362" y="1873243"/>
            <a:ext cx="4938781" cy="37846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500" dirty="0"/>
              <a:t>void </a:t>
            </a:r>
            <a:r>
              <a:rPr lang="en-US" altLang="zh-CN" sz="1500" dirty="0" err="1"/>
              <a:t>checkSecurity</a:t>
            </a:r>
            <a:r>
              <a:rPr lang="en-US" altLang="zh-CN" sz="1500" dirty="0"/>
              <a:t>(String[] people) {</a:t>
            </a:r>
            <a:endParaRPr lang="en-US" altLang="zh-CN" sz="1500" dirty="0"/>
          </a:p>
          <a:p>
            <a:r>
              <a:rPr lang="en-US" altLang="zh-CN" sz="1500" dirty="0">
                <a:solidFill>
                  <a:schemeClr val="accent3">
                    <a:lumMod val="75000"/>
                  </a:schemeClr>
                </a:solidFill>
              </a:rPr>
              <a:t>    </a:t>
            </a:r>
            <a:r>
              <a:rPr lang="en-US" altLang="zh-CN" sz="1500" dirty="0" err="1">
                <a:solidFill>
                  <a:schemeClr val="accent3">
                    <a:lumMod val="75000"/>
                  </a:schemeClr>
                </a:solidFill>
              </a:rPr>
              <a:t>boolean</a:t>
            </a:r>
            <a:r>
              <a:rPr lang="en-US" altLang="zh-CN" sz="1500" dirty="0">
                <a:solidFill>
                  <a:schemeClr val="accent3">
                    <a:lumMod val="75000"/>
                  </a:schemeClr>
                </a:solidFill>
              </a:rPr>
              <a:t> found = false;</a:t>
            </a:r>
            <a:endParaRPr lang="en-US" altLang="zh-CN" sz="1500" dirty="0">
              <a:solidFill>
                <a:schemeClr val="accent3">
                  <a:lumMod val="75000"/>
                </a:schemeClr>
              </a:solidFill>
            </a:endParaRPr>
          </a:p>
          <a:p>
            <a:endParaRPr lang="en-US" altLang="zh-CN" sz="1500" dirty="0">
              <a:solidFill>
                <a:schemeClr val="accent3">
                  <a:lumMod val="75000"/>
                </a:schemeClr>
              </a:solidFill>
            </a:endParaRPr>
          </a:p>
          <a:p>
            <a:r>
              <a:rPr lang="en-US" altLang="zh-CN" sz="1500" dirty="0"/>
              <a:t>    for (</a:t>
            </a:r>
            <a:r>
              <a:rPr lang="en-US" altLang="zh-CN" sz="1500" dirty="0" err="1"/>
              <a:t>int</a:t>
            </a:r>
            <a:r>
              <a:rPr lang="en-US" altLang="zh-CN" sz="1500" dirty="0"/>
              <a:t> </a:t>
            </a:r>
            <a:r>
              <a:rPr lang="en-US" altLang="zh-CN" sz="1500" dirty="0" err="1"/>
              <a:t>i</a:t>
            </a:r>
            <a:r>
              <a:rPr lang="en-US" altLang="zh-CN" sz="1500" dirty="0"/>
              <a:t> = 0; </a:t>
            </a:r>
            <a:r>
              <a:rPr lang="en-US" altLang="zh-CN" sz="1500" dirty="0" err="1"/>
              <a:t>i</a:t>
            </a:r>
            <a:r>
              <a:rPr lang="en-US" altLang="zh-CN" sz="1500" dirty="0"/>
              <a:t> &lt; </a:t>
            </a:r>
            <a:r>
              <a:rPr lang="en-US" altLang="zh-CN" sz="1500" dirty="0" err="1"/>
              <a:t>people.length</a:t>
            </a:r>
            <a:r>
              <a:rPr lang="en-US" altLang="zh-CN" sz="1500" dirty="0"/>
              <a:t>; </a:t>
            </a:r>
            <a:r>
              <a:rPr lang="en-US" altLang="zh-CN" sz="1500" dirty="0" err="1"/>
              <a:t>i</a:t>
            </a:r>
            <a:r>
              <a:rPr lang="en-US" altLang="zh-CN" sz="1500" dirty="0"/>
              <a:t>++) {</a:t>
            </a:r>
            <a:endParaRPr lang="en-US" altLang="zh-CN" sz="1500" dirty="0"/>
          </a:p>
          <a:p>
            <a:r>
              <a:rPr lang="en-US" altLang="zh-CN" sz="1500" dirty="0">
                <a:solidFill>
                  <a:schemeClr val="accent3">
                    <a:lumMod val="75000"/>
                  </a:schemeClr>
                </a:solidFill>
              </a:rPr>
              <a:t>        if (! found) {</a:t>
            </a:r>
            <a:endParaRPr lang="en-US" altLang="zh-CN" sz="1500" dirty="0">
              <a:solidFill>
                <a:schemeClr val="accent3">
                  <a:lumMod val="75000"/>
                </a:schemeClr>
              </a:solidFill>
            </a:endParaRPr>
          </a:p>
          <a:p>
            <a:r>
              <a:rPr lang="en-US" altLang="zh-CN" sz="1500" dirty="0"/>
              <a:t>            if (people[</a:t>
            </a:r>
            <a:r>
              <a:rPr lang="en-US" altLang="zh-CN" sz="1500" dirty="0" err="1"/>
              <a:t>i</a:t>
            </a:r>
            <a:r>
              <a:rPr lang="en-US" altLang="zh-CN" sz="1500" dirty="0"/>
              <a:t>].equals ("Don")){</a:t>
            </a:r>
            <a:endParaRPr lang="en-US" altLang="zh-CN" sz="1500" dirty="0"/>
          </a:p>
          <a:p>
            <a:r>
              <a:rPr lang="en-US" altLang="zh-CN" sz="1500" dirty="0"/>
              <a:t>                </a:t>
            </a:r>
            <a:r>
              <a:rPr lang="en-US" altLang="zh-CN" sz="1500" dirty="0" err="1"/>
              <a:t>sendAlert</a:t>
            </a:r>
            <a:r>
              <a:rPr lang="en-US" altLang="zh-CN" sz="1500" dirty="0"/>
              <a:t>();</a:t>
            </a:r>
            <a:endParaRPr lang="en-US" altLang="zh-CN" sz="1500" dirty="0"/>
          </a:p>
          <a:p>
            <a:r>
              <a:rPr lang="en-US" altLang="zh-CN" sz="1500" dirty="0">
                <a:solidFill>
                  <a:schemeClr val="accent3">
                    <a:lumMod val="75000"/>
                  </a:schemeClr>
                </a:solidFill>
              </a:rPr>
              <a:t>                found = true;</a:t>
            </a:r>
            <a:endParaRPr lang="en-US" altLang="zh-CN" sz="1500" dirty="0">
              <a:solidFill>
                <a:schemeClr val="accent3">
                  <a:lumMod val="75000"/>
                </a:schemeClr>
              </a:solidFill>
            </a:endParaRPr>
          </a:p>
          <a:p>
            <a:r>
              <a:rPr lang="en-US" altLang="zh-CN" sz="1500" dirty="0"/>
              <a:t>            }</a:t>
            </a:r>
            <a:endParaRPr lang="en-US" altLang="zh-CN" sz="1500" dirty="0"/>
          </a:p>
          <a:p>
            <a:r>
              <a:rPr lang="en-US" altLang="zh-CN" sz="1500" dirty="0"/>
              <a:t>            if (people[</a:t>
            </a:r>
            <a:r>
              <a:rPr lang="en-US" altLang="zh-CN" sz="1500" dirty="0" err="1"/>
              <a:t>i</a:t>
            </a:r>
            <a:r>
              <a:rPr lang="en-US" altLang="zh-CN" sz="1500" dirty="0"/>
              <a:t>].equals ("John")){</a:t>
            </a:r>
            <a:endParaRPr lang="en-US" altLang="zh-CN" sz="1500" dirty="0"/>
          </a:p>
          <a:p>
            <a:r>
              <a:rPr lang="en-US" altLang="zh-CN" sz="1500" dirty="0"/>
              <a:t>                   </a:t>
            </a:r>
            <a:r>
              <a:rPr lang="en-US" altLang="zh-CN" sz="1500" dirty="0" err="1"/>
              <a:t>sendAlert</a:t>
            </a:r>
            <a:r>
              <a:rPr lang="en-US" altLang="zh-CN" sz="1500" dirty="0"/>
              <a:t>();</a:t>
            </a:r>
            <a:endParaRPr lang="en-US" altLang="zh-CN" sz="1500" dirty="0"/>
          </a:p>
          <a:p>
            <a:r>
              <a:rPr lang="en-US" altLang="zh-CN" sz="1500" dirty="0">
                <a:solidFill>
                  <a:schemeClr val="accent3">
                    <a:lumMod val="75000"/>
                  </a:schemeClr>
                </a:solidFill>
              </a:rPr>
              <a:t>                   found = true;</a:t>
            </a:r>
            <a:endParaRPr lang="en-US" altLang="zh-CN" sz="1500" dirty="0">
              <a:solidFill>
                <a:schemeClr val="accent3">
                  <a:lumMod val="75000"/>
                </a:schemeClr>
              </a:solidFill>
            </a:endParaRPr>
          </a:p>
          <a:p>
            <a:r>
              <a:rPr lang="en-US" altLang="zh-CN" sz="1500" dirty="0"/>
              <a:t>            }</a:t>
            </a:r>
            <a:endParaRPr lang="en-US" altLang="zh-CN" sz="1500" dirty="0"/>
          </a:p>
          <a:p>
            <a:r>
              <a:rPr lang="en-US" altLang="zh-CN" sz="1500" dirty="0"/>
              <a:t>        }</a:t>
            </a:r>
            <a:endParaRPr lang="en-US" altLang="zh-CN" sz="1500" dirty="0"/>
          </a:p>
          <a:p>
            <a:r>
              <a:rPr lang="en-US" altLang="zh-CN" sz="1500" dirty="0"/>
              <a:t>    }</a:t>
            </a:r>
            <a:endParaRPr lang="en-US" altLang="zh-CN" sz="1500" dirty="0"/>
          </a:p>
          <a:p>
            <a:r>
              <a:rPr lang="en-US" altLang="zh-CN" sz="1500" dirty="0"/>
              <a:t>}</a:t>
            </a:r>
            <a:endParaRPr lang="en-US" altLang="zh-CN" sz="1500" dirty="0"/>
          </a:p>
        </p:txBody>
      </p:sp>
      <p:sp>
        <p:nvSpPr>
          <p:cNvPr id="15" name="矩形 14"/>
          <p:cNvSpPr/>
          <p:nvPr/>
        </p:nvSpPr>
        <p:spPr>
          <a:xfrm>
            <a:off x="6749142" y="1873243"/>
            <a:ext cx="4572001" cy="309181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500" dirty="0"/>
              <a:t>void </a:t>
            </a:r>
            <a:r>
              <a:rPr lang="en-US" altLang="zh-CN" sz="1500" dirty="0" err="1"/>
              <a:t>checkSecurity</a:t>
            </a:r>
            <a:r>
              <a:rPr lang="en-US" altLang="zh-CN" sz="1500" dirty="0"/>
              <a:t>(String[] people) {</a:t>
            </a:r>
            <a:endParaRPr lang="en-US" altLang="zh-CN" sz="1500" dirty="0"/>
          </a:p>
          <a:p>
            <a:r>
              <a:rPr lang="en-US" altLang="zh-CN" sz="1500" dirty="0"/>
              <a:t>    for (</a:t>
            </a:r>
            <a:r>
              <a:rPr lang="en-US" altLang="zh-CN" sz="1500" dirty="0" err="1"/>
              <a:t>int</a:t>
            </a:r>
            <a:r>
              <a:rPr lang="en-US" altLang="zh-CN" sz="1500" dirty="0"/>
              <a:t> </a:t>
            </a:r>
            <a:r>
              <a:rPr lang="en-US" altLang="zh-CN" sz="1500" dirty="0" err="1"/>
              <a:t>i</a:t>
            </a:r>
            <a:r>
              <a:rPr lang="en-US" altLang="zh-CN" sz="1500" dirty="0"/>
              <a:t> = 0; </a:t>
            </a:r>
            <a:r>
              <a:rPr lang="en-US" altLang="zh-CN" sz="1500" dirty="0" err="1"/>
              <a:t>i</a:t>
            </a:r>
            <a:r>
              <a:rPr lang="en-US" altLang="zh-CN" sz="1500" dirty="0"/>
              <a:t> &lt; </a:t>
            </a:r>
            <a:r>
              <a:rPr lang="en-US" altLang="zh-CN" sz="1500" dirty="0" err="1"/>
              <a:t>people.length</a:t>
            </a:r>
            <a:r>
              <a:rPr lang="en-US" altLang="zh-CN" sz="1500" dirty="0"/>
              <a:t>; </a:t>
            </a:r>
            <a:r>
              <a:rPr lang="en-US" altLang="zh-CN" sz="1500" dirty="0" err="1"/>
              <a:t>i</a:t>
            </a:r>
            <a:r>
              <a:rPr lang="en-US" altLang="zh-CN" sz="1500" dirty="0"/>
              <a:t>++) {     </a:t>
            </a:r>
            <a:endParaRPr lang="en-US" altLang="zh-CN" sz="1500" dirty="0"/>
          </a:p>
          <a:p>
            <a:r>
              <a:rPr lang="en-US" altLang="zh-CN" sz="1500" dirty="0"/>
              <a:t>        if (people[</a:t>
            </a:r>
            <a:r>
              <a:rPr lang="en-US" altLang="zh-CN" sz="1500" dirty="0" err="1"/>
              <a:t>i</a:t>
            </a:r>
            <a:r>
              <a:rPr lang="en-US" altLang="zh-CN" sz="1500" dirty="0"/>
              <a:t>].equals ("Don")){</a:t>
            </a:r>
            <a:endParaRPr lang="en-US" altLang="zh-CN" sz="1500" dirty="0"/>
          </a:p>
          <a:p>
            <a:r>
              <a:rPr lang="en-US" altLang="zh-CN" sz="1500" dirty="0"/>
              <a:t>            </a:t>
            </a:r>
            <a:r>
              <a:rPr lang="en-US" altLang="zh-CN" sz="1500" dirty="0" err="1"/>
              <a:t>sendAlert</a:t>
            </a:r>
            <a:r>
              <a:rPr lang="en-US" altLang="zh-CN" sz="1500" dirty="0"/>
              <a:t>();</a:t>
            </a:r>
            <a:endParaRPr lang="en-US" altLang="zh-CN" sz="1500" dirty="0"/>
          </a:p>
          <a:p>
            <a:r>
              <a:rPr lang="en-US" altLang="zh-CN" sz="1500" dirty="0">
                <a:solidFill>
                  <a:schemeClr val="accent3">
                    <a:lumMod val="75000"/>
                  </a:schemeClr>
                </a:solidFill>
              </a:rPr>
              <a:t>            break;</a:t>
            </a:r>
            <a:endParaRPr lang="en-US" altLang="zh-CN" sz="1500" dirty="0">
              <a:solidFill>
                <a:schemeClr val="accent3">
                  <a:lumMod val="75000"/>
                </a:schemeClr>
              </a:solidFill>
            </a:endParaRPr>
          </a:p>
          <a:p>
            <a:r>
              <a:rPr lang="en-US" altLang="zh-CN" sz="1500" dirty="0"/>
              <a:t>        }</a:t>
            </a:r>
            <a:endParaRPr lang="en-US" altLang="zh-CN" sz="1500" dirty="0"/>
          </a:p>
          <a:p>
            <a:r>
              <a:rPr lang="en-US" altLang="zh-CN" sz="1500" dirty="0"/>
              <a:t>        if (people[</a:t>
            </a:r>
            <a:r>
              <a:rPr lang="en-US" altLang="zh-CN" sz="1500" dirty="0" err="1"/>
              <a:t>i</a:t>
            </a:r>
            <a:r>
              <a:rPr lang="en-US" altLang="zh-CN" sz="1500" dirty="0"/>
              <a:t>].equals ("John")){</a:t>
            </a:r>
            <a:endParaRPr lang="en-US" altLang="zh-CN" sz="1500" dirty="0"/>
          </a:p>
          <a:p>
            <a:r>
              <a:rPr lang="en-US" altLang="zh-CN" sz="1500" dirty="0"/>
              <a:t>            </a:t>
            </a:r>
            <a:r>
              <a:rPr lang="en-US" altLang="zh-CN" sz="1500" dirty="0" err="1"/>
              <a:t>sendAlert</a:t>
            </a:r>
            <a:r>
              <a:rPr lang="en-US" altLang="zh-CN" sz="1500" dirty="0"/>
              <a:t>();</a:t>
            </a:r>
            <a:endParaRPr lang="en-US" altLang="zh-CN" sz="1500" dirty="0"/>
          </a:p>
          <a:p>
            <a:r>
              <a:rPr lang="en-US" altLang="zh-CN" sz="1500" dirty="0"/>
              <a:t>            </a:t>
            </a:r>
            <a:r>
              <a:rPr lang="en-US" altLang="zh-CN" sz="1500" dirty="0">
                <a:solidFill>
                  <a:schemeClr val="accent3">
                    <a:lumMod val="75000"/>
                  </a:schemeClr>
                </a:solidFill>
              </a:rPr>
              <a:t>break;</a:t>
            </a:r>
            <a:endParaRPr lang="en-US" altLang="zh-CN" sz="1500" dirty="0">
              <a:solidFill>
                <a:schemeClr val="accent3">
                  <a:lumMod val="75000"/>
                </a:schemeClr>
              </a:solidFill>
            </a:endParaRPr>
          </a:p>
          <a:p>
            <a:r>
              <a:rPr lang="en-US" altLang="zh-CN" sz="1500" dirty="0"/>
              <a:t>        }</a:t>
            </a:r>
            <a:endParaRPr lang="en-US" altLang="zh-CN" sz="1500" dirty="0"/>
          </a:p>
          <a:p>
            <a:r>
              <a:rPr lang="en-US" altLang="zh-CN" sz="1500" dirty="0"/>
              <a:t>    }</a:t>
            </a:r>
            <a:endParaRPr lang="en-US" altLang="zh-CN" sz="1500" dirty="0"/>
          </a:p>
          <a:p>
            <a:r>
              <a:rPr lang="en-US" altLang="zh-CN" sz="1500" dirty="0"/>
              <a:t>}</a:t>
            </a:r>
            <a:endParaRPr lang="en-US" altLang="zh-CN" sz="1500" dirty="0"/>
          </a:p>
          <a:p>
            <a:endParaRPr lang="en-US" altLang="zh-CN" sz="1500" dirty="0"/>
          </a:p>
        </p:txBody>
      </p:sp>
      <p:sp>
        <p:nvSpPr>
          <p:cNvPr id="18" name="AutoShape 8"/>
          <p:cNvSpPr>
            <a:spLocks noChangeArrowheads="1"/>
          </p:cNvSpPr>
          <p:nvPr/>
        </p:nvSpPr>
        <p:spPr bwMode="auto">
          <a:xfrm>
            <a:off x="5442859" y="3198289"/>
            <a:ext cx="925286" cy="673893"/>
          </a:xfrm>
          <a:prstGeom prst="rightArrow">
            <a:avLst>
              <a:gd name="adj1" fmla="val 50000"/>
              <a:gd name="adj2" fmla="val 3539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000">
        <p:random/>
      </p:transition>
    </mc:Choice>
    <mc:Fallback>
      <p:transition spd="slow" advTm="1000">
        <p:random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076899" y="38872"/>
            <a:ext cx="9267385" cy="95313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Separate Query from Modifier</a:t>
            </a:r>
            <a:endParaRPr lang="en-US" altLang="zh-CN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（将查询函数和修改函数分离）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582613" y="1281113"/>
            <a:ext cx="3992880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 algn="l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algn="l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algn="l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algn="l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algn="l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1500" dirty="0">
                <a:ea typeface="华文细黑" panose="02010600040101010101" pitchFamily="2" charset="-122"/>
              </a:rPr>
              <a:t>某个函数既返回对象状态值，又修改对象状态</a:t>
            </a:r>
            <a:endParaRPr lang="zh-CN" altLang="en-US" sz="1500" dirty="0">
              <a:ea typeface="华文细黑" panose="02010600040101010101" pitchFamily="2" charset="-122"/>
            </a:endParaRPr>
          </a:p>
        </p:txBody>
      </p: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3247231" y="4426406"/>
            <a:ext cx="6516687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algn="l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algn="l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algn="l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algn="l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1500" dirty="0">
                <a:ea typeface="华文细黑" panose="02010600040101010101" pitchFamily="2" charset="-122"/>
              </a:rPr>
              <a:t>建立两个不同的函数，其中一个负责查询，另一个负责修改</a:t>
            </a:r>
            <a:endParaRPr lang="zh-CN" altLang="en-US" sz="1500" dirty="0">
              <a:ea typeface="华文细黑" panose="02010600040101010101" pitchFamily="2" charset="-122"/>
            </a:endParaRPr>
          </a:p>
        </p:txBody>
      </p:sp>
      <p:sp>
        <p:nvSpPr>
          <p:cNvPr id="12" name="Rectangle 13"/>
          <p:cNvSpPr>
            <a:spLocks noChangeArrowheads="1"/>
          </p:cNvSpPr>
          <p:nvPr/>
        </p:nvSpPr>
        <p:spPr bwMode="auto">
          <a:xfrm>
            <a:off x="582613" y="2011363"/>
            <a:ext cx="5329237" cy="719137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386" tIns="45692" rIns="91386" bIns="45692" anchor="ctr"/>
          <a:lstStyle/>
          <a:p>
            <a:r>
              <a:rPr lang="en-US" altLang="zh-CN"/>
              <a:t>Customer</a:t>
            </a:r>
            <a:endParaRPr lang="en-US" altLang="zh-CN"/>
          </a:p>
        </p:txBody>
      </p:sp>
      <p:sp>
        <p:nvSpPr>
          <p:cNvPr id="14" name="Rectangle 14"/>
          <p:cNvSpPr>
            <a:spLocks noChangeArrowheads="1"/>
          </p:cNvSpPr>
          <p:nvPr/>
        </p:nvSpPr>
        <p:spPr bwMode="auto">
          <a:xfrm>
            <a:off x="582613" y="2965450"/>
            <a:ext cx="5329237" cy="719138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386" tIns="45692" rIns="91386" bIns="45692" anchor="ctr"/>
          <a:lstStyle/>
          <a:p>
            <a:pPr algn="l"/>
            <a:r>
              <a:rPr lang="en-US" altLang="zh-CN" dirty="0" err="1"/>
              <a:t>getTotalOutstandingAndSetReadyForSummaries</a:t>
            </a:r>
            <a:endParaRPr lang="en-US" altLang="zh-CN" dirty="0"/>
          </a:p>
        </p:txBody>
      </p:sp>
      <p:sp>
        <p:nvSpPr>
          <p:cNvPr id="15" name="Rectangle 15"/>
          <p:cNvSpPr>
            <a:spLocks noChangeArrowheads="1"/>
          </p:cNvSpPr>
          <p:nvPr/>
        </p:nvSpPr>
        <p:spPr bwMode="auto">
          <a:xfrm>
            <a:off x="582613" y="2730500"/>
            <a:ext cx="5329237" cy="23495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386" tIns="45692" rIns="91386" bIns="45692" anchor="ctr"/>
          <a:lstStyle/>
          <a:p>
            <a:endParaRPr lang="zh-CN" altLang="en-US"/>
          </a:p>
        </p:txBody>
      </p:sp>
      <p:sp>
        <p:nvSpPr>
          <p:cNvPr id="18" name="AutoShape 17"/>
          <p:cNvSpPr>
            <a:spLocks noChangeArrowheads="1"/>
          </p:cNvSpPr>
          <p:nvPr/>
        </p:nvSpPr>
        <p:spPr bwMode="auto">
          <a:xfrm>
            <a:off x="1914525" y="4106168"/>
            <a:ext cx="503238" cy="453827"/>
          </a:xfrm>
          <a:prstGeom prst="downArrow">
            <a:avLst>
              <a:gd name="adj1" fmla="val 50000"/>
              <a:gd name="adj2" fmla="val 33991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1" name="Rectangle 21"/>
          <p:cNvSpPr>
            <a:spLocks noChangeArrowheads="1"/>
          </p:cNvSpPr>
          <p:nvPr/>
        </p:nvSpPr>
        <p:spPr bwMode="auto">
          <a:xfrm>
            <a:off x="582613" y="4882926"/>
            <a:ext cx="3636962" cy="719137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386" tIns="45692" rIns="91386" bIns="45692" anchor="ctr"/>
          <a:lstStyle/>
          <a:p>
            <a:r>
              <a:rPr lang="en-US" altLang="zh-CN"/>
              <a:t>Customer</a:t>
            </a:r>
            <a:endParaRPr lang="en-US" altLang="zh-CN"/>
          </a:p>
        </p:txBody>
      </p:sp>
      <p:sp>
        <p:nvSpPr>
          <p:cNvPr id="24" name="Rectangle 22"/>
          <p:cNvSpPr>
            <a:spLocks noChangeArrowheads="1"/>
          </p:cNvSpPr>
          <p:nvPr/>
        </p:nvSpPr>
        <p:spPr bwMode="auto">
          <a:xfrm>
            <a:off x="582613" y="5837013"/>
            <a:ext cx="3636962" cy="719138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386" tIns="45692" rIns="91386" bIns="45692" anchor="ctr"/>
          <a:lstStyle/>
          <a:p>
            <a:pPr algn="l"/>
            <a:r>
              <a:rPr lang="en-US" altLang="zh-CN"/>
              <a:t>getTotalOutstanding</a:t>
            </a:r>
            <a:endParaRPr lang="en-US" altLang="zh-CN"/>
          </a:p>
          <a:p>
            <a:pPr algn="l"/>
            <a:r>
              <a:rPr lang="en-US" altLang="zh-CN"/>
              <a:t>SetReadyForSummaries</a:t>
            </a:r>
            <a:endParaRPr lang="en-US" altLang="zh-CN"/>
          </a:p>
        </p:txBody>
      </p:sp>
      <p:sp>
        <p:nvSpPr>
          <p:cNvPr id="25" name="Rectangle 23"/>
          <p:cNvSpPr>
            <a:spLocks noChangeArrowheads="1"/>
          </p:cNvSpPr>
          <p:nvPr/>
        </p:nvSpPr>
        <p:spPr bwMode="auto">
          <a:xfrm>
            <a:off x="582613" y="5602063"/>
            <a:ext cx="3636962" cy="23495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386" tIns="45692" rIns="91386" bIns="45692" anchor="ctr"/>
          <a:lstStyle/>
          <a:p>
            <a:endParaRPr lang="zh-CN" altLang="en-US"/>
          </a:p>
        </p:txBody>
      </p:sp>
      <p:sp>
        <p:nvSpPr>
          <p:cNvPr id="26" name="爆炸形 2 3"/>
          <p:cNvSpPr/>
          <p:nvPr/>
        </p:nvSpPr>
        <p:spPr>
          <a:xfrm>
            <a:off x="8262257" y="2429780"/>
            <a:ext cx="3722914" cy="1061062"/>
          </a:xfrm>
          <a:prstGeom prst="irregularSeal2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函数单一职责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000">
        <p:random/>
      </p:transition>
    </mc:Choice>
    <mc:Fallback>
      <p:transition spd="slow" advTm="1000">
        <p:random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87785" y="184070"/>
            <a:ext cx="9267385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Parameterize Method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（令函数携带参数）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Box 9"/>
          <p:cNvSpPr txBox="1">
            <a:spLocks noChangeArrowheads="1"/>
          </p:cNvSpPr>
          <p:nvPr/>
        </p:nvSpPr>
        <p:spPr bwMode="auto">
          <a:xfrm>
            <a:off x="286362" y="1026861"/>
            <a:ext cx="4409501" cy="706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 algn="l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algn="l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algn="l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algn="l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algn="l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1600" dirty="0">
                <a:ea typeface="华文细黑" panose="02010600040101010101" pitchFamily="2" charset="-122"/>
              </a:rPr>
              <a:t>若干函数做了类似的工作，但在函数本体中却</a:t>
            </a:r>
            <a:endParaRPr lang="zh-CN" altLang="en-US" sz="1600" dirty="0">
              <a:ea typeface="华文细黑" panose="0201060004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1600" dirty="0">
                <a:ea typeface="华文细黑" panose="02010600040101010101" pitchFamily="2" charset="-122"/>
              </a:rPr>
              <a:t>包含了不同的值</a:t>
            </a:r>
            <a:endParaRPr lang="zh-CN" altLang="en-US" sz="1600" dirty="0">
              <a:ea typeface="华文细黑" panose="02010600040101010101" pitchFamily="2" charset="-122"/>
            </a:endParaRPr>
          </a:p>
        </p:txBody>
      </p:sp>
      <p:sp>
        <p:nvSpPr>
          <p:cNvPr id="4" name="Text Box 7"/>
          <p:cNvSpPr txBox="1">
            <a:spLocks noChangeArrowheads="1"/>
          </p:cNvSpPr>
          <p:nvPr/>
        </p:nvSpPr>
        <p:spPr bwMode="auto">
          <a:xfrm>
            <a:off x="6749142" y="1219222"/>
            <a:ext cx="4409501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 algn="l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algn="l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algn="l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algn="l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algn="l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1500" dirty="0">
                <a:ea typeface="华文细黑" panose="02010600040101010101" pitchFamily="2" charset="-122"/>
              </a:rPr>
              <a:t>建立单一函数，以参数表达那些不同的值</a:t>
            </a:r>
            <a:endParaRPr lang="zh-CN" altLang="en-US" sz="1500" dirty="0">
              <a:ea typeface="华文细黑" panose="0201060004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86362" y="1803994"/>
            <a:ext cx="4938781" cy="309181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500" dirty="0"/>
              <a:t>Dollars </a:t>
            </a:r>
            <a:r>
              <a:rPr lang="en-US" altLang="zh-CN" sz="1500" dirty="0" err="1"/>
              <a:t>baseCharge</a:t>
            </a:r>
            <a:r>
              <a:rPr lang="en-US" altLang="zh-CN" sz="1500" dirty="0"/>
              <a:t>()</a:t>
            </a:r>
            <a:endParaRPr lang="en-US" altLang="zh-CN" sz="1500" dirty="0"/>
          </a:p>
          <a:p>
            <a:r>
              <a:rPr lang="en-US" altLang="zh-CN" sz="1500" dirty="0"/>
              <a:t> {</a:t>
            </a:r>
            <a:endParaRPr lang="en-US" altLang="zh-CN" sz="1500" dirty="0"/>
          </a:p>
          <a:p>
            <a:r>
              <a:rPr lang="en-US" altLang="zh-CN" sz="1500" dirty="0"/>
              <a:t>    double result = </a:t>
            </a:r>
            <a:r>
              <a:rPr lang="en-US" altLang="zh-CN" sz="1500" dirty="0" err="1"/>
              <a:t>Math.min</a:t>
            </a:r>
            <a:r>
              <a:rPr lang="en-US" altLang="zh-CN" sz="1500" dirty="0"/>
              <a:t>(</a:t>
            </a:r>
            <a:r>
              <a:rPr lang="en-US" altLang="zh-CN" sz="1500" dirty="0" err="1"/>
              <a:t>lastUsage</a:t>
            </a:r>
            <a:r>
              <a:rPr lang="en-US" altLang="zh-CN" sz="1500" dirty="0"/>
              <a:t>(),100) * 0.03;</a:t>
            </a:r>
            <a:endParaRPr lang="en-US" altLang="zh-CN" sz="1500" dirty="0"/>
          </a:p>
          <a:p>
            <a:r>
              <a:rPr lang="en-US" altLang="zh-CN" sz="1500" dirty="0"/>
              <a:t>    if (</a:t>
            </a:r>
            <a:r>
              <a:rPr lang="en-US" altLang="zh-CN" sz="1500" dirty="0" err="1"/>
              <a:t>lastUsage</a:t>
            </a:r>
            <a:r>
              <a:rPr lang="en-US" altLang="zh-CN" sz="1500" dirty="0"/>
              <a:t>() &gt; 100) {</a:t>
            </a:r>
            <a:endParaRPr lang="en-US" altLang="zh-CN" sz="1500" dirty="0"/>
          </a:p>
          <a:p>
            <a:r>
              <a:rPr lang="en-US" altLang="zh-CN" sz="1500" dirty="0"/>
              <a:t>        result += (</a:t>
            </a:r>
            <a:r>
              <a:rPr lang="en-US" altLang="zh-CN" sz="1500" dirty="0" err="1"/>
              <a:t>Math.min</a:t>
            </a:r>
            <a:r>
              <a:rPr lang="en-US" altLang="zh-CN" sz="1500" dirty="0"/>
              <a:t> (</a:t>
            </a:r>
            <a:r>
              <a:rPr lang="en-US" altLang="zh-CN" sz="1500" dirty="0" err="1"/>
              <a:t>lastUsage</a:t>
            </a:r>
            <a:r>
              <a:rPr lang="en-US" altLang="zh-CN" sz="1500" dirty="0"/>
              <a:t>(),200) - 100) * 0.05;</a:t>
            </a:r>
            <a:endParaRPr lang="en-US" altLang="zh-CN" sz="1500" dirty="0"/>
          </a:p>
          <a:p>
            <a:r>
              <a:rPr lang="en-US" altLang="zh-CN" sz="1500" dirty="0"/>
              <a:t>    };</a:t>
            </a:r>
            <a:endParaRPr lang="en-US" altLang="zh-CN" sz="1500" dirty="0"/>
          </a:p>
          <a:p>
            <a:r>
              <a:rPr lang="en-US" altLang="zh-CN" sz="1500" dirty="0"/>
              <a:t>    if (</a:t>
            </a:r>
            <a:r>
              <a:rPr lang="en-US" altLang="zh-CN" sz="1500" dirty="0" err="1"/>
              <a:t>lastUsage</a:t>
            </a:r>
            <a:r>
              <a:rPr lang="en-US" altLang="zh-CN" sz="1500" dirty="0"/>
              <a:t>() &gt; 200) {</a:t>
            </a:r>
            <a:endParaRPr lang="en-US" altLang="zh-CN" sz="1500" dirty="0"/>
          </a:p>
          <a:p>
            <a:r>
              <a:rPr lang="en-US" altLang="zh-CN" sz="1500" dirty="0"/>
              <a:t>        result += (</a:t>
            </a:r>
            <a:r>
              <a:rPr lang="en-US" altLang="zh-CN" sz="1500" dirty="0" err="1"/>
              <a:t>lastUsage</a:t>
            </a:r>
            <a:r>
              <a:rPr lang="en-US" altLang="zh-CN" sz="1500" dirty="0"/>
              <a:t>() - 200) * 0.07;</a:t>
            </a:r>
            <a:endParaRPr lang="en-US" altLang="zh-CN" sz="1500" dirty="0"/>
          </a:p>
          <a:p>
            <a:r>
              <a:rPr lang="en-US" altLang="zh-CN" sz="1500" dirty="0"/>
              <a:t>    };</a:t>
            </a:r>
            <a:endParaRPr lang="en-US" altLang="zh-CN" sz="1500" dirty="0"/>
          </a:p>
          <a:p>
            <a:endParaRPr lang="en-US" altLang="zh-CN" sz="1500" dirty="0"/>
          </a:p>
          <a:p>
            <a:r>
              <a:rPr lang="en-US" altLang="zh-CN" sz="1500" dirty="0"/>
              <a:t>    return new Dollars (result);</a:t>
            </a:r>
            <a:endParaRPr lang="en-US" altLang="zh-CN" sz="1500" dirty="0"/>
          </a:p>
          <a:p>
            <a:r>
              <a:rPr lang="en-US" altLang="zh-CN" sz="1500" dirty="0"/>
              <a:t>}</a:t>
            </a:r>
            <a:endParaRPr lang="en-US" altLang="zh-CN" sz="1500" dirty="0"/>
          </a:p>
          <a:p>
            <a:endParaRPr lang="en-US" altLang="zh-CN" sz="1500" dirty="0"/>
          </a:p>
        </p:txBody>
      </p:sp>
      <p:sp>
        <p:nvSpPr>
          <p:cNvPr id="6" name="矩形 5"/>
          <p:cNvSpPr/>
          <p:nvPr/>
        </p:nvSpPr>
        <p:spPr>
          <a:xfrm>
            <a:off x="6749142" y="1803994"/>
            <a:ext cx="5312229" cy="37846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500" dirty="0"/>
              <a:t>Dollars </a:t>
            </a:r>
            <a:r>
              <a:rPr lang="en-US" altLang="zh-CN" sz="1500" dirty="0" err="1"/>
              <a:t>baseCharge</a:t>
            </a:r>
            <a:r>
              <a:rPr lang="en-US" altLang="zh-CN" sz="1500" dirty="0"/>
              <a:t>() </a:t>
            </a:r>
            <a:endParaRPr lang="en-US" altLang="zh-CN" sz="1500" dirty="0"/>
          </a:p>
          <a:p>
            <a:r>
              <a:rPr lang="en-US" altLang="zh-CN" sz="1500" dirty="0"/>
              <a:t>{</a:t>
            </a:r>
            <a:endParaRPr lang="en-US" altLang="zh-CN" sz="1500" dirty="0"/>
          </a:p>
          <a:p>
            <a:r>
              <a:rPr lang="en-US" altLang="zh-CN" sz="1500" dirty="0"/>
              <a:t>    double result = </a:t>
            </a:r>
            <a:r>
              <a:rPr lang="en-US" altLang="zh-CN" sz="1500" dirty="0" err="1"/>
              <a:t>usageInRange</a:t>
            </a:r>
            <a:r>
              <a:rPr lang="en-US" altLang="zh-CN" sz="1500" dirty="0"/>
              <a:t>(0, 100) * 0.03;</a:t>
            </a:r>
            <a:endParaRPr lang="en-US" altLang="zh-CN" sz="1500" dirty="0"/>
          </a:p>
          <a:p>
            <a:r>
              <a:rPr lang="en-US" altLang="zh-CN" sz="1500" dirty="0"/>
              <a:t>    result += </a:t>
            </a:r>
            <a:r>
              <a:rPr lang="en-US" altLang="zh-CN" sz="1500" dirty="0" err="1"/>
              <a:t>usageInRange</a:t>
            </a:r>
            <a:r>
              <a:rPr lang="en-US" altLang="zh-CN" sz="1500" dirty="0"/>
              <a:t> (100,200) * 0.05;</a:t>
            </a:r>
            <a:endParaRPr lang="en-US" altLang="zh-CN" sz="1500" dirty="0"/>
          </a:p>
          <a:p>
            <a:r>
              <a:rPr lang="en-US" altLang="zh-CN" sz="1500" dirty="0"/>
              <a:t>    result += </a:t>
            </a:r>
            <a:r>
              <a:rPr lang="en-US" altLang="zh-CN" sz="1500" dirty="0" err="1"/>
              <a:t>usageInRange</a:t>
            </a:r>
            <a:r>
              <a:rPr lang="en-US" altLang="zh-CN" sz="1500" dirty="0"/>
              <a:t> (200, </a:t>
            </a:r>
            <a:r>
              <a:rPr lang="en-US" altLang="zh-CN" sz="1500" dirty="0" err="1"/>
              <a:t>Integer.MAX_VALUE</a:t>
            </a:r>
            <a:r>
              <a:rPr lang="en-US" altLang="zh-CN" sz="1500" dirty="0"/>
              <a:t>) * 0.07;</a:t>
            </a:r>
            <a:endParaRPr lang="en-US" altLang="zh-CN" sz="1500" dirty="0"/>
          </a:p>
          <a:p>
            <a:r>
              <a:rPr lang="en-US" altLang="zh-CN" sz="1500" dirty="0"/>
              <a:t>    return new Dollars (result);</a:t>
            </a:r>
            <a:endParaRPr lang="en-US" altLang="zh-CN" sz="1500" dirty="0"/>
          </a:p>
          <a:p>
            <a:r>
              <a:rPr lang="en-US" altLang="zh-CN" sz="1500" dirty="0"/>
              <a:t>}</a:t>
            </a:r>
            <a:endParaRPr lang="en-US" altLang="zh-CN" sz="1500" dirty="0"/>
          </a:p>
          <a:p>
            <a:endParaRPr lang="en-US" altLang="zh-CN" sz="1500" dirty="0"/>
          </a:p>
          <a:p>
            <a:r>
              <a:rPr lang="en-US" altLang="zh-CN" sz="1500" dirty="0" err="1"/>
              <a:t>int</a:t>
            </a:r>
            <a:r>
              <a:rPr lang="en-US" altLang="zh-CN" sz="1500" dirty="0"/>
              <a:t> </a:t>
            </a:r>
            <a:r>
              <a:rPr lang="en-US" altLang="zh-CN" sz="1500" dirty="0" err="1"/>
              <a:t>usageInRange</a:t>
            </a:r>
            <a:r>
              <a:rPr lang="en-US" altLang="zh-CN" sz="1500" dirty="0"/>
              <a:t>(</a:t>
            </a:r>
            <a:r>
              <a:rPr lang="en-US" altLang="zh-CN" sz="1500" dirty="0" err="1"/>
              <a:t>int</a:t>
            </a:r>
            <a:r>
              <a:rPr lang="en-US" altLang="zh-CN" sz="1500" dirty="0"/>
              <a:t> start, </a:t>
            </a:r>
            <a:r>
              <a:rPr lang="en-US" altLang="zh-CN" sz="1500" dirty="0" err="1"/>
              <a:t>int</a:t>
            </a:r>
            <a:r>
              <a:rPr lang="en-US" altLang="zh-CN" sz="1500" dirty="0"/>
              <a:t> end) </a:t>
            </a:r>
            <a:endParaRPr lang="en-US" altLang="zh-CN" sz="1500" dirty="0"/>
          </a:p>
          <a:p>
            <a:r>
              <a:rPr lang="en-US" altLang="zh-CN" sz="1500" dirty="0"/>
              <a:t>{</a:t>
            </a:r>
            <a:endParaRPr lang="en-US" altLang="zh-CN" sz="1500" dirty="0"/>
          </a:p>
          <a:p>
            <a:r>
              <a:rPr lang="en-US" altLang="zh-CN" sz="1500" dirty="0"/>
              <a:t>    if (</a:t>
            </a:r>
            <a:r>
              <a:rPr lang="en-US" altLang="zh-CN" sz="1500" dirty="0" err="1"/>
              <a:t>lastUsage</a:t>
            </a:r>
            <a:r>
              <a:rPr lang="en-US" altLang="zh-CN" sz="1500" dirty="0"/>
              <a:t>() &gt; start) </a:t>
            </a:r>
            <a:endParaRPr lang="en-US" altLang="zh-CN" sz="1500" dirty="0"/>
          </a:p>
          <a:p>
            <a:r>
              <a:rPr lang="en-US" altLang="zh-CN" sz="1500" dirty="0"/>
              <a:t>        return </a:t>
            </a:r>
            <a:r>
              <a:rPr lang="en-US" altLang="zh-CN" sz="1500" dirty="0" err="1"/>
              <a:t>Math.min</a:t>
            </a:r>
            <a:r>
              <a:rPr lang="en-US" altLang="zh-CN" sz="1500" dirty="0"/>
              <a:t>(</a:t>
            </a:r>
            <a:r>
              <a:rPr lang="en-US" altLang="zh-CN" sz="1500" dirty="0" err="1"/>
              <a:t>lastUsage</a:t>
            </a:r>
            <a:r>
              <a:rPr lang="en-US" altLang="zh-CN" sz="1500" dirty="0"/>
              <a:t>(),end) -start;</a:t>
            </a:r>
            <a:endParaRPr lang="en-US" altLang="zh-CN" sz="1500" dirty="0"/>
          </a:p>
          <a:p>
            <a:r>
              <a:rPr lang="en-US" altLang="zh-CN" sz="1500" dirty="0"/>
              <a:t>    else </a:t>
            </a:r>
            <a:endParaRPr lang="en-US" altLang="zh-CN" sz="1500" dirty="0"/>
          </a:p>
          <a:p>
            <a:r>
              <a:rPr lang="en-US" altLang="zh-CN" sz="1500" dirty="0"/>
              <a:t>        return 0;</a:t>
            </a:r>
            <a:endParaRPr lang="en-US" altLang="zh-CN" sz="1500" dirty="0"/>
          </a:p>
          <a:p>
            <a:r>
              <a:rPr lang="en-US" altLang="zh-CN" sz="1500" dirty="0"/>
              <a:t>}</a:t>
            </a:r>
            <a:endParaRPr lang="en-US" altLang="zh-CN" sz="1500" dirty="0"/>
          </a:p>
          <a:p>
            <a:endParaRPr lang="en-US" altLang="zh-CN" sz="1500" dirty="0"/>
          </a:p>
        </p:txBody>
      </p:sp>
      <p:sp>
        <p:nvSpPr>
          <p:cNvPr id="7" name="AutoShape 8"/>
          <p:cNvSpPr>
            <a:spLocks noChangeArrowheads="1"/>
          </p:cNvSpPr>
          <p:nvPr/>
        </p:nvSpPr>
        <p:spPr bwMode="auto">
          <a:xfrm>
            <a:off x="5442859" y="3198289"/>
            <a:ext cx="925286" cy="673893"/>
          </a:xfrm>
          <a:prstGeom prst="rightArrow">
            <a:avLst>
              <a:gd name="adj1" fmla="val 50000"/>
              <a:gd name="adj2" fmla="val 3539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000">
        <p:random/>
      </p:transition>
    </mc:Choice>
    <mc:Fallback>
      <p:transition spd="slow" advTm="1000">
        <p:random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76900" y="91382"/>
            <a:ext cx="9267385" cy="95313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Replace Parameter with Explicit Methods</a:t>
            </a:r>
            <a:endParaRPr lang="en-US" altLang="zh-CN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（以明确函数取代参数）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Box 9"/>
          <p:cNvSpPr txBox="1">
            <a:spLocks noChangeArrowheads="1"/>
          </p:cNvSpPr>
          <p:nvPr/>
        </p:nvSpPr>
        <p:spPr bwMode="auto">
          <a:xfrm>
            <a:off x="286362" y="1545794"/>
            <a:ext cx="4409501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 algn="l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algn="l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algn="l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algn="l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algn="l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1600" dirty="0">
                <a:ea typeface="华文细黑" panose="02010600040101010101" pitchFamily="2" charset="-122"/>
              </a:rPr>
              <a:t>函数实现完全取决于参数值而采取不同反应</a:t>
            </a:r>
            <a:endParaRPr lang="zh-CN" altLang="en-US" sz="1600" dirty="0">
              <a:ea typeface="华文细黑" panose="02010600040101010101" pitchFamily="2" charset="-122"/>
            </a:endParaRPr>
          </a:p>
        </p:txBody>
      </p:sp>
      <p:sp>
        <p:nvSpPr>
          <p:cNvPr id="4" name="Text Box 7"/>
          <p:cNvSpPr txBox="1">
            <a:spLocks noChangeArrowheads="1"/>
          </p:cNvSpPr>
          <p:nvPr/>
        </p:nvSpPr>
        <p:spPr bwMode="auto">
          <a:xfrm>
            <a:off x="6749142" y="1545794"/>
            <a:ext cx="4409501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 algn="l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algn="l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algn="l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algn="l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algn="l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1500" dirty="0">
                <a:ea typeface="华文细黑" panose="02010600040101010101" pitchFamily="2" charset="-122"/>
              </a:rPr>
              <a:t>针对该参数的每一个可能值，建立一个独立函数</a:t>
            </a:r>
            <a:endParaRPr lang="zh-CN" altLang="en-US" sz="1500" dirty="0">
              <a:ea typeface="华文细黑" panose="0201060004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86362" y="2130566"/>
            <a:ext cx="4938781" cy="2399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500" dirty="0"/>
              <a:t>void </a:t>
            </a:r>
            <a:r>
              <a:rPr lang="en-US" altLang="zh-CN" sz="1500" dirty="0" err="1"/>
              <a:t>setValue</a:t>
            </a:r>
            <a:r>
              <a:rPr lang="en-US" altLang="zh-CN" sz="1500" dirty="0"/>
              <a:t> (String name, </a:t>
            </a:r>
            <a:r>
              <a:rPr lang="en-US" altLang="zh-CN" sz="1500" dirty="0" err="1"/>
              <a:t>int</a:t>
            </a:r>
            <a:r>
              <a:rPr lang="en-US" altLang="zh-CN" sz="1500" dirty="0"/>
              <a:t> value) </a:t>
            </a:r>
            <a:endParaRPr lang="en-US" altLang="zh-CN" sz="1500" dirty="0"/>
          </a:p>
          <a:p>
            <a:r>
              <a:rPr lang="en-US" altLang="zh-CN" sz="1500" dirty="0"/>
              <a:t>{</a:t>
            </a:r>
            <a:endParaRPr lang="en-US" altLang="zh-CN" sz="1500" dirty="0"/>
          </a:p>
          <a:p>
            <a:r>
              <a:rPr lang="en-US" altLang="zh-CN" sz="1500" dirty="0"/>
              <a:t>    if (</a:t>
            </a:r>
            <a:r>
              <a:rPr lang="en-US" altLang="zh-CN" sz="1500" dirty="0" err="1"/>
              <a:t>name.equals</a:t>
            </a:r>
            <a:r>
              <a:rPr lang="en-US" altLang="zh-CN" sz="1500" dirty="0"/>
              <a:t>("height"))</a:t>
            </a:r>
            <a:endParaRPr lang="en-US" altLang="zh-CN" sz="1500" dirty="0"/>
          </a:p>
          <a:p>
            <a:r>
              <a:rPr lang="en-US" altLang="zh-CN" sz="1500" dirty="0"/>
              <a:t>        _height = value;</a:t>
            </a:r>
            <a:endParaRPr lang="en-US" altLang="zh-CN" sz="1500" dirty="0"/>
          </a:p>
          <a:p>
            <a:endParaRPr lang="en-US" altLang="zh-CN" sz="1500" dirty="0"/>
          </a:p>
          <a:p>
            <a:r>
              <a:rPr lang="en-US" altLang="zh-CN" sz="1500" dirty="0"/>
              <a:t>    if (</a:t>
            </a:r>
            <a:r>
              <a:rPr lang="en-US" altLang="zh-CN" sz="1500" dirty="0" err="1"/>
              <a:t>name.equals</a:t>
            </a:r>
            <a:r>
              <a:rPr lang="en-US" altLang="zh-CN" sz="1500" dirty="0"/>
              <a:t>("width"))</a:t>
            </a:r>
            <a:endParaRPr lang="en-US" altLang="zh-CN" sz="1500" dirty="0"/>
          </a:p>
          <a:p>
            <a:r>
              <a:rPr lang="en-US" altLang="zh-CN" sz="1500" dirty="0"/>
              <a:t>        _width = value;</a:t>
            </a:r>
            <a:endParaRPr lang="en-US" altLang="zh-CN" sz="1500" dirty="0"/>
          </a:p>
          <a:p>
            <a:endParaRPr lang="en-US" altLang="zh-CN" sz="1500" dirty="0"/>
          </a:p>
          <a:p>
            <a:r>
              <a:rPr lang="en-US" altLang="zh-CN" sz="1500" dirty="0"/>
              <a:t>    </a:t>
            </a:r>
            <a:r>
              <a:rPr lang="en-US" altLang="zh-CN" sz="1500" dirty="0" err="1"/>
              <a:t>Assert.shouldNeverReachHere</a:t>
            </a:r>
            <a:r>
              <a:rPr lang="en-US" altLang="zh-CN" sz="1500" dirty="0"/>
              <a:t>();</a:t>
            </a:r>
            <a:endParaRPr lang="en-US" altLang="zh-CN" sz="1500" dirty="0"/>
          </a:p>
          <a:p>
            <a:r>
              <a:rPr lang="en-US" altLang="zh-CN" sz="1500" dirty="0"/>
              <a:t>}</a:t>
            </a:r>
            <a:endParaRPr lang="en-US" altLang="zh-CN" sz="1500" dirty="0"/>
          </a:p>
        </p:txBody>
      </p:sp>
      <p:sp>
        <p:nvSpPr>
          <p:cNvPr id="6" name="矩形 5"/>
          <p:cNvSpPr/>
          <p:nvPr/>
        </p:nvSpPr>
        <p:spPr>
          <a:xfrm>
            <a:off x="6749142" y="2130566"/>
            <a:ext cx="4572001" cy="23996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500" dirty="0"/>
              <a:t>void </a:t>
            </a:r>
            <a:r>
              <a:rPr lang="en-US" altLang="zh-CN" sz="1500" dirty="0" err="1"/>
              <a:t>setHeight</a:t>
            </a:r>
            <a:r>
              <a:rPr lang="en-US" altLang="zh-CN" sz="1500" dirty="0"/>
              <a:t>(</a:t>
            </a:r>
            <a:r>
              <a:rPr lang="en-US" altLang="zh-CN" sz="1500" dirty="0" err="1"/>
              <a:t>int</a:t>
            </a:r>
            <a:r>
              <a:rPr lang="en-US" altLang="zh-CN" sz="1500" dirty="0"/>
              <a:t> </a:t>
            </a:r>
            <a:r>
              <a:rPr lang="en-US" altLang="zh-CN" sz="1500" dirty="0" err="1"/>
              <a:t>arg</a:t>
            </a:r>
            <a:r>
              <a:rPr lang="en-US" altLang="zh-CN" sz="1500" dirty="0"/>
              <a:t>) </a:t>
            </a:r>
            <a:endParaRPr lang="en-US" altLang="zh-CN" sz="1500" dirty="0"/>
          </a:p>
          <a:p>
            <a:r>
              <a:rPr lang="en-US" altLang="zh-CN" sz="1500" dirty="0"/>
              <a:t>{</a:t>
            </a:r>
            <a:endParaRPr lang="en-US" altLang="zh-CN" sz="1500" dirty="0"/>
          </a:p>
          <a:p>
            <a:r>
              <a:rPr lang="en-US" altLang="zh-CN" sz="1500" dirty="0"/>
              <a:t>    _height = </a:t>
            </a:r>
            <a:r>
              <a:rPr lang="en-US" altLang="zh-CN" sz="1500" dirty="0" err="1"/>
              <a:t>arg</a:t>
            </a:r>
            <a:r>
              <a:rPr lang="en-US" altLang="zh-CN" sz="1500" dirty="0"/>
              <a:t>;</a:t>
            </a:r>
            <a:endParaRPr lang="en-US" altLang="zh-CN" sz="1500" dirty="0"/>
          </a:p>
          <a:p>
            <a:r>
              <a:rPr lang="en-US" altLang="zh-CN" sz="1500" dirty="0"/>
              <a:t>}</a:t>
            </a:r>
            <a:endParaRPr lang="en-US" altLang="zh-CN" sz="1500" dirty="0"/>
          </a:p>
          <a:p>
            <a:endParaRPr lang="en-US" altLang="zh-CN" sz="1500" dirty="0"/>
          </a:p>
          <a:p>
            <a:r>
              <a:rPr lang="en-US" altLang="zh-CN" sz="1500" dirty="0"/>
              <a:t>void </a:t>
            </a:r>
            <a:r>
              <a:rPr lang="en-US" altLang="zh-CN" sz="1500" dirty="0" err="1"/>
              <a:t>setWidth</a:t>
            </a:r>
            <a:r>
              <a:rPr lang="en-US" altLang="zh-CN" sz="1500" dirty="0"/>
              <a:t> (</a:t>
            </a:r>
            <a:r>
              <a:rPr lang="en-US" altLang="zh-CN" sz="1500" dirty="0" err="1"/>
              <a:t>int</a:t>
            </a:r>
            <a:r>
              <a:rPr lang="en-US" altLang="zh-CN" sz="1500" dirty="0"/>
              <a:t> </a:t>
            </a:r>
            <a:r>
              <a:rPr lang="en-US" altLang="zh-CN" sz="1500" dirty="0" err="1"/>
              <a:t>arg</a:t>
            </a:r>
            <a:r>
              <a:rPr lang="en-US" altLang="zh-CN" sz="1500" dirty="0"/>
              <a:t>) </a:t>
            </a:r>
            <a:endParaRPr lang="en-US" altLang="zh-CN" sz="1500" dirty="0"/>
          </a:p>
          <a:p>
            <a:r>
              <a:rPr lang="en-US" altLang="zh-CN" sz="1500" dirty="0"/>
              <a:t>{</a:t>
            </a:r>
            <a:endParaRPr lang="en-US" altLang="zh-CN" sz="1500" dirty="0"/>
          </a:p>
          <a:p>
            <a:r>
              <a:rPr lang="en-US" altLang="zh-CN" sz="1500" dirty="0"/>
              <a:t>    _width = </a:t>
            </a:r>
            <a:r>
              <a:rPr lang="en-US" altLang="zh-CN" sz="1500" dirty="0" err="1"/>
              <a:t>arg</a:t>
            </a:r>
            <a:r>
              <a:rPr lang="en-US" altLang="zh-CN" sz="1500" dirty="0"/>
              <a:t>;</a:t>
            </a:r>
            <a:endParaRPr lang="en-US" altLang="zh-CN" sz="1500" dirty="0"/>
          </a:p>
          <a:p>
            <a:r>
              <a:rPr lang="en-US" altLang="zh-CN" sz="1500" dirty="0"/>
              <a:t>}</a:t>
            </a:r>
            <a:endParaRPr lang="en-US" altLang="zh-CN" sz="1500" dirty="0"/>
          </a:p>
          <a:p>
            <a:endParaRPr lang="en-US" altLang="zh-CN" sz="1500" dirty="0"/>
          </a:p>
        </p:txBody>
      </p:sp>
      <p:sp>
        <p:nvSpPr>
          <p:cNvPr id="7" name="AutoShape 8"/>
          <p:cNvSpPr>
            <a:spLocks noChangeArrowheads="1"/>
          </p:cNvSpPr>
          <p:nvPr/>
        </p:nvSpPr>
        <p:spPr bwMode="auto">
          <a:xfrm>
            <a:off x="5442859" y="2893491"/>
            <a:ext cx="925286" cy="673893"/>
          </a:xfrm>
          <a:prstGeom prst="rightArrow">
            <a:avLst>
              <a:gd name="adj1" fmla="val 50000"/>
              <a:gd name="adj2" fmla="val 3539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8" name="爆炸形 2 3"/>
          <p:cNvSpPr/>
          <p:nvPr/>
        </p:nvSpPr>
        <p:spPr>
          <a:xfrm>
            <a:off x="3287486" y="5532209"/>
            <a:ext cx="3722914" cy="1061062"/>
          </a:xfrm>
          <a:prstGeom prst="irregularSeal2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函数单一职责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000">
        <p:random/>
      </p:transition>
    </mc:Choice>
    <mc:Fallback>
      <p:transition spd="slow" advTm="1000">
        <p:random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076899" y="38872"/>
            <a:ext cx="9267385" cy="95313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Replace Conditional with Polymorphism</a:t>
            </a:r>
            <a:endParaRPr lang="en-US" altLang="zh-CN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（以多态取代条件式）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168956" y="1333583"/>
            <a:ext cx="5326380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 algn="l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algn="l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algn="l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algn="l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algn="l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1500" dirty="0">
                <a:ea typeface="华文细黑" panose="02010600040101010101" pitchFamily="2" charset="-122"/>
              </a:rPr>
              <a:t>你手上有个条件式，它根据对象类型的不同而选择不同的行为</a:t>
            </a:r>
            <a:endParaRPr lang="zh-CN" altLang="en-US" sz="1500" dirty="0">
              <a:ea typeface="华文细黑" panose="02010600040101010101" pitchFamily="2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68956" y="1997839"/>
            <a:ext cx="6275387" cy="309181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500" dirty="0"/>
              <a:t>double </a:t>
            </a:r>
            <a:r>
              <a:rPr lang="en-US" altLang="zh-CN" sz="1500" dirty="0" err="1"/>
              <a:t>getSpeed</a:t>
            </a:r>
            <a:r>
              <a:rPr lang="en-US" altLang="zh-CN" sz="1500" dirty="0"/>
              <a:t>() </a:t>
            </a:r>
            <a:endParaRPr lang="en-US" altLang="zh-CN" sz="1500" dirty="0"/>
          </a:p>
          <a:p>
            <a:r>
              <a:rPr lang="en-US" altLang="zh-CN" sz="1500" dirty="0"/>
              <a:t>{</a:t>
            </a:r>
            <a:endParaRPr lang="en-US" altLang="zh-CN" sz="1500" dirty="0"/>
          </a:p>
          <a:p>
            <a:r>
              <a:rPr lang="en-US" altLang="zh-CN" sz="1500" dirty="0"/>
              <a:t>    switch (_type) {</a:t>
            </a:r>
            <a:endParaRPr lang="en-US" altLang="zh-CN" sz="1500" dirty="0"/>
          </a:p>
          <a:p>
            <a:r>
              <a:rPr lang="en-US" altLang="zh-CN" sz="1500" dirty="0"/>
              <a:t>        case EUROPEAN:</a:t>
            </a:r>
            <a:endParaRPr lang="en-US" altLang="zh-CN" sz="1500" dirty="0"/>
          </a:p>
          <a:p>
            <a:r>
              <a:rPr lang="en-US" altLang="zh-CN" sz="1500" dirty="0"/>
              <a:t>            return </a:t>
            </a:r>
            <a:r>
              <a:rPr lang="en-US" altLang="zh-CN" sz="1500" dirty="0" err="1"/>
              <a:t>getBaseSpeed</a:t>
            </a:r>
            <a:r>
              <a:rPr lang="en-US" altLang="zh-CN" sz="1500" dirty="0"/>
              <a:t>();</a:t>
            </a:r>
            <a:endParaRPr lang="en-US" altLang="zh-CN" sz="1500" dirty="0"/>
          </a:p>
          <a:p>
            <a:r>
              <a:rPr lang="en-US" altLang="zh-CN" sz="1500" dirty="0"/>
              <a:t>        case AFRICAN:</a:t>
            </a:r>
            <a:endParaRPr lang="en-US" altLang="zh-CN" sz="1500" dirty="0"/>
          </a:p>
          <a:p>
            <a:r>
              <a:rPr lang="en-US" altLang="zh-CN" sz="1500" dirty="0"/>
              <a:t>            return </a:t>
            </a:r>
            <a:r>
              <a:rPr lang="en-US" altLang="zh-CN" sz="1500" dirty="0" err="1"/>
              <a:t>getBaseSpeed</a:t>
            </a:r>
            <a:r>
              <a:rPr lang="en-US" altLang="zh-CN" sz="1500" dirty="0"/>
              <a:t>() - </a:t>
            </a:r>
            <a:r>
              <a:rPr lang="en-US" altLang="zh-CN" sz="1500" dirty="0" err="1"/>
              <a:t>getLoadFactor</a:t>
            </a:r>
            <a:r>
              <a:rPr lang="en-US" altLang="zh-CN" sz="1500" dirty="0"/>
              <a:t>() *_</a:t>
            </a:r>
            <a:r>
              <a:rPr lang="en-US" altLang="zh-CN" sz="1500" dirty="0" err="1"/>
              <a:t>numberOfCoconuts</a:t>
            </a:r>
            <a:r>
              <a:rPr lang="en-US" altLang="zh-CN" sz="1500" dirty="0"/>
              <a:t>;</a:t>
            </a:r>
            <a:endParaRPr lang="en-US" altLang="zh-CN" sz="1500" dirty="0"/>
          </a:p>
          <a:p>
            <a:r>
              <a:rPr lang="en-US" altLang="zh-CN" sz="1500" dirty="0"/>
              <a:t>        case NORWEGIAN_BLUE:</a:t>
            </a:r>
            <a:endParaRPr lang="en-US" altLang="zh-CN" sz="1500" dirty="0"/>
          </a:p>
          <a:p>
            <a:r>
              <a:rPr lang="en-US" altLang="zh-CN" sz="1500" dirty="0"/>
              <a:t>            return (_</a:t>
            </a:r>
            <a:r>
              <a:rPr lang="en-US" altLang="zh-CN" sz="1500" dirty="0" err="1"/>
              <a:t>isNailed</a:t>
            </a:r>
            <a:r>
              <a:rPr lang="en-US" altLang="zh-CN" sz="1500" dirty="0"/>
              <a:t>) ? 0 : </a:t>
            </a:r>
            <a:r>
              <a:rPr lang="en-US" altLang="zh-CN" sz="1500" dirty="0" err="1"/>
              <a:t>getBaseSpeed</a:t>
            </a:r>
            <a:r>
              <a:rPr lang="en-US" altLang="zh-CN" sz="1500" dirty="0"/>
              <a:t>(_voltage);</a:t>
            </a:r>
            <a:endParaRPr lang="en-US" altLang="zh-CN" sz="1500" dirty="0"/>
          </a:p>
          <a:p>
            <a:r>
              <a:rPr lang="en-US" altLang="zh-CN" sz="1500" dirty="0"/>
              <a:t>    }</a:t>
            </a:r>
            <a:endParaRPr lang="en-US" altLang="zh-CN" sz="1500" dirty="0"/>
          </a:p>
          <a:p>
            <a:endParaRPr lang="en-US" altLang="zh-CN" sz="1500" dirty="0"/>
          </a:p>
          <a:p>
            <a:r>
              <a:rPr lang="en-US" altLang="zh-CN" sz="1500" dirty="0"/>
              <a:t>    throw new </a:t>
            </a:r>
            <a:r>
              <a:rPr lang="en-US" altLang="zh-CN" sz="1500" dirty="0" err="1"/>
              <a:t>RuntimeException</a:t>
            </a:r>
            <a:r>
              <a:rPr lang="en-US" altLang="zh-CN" sz="1500" dirty="0"/>
              <a:t> ("Should be unreachable");</a:t>
            </a:r>
            <a:endParaRPr lang="en-US" altLang="zh-CN" sz="1500" dirty="0"/>
          </a:p>
          <a:p>
            <a:r>
              <a:rPr lang="en-US" altLang="zh-CN" sz="1500" dirty="0"/>
              <a:t>}</a:t>
            </a:r>
            <a:endParaRPr lang="en-US" altLang="zh-CN" sz="1500" dirty="0"/>
          </a:p>
        </p:txBody>
      </p:sp>
      <p:graphicFrame>
        <p:nvGraphicFramePr>
          <p:cNvPr id="16" name="Object 13"/>
          <p:cNvGraphicFramePr>
            <a:graphicFrameLocks noChangeAspect="1"/>
          </p:cNvGraphicFramePr>
          <p:nvPr/>
        </p:nvGraphicFramePr>
        <p:xfrm>
          <a:off x="7496628" y="1877867"/>
          <a:ext cx="5320312" cy="26397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VISIO" r:id="rId1" imgW="3058795" imgH="1519555" progId="Visio.Drawing.6">
                  <p:embed/>
                </p:oleObj>
              </mc:Choice>
              <mc:Fallback>
                <p:oleObj name="VISIO" r:id="rId1" imgW="3058795" imgH="1519555" progId="Visio.Drawing.6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96628" y="1877867"/>
                        <a:ext cx="5320312" cy="26397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AutoShape 8"/>
          <p:cNvSpPr>
            <a:spLocks noChangeArrowheads="1"/>
          </p:cNvSpPr>
          <p:nvPr/>
        </p:nvSpPr>
        <p:spPr bwMode="auto">
          <a:xfrm>
            <a:off x="6593113" y="2786460"/>
            <a:ext cx="925286" cy="673893"/>
          </a:xfrm>
          <a:prstGeom prst="rightArrow">
            <a:avLst>
              <a:gd name="adj1" fmla="val 50000"/>
              <a:gd name="adj2" fmla="val 3539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7398657" y="5254319"/>
            <a:ext cx="4702629" cy="553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500" dirty="0"/>
              <a:t>将整个条件式的每个分支放进一个子类的重载方法中，然后将原始函数声明为抽象方法</a:t>
            </a:r>
            <a:endParaRPr lang="zh-CN" alt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000">
        <p:random/>
      </p:transition>
    </mc:Choice>
    <mc:Fallback>
      <p:transition spd="slow" advTm="1000">
        <p:random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5"/>
          <p:cNvSpPr txBox="1">
            <a:spLocks noChangeArrowheads="1"/>
          </p:cNvSpPr>
          <p:nvPr/>
        </p:nvSpPr>
        <p:spPr bwMode="auto">
          <a:xfrm>
            <a:off x="2786886" y="2341864"/>
            <a:ext cx="3309113" cy="1198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r>
              <a:rPr lang="zh-CN" altLang="en-US" sz="3600" b="1" dirty="0">
                <a:solidFill>
                  <a:schemeClr val="accent4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几个良好的代码编写习惯</a:t>
            </a:r>
            <a:endParaRPr lang="en-US" altLang="zh-CN" sz="3600" b="1" dirty="0">
              <a:solidFill>
                <a:schemeClr val="accent4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2786887" y="3802631"/>
            <a:ext cx="2921455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2786887" y="3920382"/>
            <a:ext cx="1652606" cy="35331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latin typeface="+mj-lt"/>
              </a:rPr>
              <a:t>PART FIVE</a:t>
            </a:r>
            <a:endParaRPr lang="zh-CN" altLang="en-US" sz="1600" dirty="0">
              <a:latin typeface="+mj-lt"/>
            </a:endParaRPr>
          </a:p>
        </p:txBody>
      </p:sp>
      <p:sp>
        <p:nvSpPr>
          <p:cNvPr id="15" name="Text Box 7"/>
          <p:cNvSpPr txBox="1">
            <a:spLocks noChangeArrowheads="1"/>
          </p:cNvSpPr>
          <p:nvPr/>
        </p:nvSpPr>
        <p:spPr bwMode="auto">
          <a:xfrm>
            <a:off x="1307067" y="2376850"/>
            <a:ext cx="1233170" cy="261429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60923" tIns="30461" rIns="60923" bIns="30461">
            <a:spAutoFit/>
          </a:bodyPr>
          <a:lstStyle/>
          <a:p>
            <a:pPr algn="r" defTabSz="1087755"/>
            <a:r>
              <a:rPr lang="en-CA" sz="16600" spc="-151" dirty="0">
                <a:solidFill>
                  <a:schemeClr val="accent4"/>
                </a:solidFill>
                <a:latin typeface="Impact" panose="020B0806030902050204" pitchFamily="34" charset="0"/>
                <a:ea typeface="微软雅黑" panose="020B0503020204020204" pitchFamily="34" charset="-122"/>
                <a:cs typeface="IrisUPC" pitchFamily="34" charset="-34"/>
              </a:rPr>
              <a:t>5</a:t>
            </a:r>
            <a:endParaRPr lang="en-CA" sz="16600" spc="-151" dirty="0">
              <a:solidFill>
                <a:schemeClr val="accent4"/>
              </a:solidFill>
              <a:latin typeface="Impact" panose="020B0806030902050204" pitchFamily="34" charset="0"/>
              <a:ea typeface="微软雅黑" panose="020B0503020204020204" pitchFamily="34" charset="-122"/>
              <a:cs typeface="IrisUPC" pitchFamily="34" charset="-34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1640" y="1595088"/>
            <a:ext cx="5051955" cy="44150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0">
        <p14:prism isContent="1"/>
      </p:transition>
    </mc:Choice>
    <mc:Fallback>
      <p:transition spd="slow" advClick="0" advTm="0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891842" y="135105"/>
            <a:ext cx="9267385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单一抽象层次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Rectangle 5"/>
          <p:cNvSpPr txBox="1">
            <a:spLocks noChangeArrowheads="1"/>
          </p:cNvSpPr>
          <p:nvPr/>
        </p:nvSpPr>
        <p:spPr>
          <a:xfrm>
            <a:off x="402772" y="867612"/>
            <a:ext cx="8686800" cy="507504"/>
          </a:xfrm>
          <a:prstGeom prst="rect">
            <a:avLst/>
          </a:prstGeom>
          <a:noFill/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zh-CN" altLang="en-US" sz="1800" dirty="0">
                <a:solidFill>
                  <a:schemeClr val="accent3">
                    <a:lumMod val="75000"/>
                  </a:schemeClr>
                </a:solidFill>
                <a:latin typeface="Impact" panose="020B0806030902050204" pitchFamily="34" charset="0"/>
                <a:ea typeface="宋体" panose="02010600030101010101" pitchFamily="2" charset="-122"/>
              </a:rPr>
              <a:t>单一抽象层次是优秀编码风格中最重要的原则，没有之一。</a:t>
            </a:r>
            <a:endParaRPr lang="en-US" altLang="zh-CN" sz="1800" dirty="0">
              <a:solidFill>
                <a:schemeClr val="accent3">
                  <a:lumMod val="75000"/>
                </a:schemeClr>
              </a:solidFill>
              <a:latin typeface="Impact" panose="020B080603090205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23256" y="1307335"/>
            <a:ext cx="681925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函数单一抽象层次是指函数中所有的操作处于相同的层次（相同的逻辑层次）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1176537" y="1961004"/>
            <a:ext cx="3828008" cy="37846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500" dirty="0" err="1"/>
              <a:t>eg</a:t>
            </a:r>
            <a:r>
              <a:rPr lang="en-US" altLang="zh-CN" sz="1500" dirty="0"/>
              <a:t>.</a:t>
            </a:r>
            <a:endParaRPr lang="en-US" altLang="zh-CN" sz="1500" dirty="0"/>
          </a:p>
          <a:p>
            <a:r>
              <a:rPr lang="en-US" altLang="zh-CN" sz="1500" dirty="0"/>
              <a:t>Function </a:t>
            </a:r>
            <a:r>
              <a:rPr lang="zh-CN" altLang="en-US" sz="1500" dirty="0"/>
              <a:t>放大象进冰箱</a:t>
            </a:r>
            <a:r>
              <a:rPr lang="en-US" altLang="zh-CN" sz="1500" dirty="0"/>
              <a:t>(){</a:t>
            </a:r>
            <a:endParaRPr lang="en-US" altLang="zh-CN" sz="1500" dirty="0"/>
          </a:p>
          <a:p>
            <a:r>
              <a:rPr lang="en-US" altLang="zh-CN" sz="1500" dirty="0"/>
              <a:t>    </a:t>
            </a:r>
            <a:r>
              <a:rPr lang="zh-CN" altLang="en-US" sz="1500" dirty="0"/>
              <a:t>举起胳膊</a:t>
            </a:r>
            <a:r>
              <a:rPr lang="en-US" altLang="zh-CN" sz="1500" dirty="0"/>
              <a:t>();</a:t>
            </a:r>
            <a:endParaRPr lang="en-US" altLang="zh-CN" sz="1500" dirty="0"/>
          </a:p>
          <a:p>
            <a:r>
              <a:rPr lang="en-US" altLang="zh-CN" sz="1500" dirty="0"/>
              <a:t>    </a:t>
            </a:r>
            <a:r>
              <a:rPr lang="zh-CN" altLang="en-US" sz="1500" dirty="0"/>
              <a:t>伸手握住冰箱把手</a:t>
            </a:r>
            <a:r>
              <a:rPr lang="en-US" altLang="zh-CN" sz="1500" dirty="0"/>
              <a:t>();</a:t>
            </a:r>
            <a:endParaRPr lang="en-US" altLang="zh-CN" sz="1500" dirty="0"/>
          </a:p>
          <a:p>
            <a:r>
              <a:rPr lang="en-US" altLang="zh-CN" sz="1500" dirty="0"/>
              <a:t>    while(</a:t>
            </a:r>
            <a:r>
              <a:rPr lang="zh-CN" altLang="en-US" sz="1500" dirty="0"/>
              <a:t>冰箱门</a:t>
            </a:r>
            <a:r>
              <a:rPr lang="en-US" altLang="zh-CN" sz="1500" dirty="0"/>
              <a:t>&lt;90</a:t>
            </a:r>
            <a:r>
              <a:rPr lang="zh-CN" altLang="en-US" sz="1500" dirty="0"/>
              <a:t>度）</a:t>
            </a:r>
            <a:endParaRPr lang="en-US" altLang="zh-CN" sz="1500" dirty="0"/>
          </a:p>
          <a:p>
            <a:r>
              <a:rPr lang="en-US" altLang="zh-CN" sz="1500" dirty="0"/>
              <a:t>          </a:t>
            </a:r>
            <a:r>
              <a:rPr lang="zh-CN" altLang="en-US" sz="1500" dirty="0"/>
              <a:t>手再拉回</a:t>
            </a:r>
            <a:r>
              <a:rPr lang="en-US" altLang="zh-CN" sz="1500" dirty="0"/>
              <a:t>20cm</a:t>
            </a:r>
            <a:r>
              <a:rPr lang="zh-CN" altLang="en-US" sz="1500" dirty="0"/>
              <a:t>；</a:t>
            </a:r>
            <a:endParaRPr lang="en-US" altLang="zh-CN" sz="1500" dirty="0"/>
          </a:p>
          <a:p>
            <a:r>
              <a:rPr lang="en-US" altLang="zh-CN" sz="1500" dirty="0"/>
              <a:t>     </a:t>
            </a:r>
            <a:endParaRPr lang="en-US" altLang="zh-CN" sz="1500" dirty="0"/>
          </a:p>
          <a:p>
            <a:r>
              <a:rPr lang="en-US" altLang="zh-CN" sz="1500" dirty="0"/>
              <a:t>     </a:t>
            </a:r>
            <a:r>
              <a:rPr lang="zh-CN" altLang="en-US" sz="1500" dirty="0"/>
              <a:t>推动大象（）</a:t>
            </a:r>
            <a:r>
              <a:rPr lang="en-US" altLang="zh-CN" sz="1500" dirty="0"/>
              <a:t>;</a:t>
            </a:r>
            <a:endParaRPr lang="en-US" altLang="zh-CN" sz="1500" dirty="0"/>
          </a:p>
          <a:p>
            <a:endParaRPr lang="en-US" altLang="zh-CN" sz="1500" dirty="0"/>
          </a:p>
          <a:p>
            <a:r>
              <a:rPr lang="en-US" altLang="zh-CN" sz="1500" dirty="0"/>
              <a:t>     if(</a:t>
            </a:r>
            <a:r>
              <a:rPr lang="zh-CN" altLang="en-US" sz="1500" dirty="0"/>
              <a:t>门关不上）</a:t>
            </a:r>
            <a:r>
              <a:rPr lang="en-US" altLang="zh-CN" sz="1500" dirty="0"/>
              <a:t>{</a:t>
            </a:r>
            <a:endParaRPr lang="en-US" altLang="zh-CN" sz="1500" dirty="0"/>
          </a:p>
          <a:p>
            <a:r>
              <a:rPr lang="en-US" altLang="zh-CN" sz="1500" dirty="0"/>
              <a:t>          </a:t>
            </a:r>
            <a:r>
              <a:rPr lang="zh-CN" altLang="en-US" sz="1500" dirty="0"/>
              <a:t>抬脚</a:t>
            </a:r>
            <a:r>
              <a:rPr lang="en-US" altLang="zh-CN" sz="1500" dirty="0"/>
              <a:t>();</a:t>
            </a:r>
            <a:endParaRPr lang="en-US" altLang="zh-CN" sz="1500" dirty="0"/>
          </a:p>
          <a:p>
            <a:r>
              <a:rPr lang="en-US" altLang="zh-CN" sz="1500" dirty="0"/>
              <a:t>          </a:t>
            </a:r>
            <a:r>
              <a:rPr lang="zh-CN" altLang="en-US" sz="1500" dirty="0"/>
              <a:t>用例踹大象屁股</a:t>
            </a:r>
            <a:r>
              <a:rPr lang="en-US" altLang="zh-CN" sz="1500" dirty="0"/>
              <a:t>(</a:t>
            </a:r>
            <a:r>
              <a:rPr lang="zh-CN" altLang="en-US" sz="1500" dirty="0"/>
              <a:t>）；</a:t>
            </a:r>
            <a:endParaRPr lang="en-US" altLang="zh-CN" sz="1500" dirty="0"/>
          </a:p>
          <a:p>
            <a:r>
              <a:rPr lang="en-US" altLang="zh-CN" sz="1500" dirty="0"/>
              <a:t>          </a:t>
            </a:r>
            <a:r>
              <a:rPr lang="zh-CN" altLang="en-US" sz="1500" dirty="0"/>
              <a:t>用力关门（）；</a:t>
            </a:r>
            <a:endParaRPr lang="en-US" altLang="zh-CN" sz="1500" dirty="0"/>
          </a:p>
          <a:p>
            <a:r>
              <a:rPr lang="en-US" altLang="zh-CN" sz="1500" dirty="0"/>
              <a:t>    }</a:t>
            </a:r>
            <a:endParaRPr lang="en-US" altLang="zh-CN" sz="1500" dirty="0"/>
          </a:p>
          <a:p>
            <a:endParaRPr lang="en-US" altLang="zh-CN" sz="1500" dirty="0"/>
          </a:p>
          <a:p>
            <a:r>
              <a:rPr lang="en-US" altLang="zh-CN" sz="1500" dirty="0"/>
              <a:t>}</a:t>
            </a:r>
            <a:endParaRPr lang="zh-CN" altLang="en-US" sz="1500" dirty="0"/>
          </a:p>
        </p:txBody>
      </p:sp>
      <p:sp>
        <p:nvSpPr>
          <p:cNvPr id="7" name="文本框 6"/>
          <p:cNvSpPr txBox="1"/>
          <p:nvPr/>
        </p:nvSpPr>
        <p:spPr>
          <a:xfrm>
            <a:off x="7548735" y="1918186"/>
            <a:ext cx="3466728" cy="493903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500" dirty="0"/>
              <a:t>Function </a:t>
            </a:r>
            <a:r>
              <a:rPr lang="zh-CN" altLang="en-US" sz="1500" dirty="0"/>
              <a:t>放大象进冰箱</a:t>
            </a:r>
            <a:r>
              <a:rPr lang="en-US" altLang="zh-CN" sz="1500" dirty="0"/>
              <a:t>(){</a:t>
            </a:r>
            <a:endParaRPr lang="en-US" altLang="zh-CN" sz="1500" dirty="0"/>
          </a:p>
          <a:p>
            <a:r>
              <a:rPr lang="en-US" altLang="zh-CN" sz="1500" dirty="0"/>
              <a:t>       </a:t>
            </a:r>
            <a:r>
              <a:rPr lang="zh-CN" altLang="en-US" sz="1500" dirty="0"/>
              <a:t>正确打开冰箱门（）；</a:t>
            </a:r>
            <a:endParaRPr lang="en-US" altLang="zh-CN" sz="1500" dirty="0"/>
          </a:p>
          <a:p>
            <a:r>
              <a:rPr lang="en-US" altLang="zh-CN" sz="1500" dirty="0"/>
              <a:t>       </a:t>
            </a:r>
            <a:r>
              <a:rPr lang="zh-CN" altLang="en-US" sz="1500" dirty="0"/>
              <a:t>推动大象（）</a:t>
            </a:r>
            <a:r>
              <a:rPr lang="en-US" altLang="zh-CN" sz="1500" dirty="0"/>
              <a:t>;      </a:t>
            </a:r>
            <a:endParaRPr lang="en-US" altLang="zh-CN" sz="1500" dirty="0"/>
          </a:p>
          <a:p>
            <a:r>
              <a:rPr lang="en-US" altLang="zh-CN" sz="1500" dirty="0"/>
              <a:t>       </a:t>
            </a:r>
            <a:r>
              <a:rPr lang="zh-CN" altLang="en-US" sz="1500" dirty="0"/>
              <a:t>正确关上冰箱门（）；</a:t>
            </a:r>
            <a:endParaRPr lang="en-US" altLang="zh-CN" sz="1500" dirty="0"/>
          </a:p>
          <a:p>
            <a:r>
              <a:rPr lang="en-US" altLang="zh-CN" sz="1500" dirty="0"/>
              <a:t>}</a:t>
            </a:r>
            <a:endParaRPr lang="en-US" altLang="zh-CN" sz="1500" dirty="0"/>
          </a:p>
          <a:p>
            <a:endParaRPr lang="en-US" altLang="zh-CN" sz="1500" dirty="0"/>
          </a:p>
          <a:p>
            <a:r>
              <a:rPr lang="en-US" altLang="zh-CN" sz="1500" dirty="0"/>
              <a:t>Function </a:t>
            </a:r>
            <a:r>
              <a:rPr lang="zh-CN" altLang="en-US" sz="1500" dirty="0"/>
              <a:t>正确打开冰箱门（）</a:t>
            </a:r>
            <a:r>
              <a:rPr lang="en-US" altLang="zh-CN" sz="1500" dirty="0"/>
              <a:t>{</a:t>
            </a:r>
            <a:endParaRPr lang="en-US" altLang="zh-CN" sz="1500" dirty="0"/>
          </a:p>
          <a:p>
            <a:r>
              <a:rPr lang="zh-CN" altLang="en-US" sz="1500" dirty="0"/>
              <a:t>    举起胳膊</a:t>
            </a:r>
            <a:r>
              <a:rPr lang="en-US" altLang="zh-CN" sz="1500" dirty="0"/>
              <a:t>();</a:t>
            </a:r>
            <a:endParaRPr lang="en-US" altLang="zh-CN" sz="1500" dirty="0"/>
          </a:p>
          <a:p>
            <a:r>
              <a:rPr lang="en-US" altLang="zh-CN" sz="1500" dirty="0"/>
              <a:t>    </a:t>
            </a:r>
            <a:r>
              <a:rPr lang="zh-CN" altLang="en-US" sz="1500" dirty="0"/>
              <a:t>伸手握住冰箱把手</a:t>
            </a:r>
            <a:r>
              <a:rPr lang="en-US" altLang="zh-CN" sz="1500" dirty="0"/>
              <a:t>();</a:t>
            </a:r>
            <a:endParaRPr lang="en-US" altLang="zh-CN" sz="1500" dirty="0"/>
          </a:p>
          <a:p>
            <a:r>
              <a:rPr lang="en-US" altLang="zh-CN" sz="1500" dirty="0"/>
              <a:t>    while(</a:t>
            </a:r>
            <a:r>
              <a:rPr lang="zh-CN" altLang="en-US" sz="1500" dirty="0"/>
              <a:t>冰箱门</a:t>
            </a:r>
            <a:r>
              <a:rPr lang="en-US" altLang="zh-CN" sz="1500" dirty="0"/>
              <a:t>&lt;90</a:t>
            </a:r>
            <a:r>
              <a:rPr lang="zh-CN" altLang="en-US" sz="1500" dirty="0"/>
              <a:t>度）</a:t>
            </a:r>
            <a:endParaRPr lang="en-US" altLang="zh-CN" sz="1500" dirty="0"/>
          </a:p>
          <a:p>
            <a:r>
              <a:rPr lang="en-US" altLang="zh-CN" sz="1500" dirty="0"/>
              <a:t>          </a:t>
            </a:r>
            <a:r>
              <a:rPr lang="zh-CN" altLang="en-US" sz="1500" dirty="0"/>
              <a:t>手再拉回</a:t>
            </a:r>
            <a:r>
              <a:rPr lang="en-US" altLang="zh-CN" sz="1500" dirty="0"/>
              <a:t>20cm</a:t>
            </a:r>
            <a:r>
              <a:rPr lang="zh-CN" altLang="en-US" sz="1500" dirty="0"/>
              <a:t>；</a:t>
            </a:r>
            <a:endParaRPr lang="en-US" altLang="zh-CN" sz="1500" dirty="0"/>
          </a:p>
          <a:p>
            <a:r>
              <a:rPr lang="en-US" altLang="zh-CN" sz="1500" dirty="0"/>
              <a:t>}</a:t>
            </a:r>
            <a:endParaRPr lang="en-US" altLang="zh-CN" sz="1500" dirty="0"/>
          </a:p>
          <a:p>
            <a:endParaRPr lang="en-US" altLang="zh-CN" sz="1500" dirty="0"/>
          </a:p>
          <a:p>
            <a:r>
              <a:rPr lang="en-US" altLang="zh-CN" sz="1500" dirty="0"/>
              <a:t>Function </a:t>
            </a:r>
            <a:r>
              <a:rPr lang="zh-CN" altLang="en-US" sz="1500" dirty="0"/>
              <a:t>正确关上冰箱门（）｛</a:t>
            </a:r>
            <a:endParaRPr lang="en-US" altLang="zh-CN" sz="1500" dirty="0"/>
          </a:p>
          <a:p>
            <a:r>
              <a:rPr lang="en-US" altLang="zh-CN" sz="1500" dirty="0"/>
              <a:t>        if(</a:t>
            </a:r>
            <a:r>
              <a:rPr lang="zh-CN" altLang="en-US" sz="1500" dirty="0"/>
              <a:t>门关不上）</a:t>
            </a:r>
            <a:r>
              <a:rPr lang="en-US" altLang="zh-CN" sz="1500" dirty="0"/>
              <a:t>{</a:t>
            </a:r>
            <a:endParaRPr lang="en-US" altLang="zh-CN" sz="1500" dirty="0"/>
          </a:p>
          <a:p>
            <a:r>
              <a:rPr lang="en-US" altLang="zh-CN" sz="1500" dirty="0"/>
              <a:t>          </a:t>
            </a:r>
            <a:r>
              <a:rPr lang="zh-CN" altLang="en-US" sz="1500" dirty="0"/>
              <a:t>抬脚</a:t>
            </a:r>
            <a:r>
              <a:rPr lang="en-US" altLang="zh-CN" sz="1500" dirty="0"/>
              <a:t>();</a:t>
            </a:r>
            <a:endParaRPr lang="en-US" altLang="zh-CN" sz="1500" dirty="0"/>
          </a:p>
          <a:p>
            <a:r>
              <a:rPr lang="en-US" altLang="zh-CN" sz="1500" dirty="0"/>
              <a:t>          </a:t>
            </a:r>
            <a:r>
              <a:rPr lang="zh-CN" altLang="en-US" sz="1500" dirty="0"/>
              <a:t>用例踹大象屁股</a:t>
            </a:r>
            <a:r>
              <a:rPr lang="en-US" altLang="zh-CN" sz="1500" dirty="0"/>
              <a:t>(</a:t>
            </a:r>
            <a:r>
              <a:rPr lang="zh-CN" altLang="en-US" sz="1500" dirty="0"/>
              <a:t>）；</a:t>
            </a:r>
            <a:endParaRPr lang="en-US" altLang="zh-CN" sz="1500" dirty="0"/>
          </a:p>
          <a:p>
            <a:r>
              <a:rPr lang="en-US" altLang="zh-CN" sz="1500" dirty="0"/>
              <a:t>          </a:t>
            </a:r>
            <a:r>
              <a:rPr lang="zh-CN" altLang="en-US" sz="1500" dirty="0"/>
              <a:t>用力关门（）；</a:t>
            </a:r>
            <a:endParaRPr lang="en-US" altLang="zh-CN" sz="1500" dirty="0"/>
          </a:p>
          <a:p>
            <a:r>
              <a:rPr lang="en-US" altLang="zh-CN" sz="1500" dirty="0"/>
              <a:t>    }</a:t>
            </a:r>
            <a:endParaRPr lang="en-US" altLang="zh-CN" sz="1500" dirty="0"/>
          </a:p>
          <a:p>
            <a:endParaRPr lang="en-US" altLang="zh-CN" sz="1500" dirty="0"/>
          </a:p>
          <a:p>
            <a:r>
              <a:rPr lang="zh-CN" altLang="en-US" sz="1500" dirty="0"/>
              <a:t>｝</a:t>
            </a:r>
            <a:endParaRPr lang="zh-CN" altLang="en-US" sz="1500" dirty="0"/>
          </a:p>
        </p:txBody>
      </p:sp>
      <p:sp>
        <p:nvSpPr>
          <p:cNvPr id="8" name="右箭头 5"/>
          <p:cNvSpPr/>
          <p:nvPr/>
        </p:nvSpPr>
        <p:spPr>
          <a:xfrm>
            <a:off x="5274639" y="2909675"/>
            <a:ext cx="1872208" cy="57606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单一抽象层次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000">
        <p:random/>
      </p:transition>
    </mc:Choice>
    <mc:Fallback>
      <p:transition spd="slow" advTm="1000">
        <p:random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891842" y="135105"/>
            <a:ext cx="9267385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最小化缩进（嵌套）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Rectangle 5"/>
          <p:cNvSpPr txBox="1">
            <a:spLocks noChangeArrowheads="1"/>
          </p:cNvSpPr>
          <p:nvPr/>
        </p:nvSpPr>
        <p:spPr>
          <a:xfrm>
            <a:off x="185057" y="701245"/>
            <a:ext cx="10439399" cy="665494"/>
          </a:xfrm>
          <a:prstGeom prst="rect">
            <a:avLst/>
          </a:prstGeom>
          <a:noFill/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800" dirty="0">
                <a:latin typeface="Impact" panose="020B0806030902050204" pitchFamily="34" charset="0"/>
                <a:ea typeface="宋体" panose="02010600030101010101" pitchFamily="2" charset="-122"/>
              </a:rPr>
              <a:t>过分深层的缩进，嵌套，已经困扰计算界几十年之久，至今仍是产生混乱的罪魁祸首之一。研究表明，很少人能理解超过</a:t>
            </a:r>
            <a:r>
              <a:rPr lang="en-US" altLang="zh-CN" sz="1800" dirty="0">
                <a:latin typeface="Impact" panose="020B0806030902050204" pitchFamily="34" charset="0"/>
                <a:ea typeface="宋体" panose="02010600030101010101" pitchFamily="2" charset="-122"/>
              </a:rPr>
              <a:t>3</a:t>
            </a:r>
            <a:r>
              <a:rPr lang="zh-CN" altLang="en-US" sz="1800" dirty="0">
                <a:latin typeface="Impact" panose="020B0806030902050204" pitchFamily="34" charset="0"/>
                <a:ea typeface="宋体" panose="02010600030101010101" pitchFamily="2" charset="-122"/>
              </a:rPr>
              <a:t>层的嵌套，很多研究人员建议避免使用超过</a:t>
            </a:r>
            <a:r>
              <a:rPr lang="en-US" altLang="zh-CN" sz="1800" dirty="0">
                <a:latin typeface="Impact" panose="020B0806030902050204" pitchFamily="34" charset="0"/>
                <a:ea typeface="宋体" panose="02010600030101010101" pitchFamily="2" charset="-122"/>
              </a:rPr>
              <a:t>3</a:t>
            </a:r>
            <a:r>
              <a:rPr lang="zh-CN" altLang="en-US" sz="1800" dirty="0">
                <a:latin typeface="Impact" panose="020B0806030902050204" pitchFamily="34" charset="0"/>
                <a:ea typeface="宋体" panose="02010600030101010101" pitchFamily="2" charset="-122"/>
              </a:rPr>
              <a:t>层的嵌套</a:t>
            </a:r>
            <a:endParaRPr lang="en-US" altLang="zh-CN" sz="1800" dirty="0">
              <a:solidFill>
                <a:srgbClr val="FF0000"/>
              </a:solidFill>
              <a:latin typeface="Impact" panose="020B080603090205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07233" y="1811892"/>
            <a:ext cx="4176464" cy="409257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300" dirty="0" err="1"/>
              <a:t>eg.</a:t>
            </a:r>
            <a:endParaRPr lang="en-US" altLang="zh-CN" sz="1300" dirty="0"/>
          </a:p>
          <a:p>
            <a:r>
              <a:rPr lang="en-US" altLang="zh-CN" sz="1300" dirty="0"/>
              <a:t>If (error1){</a:t>
            </a:r>
            <a:endParaRPr lang="en-US" altLang="zh-CN" sz="1300" dirty="0"/>
          </a:p>
          <a:p>
            <a:r>
              <a:rPr lang="en-US" altLang="zh-CN" sz="1300" dirty="0"/>
              <a:t>    doSomethings1;</a:t>
            </a:r>
            <a:endParaRPr lang="en-US" altLang="zh-CN" sz="1300" dirty="0"/>
          </a:p>
          <a:p>
            <a:r>
              <a:rPr lang="en-US" altLang="zh-CN" sz="1300" dirty="0"/>
              <a:t>    </a:t>
            </a:r>
            <a:endParaRPr lang="en-US" altLang="zh-CN" sz="1300" dirty="0"/>
          </a:p>
          <a:p>
            <a:r>
              <a:rPr lang="en-US" altLang="zh-CN" sz="1300" dirty="0"/>
              <a:t>}else{</a:t>
            </a:r>
            <a:endParaRPr lang="en-US" altLang="zh-CN" sz="1300" dirty="0"/>
          </a:p>
          <a:p>
            <a:r>
              <a:rPr lang="en-US" altLang="zh-CN" sz="1300" dirty="0"/>
              <a:t>    doSomethings2;</a:t>
            </a:r>
            <a:endParaRPr lang="en-US" altLang="zh-CN" sz="1300" dirty="0"/>
          </a:p>
          <a:p>
            <a:r>
              <a:rPr lang="en-US" altLang="zh-CN" sz="1300" dirty="0"/>
              <a:t> </a:t>
            </a:r>
            <a:endParaRPr lang="en-US" altLang="zh-CN" sz="1300" dirty="0"/>
          </a:p>
          <a:p>
            <a:r>
              <a:rPr lang="en-US" altLang="zh-CN" sz="1300" dirty="0"/>
              <a:t>     if(error2){</a:t>
            </a:r>
            <a:endParaRPr lang="en-US" altLang="zh-CN" sz="1300" dirty="0"/>
          </a:p>
          <a:p>
            <a:r>
              <a:rPr lang="en-US" altLang="zh-CN" sz="1300" dirty="0"/>
              <a:t>           doSomethings3;</a:t>
            </a:r>
            <a:endParaRPr lang="en-US" altLang="zh-CN" sz="1300" dirty="0"/>
          </a:p>
          <a:p>
            <a:r>
              <a:rPr lang="en-US" altLang="zh-CN" sz="1300" dirty="0"/>
              <a:t>      }else{</a:t>
            </a:r>
            <a:endParaRPr lang="en-US" altLang="zh-CN" sz="1300" dirty="0"/>
          </a:p>
          <a:p>
            <a:r>
              <a:rPr lang="en-US" altLang="zh-CN" sz="1300" dirty="0"/>
              <a:t>           if(error 3){</a:t>
            </a:r>
            <a:endParaRPr lang="en-US" altLang="zh-CN" sz="1300" dirty="0"/>
          </a:p>
          <a:p>
            <a:r>
              <a:rPr lang="en-US" altLang="zh-CN" sz="1300" dirty="0"/>
              <a:t>               doSomethings4;</a:t>
            </a:r>
            <a:endParaRPr lang="en-US" altLang="zh-CN" sz="1300" dirty="0"/>
          </a:p>
          <a:p>
            <a:r>
              <a:rPr lang="en-US" altLang="zh-CN" sz="1300" dirty="0"/>
              <a:t>            }else{</a:t>
            </a:r>
            <a:endParaRPr lang="en-US" altLang="zh-CN" sz="1300" dirty="0"/>
          </a:p>
          <a:p>
            <a:r>
              <a:rPr lang="en-US" altLang="zh-CN" sz="1300" dirty="0"/>
              <a:t>                doSomethings5;</a:t>
            </a:r>
            <a:endParaRPr lang="en-US" altLang="zh-CN" sz="1300" dirty="0"/>
          </a:p>
          <a:p>
            <a:r>
              <a:rPr lang="en-US" altLang="zh-CN" sz="1300" dirty="0"/>
              <a:t>                </a:t>
            </a:r>
            <a:endParaRPr lang="en-US" altLang="zh-CN" sz="1300" dirty="0"/>
          </a:p>
          <a:p>
            <a:r>
              <a:rPr lang="en-US" altLang="zh-CN" sz="1300" dirty="0"/>
              <a:t>            }</a:t>
            </a:r>
            <a:endParaRPr lang="en-US" altLang="zh-CN" sz="1300" dirty="0"/>
          </a:p>
          <a:p>
            <a:endParaRPr lang="en-US" altLang="zh-CN" sz="1300" dirty="0"/>
          </a:p>
          <a:p>
            <a:r>
              <a:rPr lang="en-US" altLang="zh-CN" sz="1300" dirty="0"/>
              <a:t>       }    </a:t>
            </a:r>
            <a:endParaRPr lang="en-US" altLang="zh-CN" sz="1300" dirty="0"/>
          </a:p>
          <a:p>
            <a:endParaRPr lang="en-US" altLang="zh-CN" sz="1300" dirty="0"/>
          </a:p>
          <a:p>
            <a:r>
              <a:rPr lang="en-US" altLang="zh-CN" sz="1300" dirty="0"/>
              <a:t>}</a:t>
            </a:r>
            <a:endParaRPr lang="zh-CN" altLang="en-US" sz="1300" dirty="0"/>
          </a:p>
        </p:txBody>
      </p:sp>
      <p:sp>
        <p:nvSpPr>
          <p:cNvPr id="2" name="矩形 1"/>
          <p:cNvSpPr/>
          <p:nvPr/>
        </p:nvSpPr>
        <p:spPr>
          <a:xfrm>
            <a:off x="185057" y="1266150"/>
            <a:ext cx="11599710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3">
                    <a:lumMod val="75000"/>
                  </a:schemeClr>
                </a:solidFill>
                <a:latin typeface="Impact" panose="020B0806030902050204" pitchFamily="34" charset="0"/>
                <a:ea typeface="宋体" panose="02010600030101010101" pitchFamily="2" charset="-122"/>
              </a:rPr>
              <a:t>建议： 使用卫语句把我们的视线从异常处理中解放，集中精力在正常处理的代码当中</a:t>
            </a:r>
            <a:endParaRPr lang="zh-CN" alt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311223" y="6077189"/>
            <a:ext cx="1082486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Impact" panose="020B0806030902050204" pitchFamily="34" charset="0"/>
                <a:ea typeface="宋体" panose="02010600030101010101" pitchFamily="2" charset="-122"/>
              </a:rPr>
              <a:t>卫语句</a:t>
            </a:r>
            <a:r>
              <a:rPr lang="zh-CN" altLang="en-US" dirty="0">
                <a:latin typeface="Impact" panose="020B0806030902050204" pitchFamily="34" charset="0"/>
                <a:ea typeface="宋体" panose="02010600030101010101" pitchFamily="2" charset="-122"/>
              </a:rPr>
              <a:t>（</a:t>
            </a:r>
            <a:r>
              <a:rPr lang="en-US" altLang="zh-CN" dirty="0">
                <a:latin typeface="Impact" panose="020B0806030902050204" pitchFamily="34" charset="0"/>
                <a:ea typeface="宋体" panose="02010600030101010101" pitchFamily="2" charset="-122"/>
              </a:rPr>
              <a:t>Guard clauses</a:t>
            </a:r>
            <a:r>
              <a:rPr lang="zh-CN" altLang="en-US" dirty="0">
                <a:latin typeface="Impact" panose="020B0806030902050204" pitchFamily="34" charset="0"/>
                <a:ea typeface="宋体" panose="02010600030101010101" pitchFamily="2" charset="-122"/>
              </a:rPr>
              <a:t>）：如果某个条件极其罕见</a:t>
            </a:r>
            <a:r>
              <a:rPr lang="en-US" altLang="zh-CN" dirty="0">
                <a:latin typeface="Impact" panose="020B0806030902050204" pitchFamily="34" charset="0"/>
                <a:ea typeface="宋体" panose="02010600030101010101" pitchFamily="2" charset="-122"/>
              </a:rPr>
              <a:t>/</a:t>
            </a:r>
            <a:r>
              <a:rPr lang="zh-CN" altLang="en-US" dirty="0">
                <a:latin typeface="Impact" panose="020B0806030902050204" pitchFamily="34" charset="0"/>
                <a:ea typeface="宋体" panose="02010600030101010101" pitchFamily="2" charset="-122"/>
              </a:rPr>
              <a:t>异常，就应该单独检查该条件，并在该条件为真时立刻从函数中返回或抛出 异常。这样的单独检查常常被称为“卫语句”。</a:t>
            </a:r>
            <a:endParaRPr lang="en-US" altLang="zh-CN" dirty="0">
              <a:latin typeface="Impact" panose="020B080603090205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347452" y="1811892"/>
            <a:ext cx="4176464" cy="40925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300" dirty="0" err="1"/>
              <a:t>eg</a:t>
            </a:r>
            <a:r>
              <a:rPr lang="en-US" altLang="zh-CN" sz="1300" dirty="0"/>
              <a:t>.</a:t>
            </a:r>
            <a:endParaRPr lang="en-US" altLang="zh-CN" sz="1300" dirty="0"/>
          </a:p>
          <a:p>
            <a:r>
              <a:rPr lang="en-US" altLang="zh-CN" sz="1300" dirty="0"/>
              <a:t>If (error1){</a:t>
            </a:r>
            <a:endParaRPr lang="en-US" altLang="zh-CN" sz="1300" dirty="0"/>
          </a:p>
          <a:p>
            <a:r>
              <a:rPr lang="en-US" altLang="zh-CN" sz="1300" dirty="0"/>
              <a:t>    doSomethings1;</a:t>
            </a:r>
            <a:endParaRPr lang="en-US" altLang="zh-CN" sz="1300" dirty="0"/>
          </a:p>
          <a:p>
            <a:r>
              <a:rPr lang="en-US" altLang="zh-CN" sz="1300" dirty="0"/>
              <a:t>    return;</a:t>
            </a:r>
            <a:endParaRPr lang="en-US" altLang="zh-CN" sz="1300" dirty="0"/>
          </a:p>
          <a:p>
            <a:r>
              <a:rPr lang="zh-CN" altLang="en-US" sz="1300" dirty="0"/>
              <a:t>｝</a:t>
            </a:r>
            <a:endParaRPr lang="en-US" altLang="zh-CN" sz="1300" dirty="0"/>
          </a:p>
          <a:p>
            <a:r>
              <a:rPr lang="en-US" altLang="zh-CN" sz="1300" dirty="0"/>
              <a:t>    </a:t>
            </a:r>
            <a:endParaRPr lang="en-US" altLang="zh-CN" sz="1300" dirty="0"/>
          </a:p>
          <a:p>
            <a:r>
              <a:rPr lang="en-US" altLang="zh-CN" sz="1300" dirty="0"/>
              <a:t> doSomethings2;</a:t>
            </a:r>
            <a:endParaRPr lang="en-US" altLang="zh-CN" sz="1300" dirty="0"/>
          </a:p>
          <a:p>
            <a:endParaRPr lang="en-US" altLang="zh-CN" sz="1300" dirty="0"/>
          </a:p>
          <a:p>
            <a:r>
              <a:rPr lang="en-US" altLang="zh-CN" sz="1300" dirty="0"/>
              <a:t> if(error2){</a:t>
            </a:r>
            <a:endParaRPr lang="en-US" altLang="zh-CN" sz="1300" dirty="0"/>
          </a:p>
          <a:p>
            <a:r>
              <a:rPr lang="en-US" altLang="zh-CN" sz="1300" dirty="0"/>
              <a:t>     doSomethings3;</a:t>
            </a:r>
            <a:endParaRPr lang="en-US" altLang="zh-CN" sz="1300" dirty="0"/>
          </a:p>
          <a:p>
            <a:r>
              <a:rPr lang="en-US" altLang="zh-CN" sz="1300" dirty="0"/>
              <a:t>     return;</a:t>
            </a:r>
            <a:endParaRPr lang="en-US" altLang="zh-CN" sz="1300" dirty="0"/>
          </a:p>
          <a:p>
            <a:r>
              <a:rPr lang="en-US" altLang="zh-CN" sz="1300" dirty="0"/>
              <a:t>   }</a:t>
            </a:r>
            <a:endParaRPr lang="en-US" altLang="zh-CN" sz="1300" dirty="0"/>
          </a:p>
          <a:p>
            <a:endParaRPr lang="en-US" altLang="zh-CN" sz="1300" dirty="0"/>
          </a:p>
          <a:p>
            <a:r>
              <a:rPr lang="en-US" altLang="zh-CN" sz="1300" dirty="0"/>
              <a:t>  if(error 3){</a:t>
            </a:r>
            <a:endParaRPr lang="en-US" altLang="zh-CN" sz="1300" dirty="0"/>
          </a:p>
          <a:p>
            <a:r>
              <a:rPr lang="en-US" altLang="zh-CN" sz="1300" dirty="0"/>
              <a:t>      doSomethings4;</a:t>
            </a:r>
            <a:endParaRPr lang="en-US" altLang="zh-CN" sz="1300" dirty="0"/>
          </a:p>
          <a:p>
            <a:r>
              <a:rPr lang="en-US" altLang="zh-CN" sz="1300" dirty="0"/>
              <a:t>      return;</a:t>
            </a:r>
            <a:endParaRPr lang="en-US" altLang="zh-CN" sz="1300" dirty="0"/>
          </a:p>
          <a:p>
            <a:r>
              <a:rPr lang="en-US" altLang="zh-CN" sz="1300" dirty="0"/>
              <a:t>   }</a:t>
            </a:r>
            <a:endParaRPr lang="en-US" altLang="zh-CN" sz="1300" dirty="0"/>
          </a:p>
          <a:p>
            <a:endParaRPr lang="en-US" altLang="zh-CN" sz="1300" dirty="0"/>
          </a:p>
          <a:p>
            <a:r>
              <a:rPr lang="en-US" altLang="zh-CN" sz="1300" dirty="0"/>
              <a:t>  doSomethings5;  </a:t>
            </a:r>
            <a:endParaRPr lang="en-US" altLang="zh-CN" sz="1300" dirty="0"/>
          </a:p>
          <a:p>
            <a:r>
              <a:rPr lang="en-US" altLang="zh-CN" sz="1300" dirty="0"/>
              <a:t>}</a:t>
            </a:r>
            <a:endParaRPr lang="zh-CN" altLang="en-US" sz="1300" dirty="0"/>
          </a:p>
        </p:txBody>
      </p:sp>
      <p:sp>
        <p:nvSpPr>
          <p:cNvPr id="8" name="右箭头 5"/>
          <p:cNvSpPr/>
          <p:nvPr/>
        </p:nvSpPr>
        <p:spPr>
          <a:xfrm>
            <a:off x="4659091" y="3299560"/>
            <a:ext cx="2492826" cy="57606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使用卫语句减少嵌套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000">
        <p:random/>
      </p:transition>
    </mc:Choice>
    <mc:Fallback>
      <p:transition spd="slow" advTm="1000">
        <p:random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891842" y="135105"/>
            <a:ext cx="9267385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清晰表达式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31371" y="1015777"/>
            <a:ext cx="8305800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3">
                    <a:lumMod val="75000"/>
                  </a:schemeClr>
                </a:solidFill>
                <a:latin typeface="Impact" panose="020B0806030902050204" pitchFamily="34" charset="0"/>
                <a:ea typeface="宋体" panose="02010600030101010101" pitchFamily="2" charset="-122"/>
              </a:rPr>
              <a:t>优秀的代码不是越少越好，而是理解它所花费的精力和时间越少越好</a:t>
            </a:r>
            <a:endParaRPr lang="en-US" altLang="zh-CN" dirty="0">
              <a:solidFill>
                <a:schemeClr val="accent3">
                  <a:lumMod val="75000"/>
                </a:schemeClr>
              </a:solidFill>
              <a:latin typeface="Impact" panose="020B080603090205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29343" y="1743186"/>
            <a:ext cx="693988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类名、方法名、变量名能够自解释，顾名思义</a:t>
            </a:r>
            <a:endParaRPr lang="en-US" altLang="zh-CN" dirty="0"/>
          </a:p>
          <a:p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避免使用魔鬼数字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1279970" y="2892436"/>
            <a:ext cx="4176464" cy="2399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500" dirty="0" err="1"/>
              <a:t>eg</a:t>
            </a:r>
            <a:r>
              <a:rPr lang="en-US" altLang="zh-CN" sz="1500" dirty="0"/>
              <a:t>.</a:t>
            </a:r>
            <a:endParaRPr lang="en-US" altLang="zh-CN" sz="1500" dirty="0"/>
          </a:p>
          <a:p>
            <a:r>
              <a:rPr lang="en-US" altLang="zh-CN" sz="1500" dirty="0"/>
              <a:t>    function </a:t>
            </a:r>
            <a:r>
              <a:rPr lang="zh-CN" altLang="en-US" sz="1500" dirty="0"/>
              <a:t>（</a:t>
            </a:r>
            <a:r>
              <a:rPr lang="en-US" altLang="zh-CN" sz="1500" dirty="0" err="1"/>
              <a:t>int</a:t>
            </a:r>
            <a:r>
              <a:rPr lang="en-US" altLang="zh-CN" sz="1500" dirty="0"/>
              <a:t> type</a:t>
            </a:r>
            <a:r>
              <a:rPr lang="zh-CN" altLang="en-US" sz="1500" dirty="0"/>
              <a:t>）｛</a:t>
            </a:r>
            <a:endParaRPr lang="en-US" altLang="zh-CN" sz="1500" dirty="0"/>
          </a:p>
          <a:p>
            <a:r>
              <a:rPr lang="en-US" altLang="zh-CN" sz="1500" dirty="0"/>
              <a:t>         if(“1”.equals(type) </a:t>
            </a:r>
            <a:endParaRPr lang="en-US" altLang="zh-CN" sz="1500" dirty="0"/>
          </a:p>
          <a:p>
            <a:r>
              <a:rPr lang="en-US" altLang="zh-CN" sz="1500" dirty="0"/>
              <a:t>             </a:t>
            </a:r>
            <a:r>
              <a:rPr lang="en-US" altLang="zh-CN" sz="1500" dirty="0" err="1"/>
              <a:t>doSomethings</a:t>
            </a:r>
            <a:r>
              <a:rPr lang="en-US" altLang="zh-CN" sz="1500" dirty="0"/>
              <a:t>();</a:t>
            </a:r>
            <a:endParaRPr lang="en-US" altLang="zh-CN" sz="1500" dirty="0"/>
          </a:p>
          <a:p>
            <a:r>
              <a:rPr lang="en-US" altLang="zh-CN" sz="1500" dirty="0"/>
              <a:t>         else if(“2”.equals(type){</a:t>
            </a:r>
            <a:endParaRPr lang="en-US" altLang="zh-CN" sz="1500" dirty="0"/>
          </a:p>
          <a:p>
            <a:r>
              <a:rPr lang="en-US" altLang="zh-CN" sz="1500" dirty="0"/>
              <a:t>              </a:t>
            </a:r>
            <a:r>
              <a:rPr lang="en-US" altLang="zh-CN" sz="1500" dirty="0" err="1"/>
              <a:t>doSomethings</a:t>
            </a:r>
            <a:r>
              <a:rPr lang="en-US" altLang="zh-CN" sz="1500" dirty="0"/>
              <a:t>();</a:t>
            </a:r>
            <a:endParaRPr lang="en-US" altLang="zh-CN" sz="1500" dirty="0"/>
          </a:p>
          <a:p>
            <a:r>
              <a:rPr lang="en-US" altLang="zh-CN" sz="1500" dirty="0"/>
              <a:t>         }</a:t>
            </a:r>
            <a:endParaRPr lang="en-US" altLang="zh-CN" sz="1500" dirty="0"/>
          </a:p>
          <a:p>
            <a:endParaRPr lang="en-US" altLang="zh-CN" sz="1500" dirty="0"/>
          </a:p>
          <a:p>
            <a:r>
              <a:rPr lang="en-US" altLang="zh-CN" sz="1500" dirty="0"/>
              <a:t>  </a:t>
            </a:r>
            <a:r>
              <a:rPr lang="zh-CN" altLang="en-US" sz="1500" dirty="0"/>
              <a:t>｝</a:t>
            </a:r>
            <a:endParaRPr lang="en-US" altLang="zh-CN" sz="1500" dirty="0"/>
          </a:p>
          <a:p>
            <a:r>
              <a:rPr lang="en-US" altLang="zh-CN" sz="1500" dirty="0"/>
              <a:t>}</a:t>
            </a:r>
            <a:endParaRPr lang="zh-CN" altLang="en-US" sz="1500" dirty="0"/>
          </a:p>
        </p:txBody>
      </p:sp>
      <p:sp>
        <p:nvSpPr>
          <p:cNvPr id="7" name="爆炸形 2 3"/>
          <p:cNvSpPr/>
          <p:nvPr/>
        </p:nvSpPr>
        <p:spPr>
          <a:xfrm>
            <a:off x="631371" y="5374171"/>
            <a:ext cx="3409873" cy="936104"/>
          </a:xfrm>
          <a:prstGeom prst="irregularSeal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1</a:t>
            </a:r>
            <a:r>
              <a:rPr lang="zh-CN" altLang="en-US" dirty="0">
                <a:solidFill>
                  <a:schemeClr val="tx1"/>
                </a:solidFill>
              </a:rPr>
              <a:t>是什么鬼？</a:t>
            </a:r>
            <a:r>
              <a:rPr lang="en-US" altLang="zh-CN" dirty="0">
                <a:solidFill>
                  <a:schemeClr val="tx1"/>
                </a:solidFill>
              </a:rPr>
              <a:t>2</a:t>
            </a:r>
            <a:r>
              <a:rPr lang="zh-CN" altLang="en-US" dirty="0">
                <a:solidFill>
                  <a:schemeClr val="tx1"/>
                </a:solidFill>
              </a:rPr>
              <a:t>又是什么鬼？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568623" y="2892435"/>
            <a:ext cx="3807704" cy="23996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500" dirty="0" err="1"/>
              <a:t>eg</a:t>
            </a:r>
            <a:r>
              <a:rPr lang="en-US" altLang="zh-CN" sz="1500" dirty="0"/>
              <a:t>.</a:t>
            </a:r>
            <a:endParaRPr lang="en-US" altLang="zh-CN" sz="1500" dirty="0"/>
          </a:p>
          <a:p>
            <a:r>
              <a:rPr lang="en-US" altLang="zh-CN" sz="1500" dirty="0"/>
              <a:t>    function </a:t>
            </a:r>
            <a:r>
              <a:rPr lang="zh-CN" altLang="en-US" sz="1500" dirty="0"/>
              <a:t>（</a:t>
            </a:r>
            <a:r>
              <a:rPr lang="en-US" altLang="zh-CN" sz="1500" dirty="0" err="1"/>
              <a:t>int</a:t>
            </a:r>
            <a:r>
              <a:rPr lang="en-US" altLang="zh-CN" sz="1500" dirty="0"/>
              <a:t> type</a:t>
            </a:r>
            <a:r>
              <a:rPr lang="zh-CN" altLang="en-US" sz="1500" dirty="0"/>
              <a:t>）｛</a:t>
            </a:r>
            <a:endParaRPr lang="en-US" altLang="zh-CN" sz="1500" dirty="0"/>
          </a:p>
          <a:p>
            <a:r>
              <a:rPr lang="en-US" altLang="zh-CN" sz="1500" dirty="0"/>
              <a:t>         if(</a:t>
            </a:r>
            <a:r>
              <a:rPr lang="en-US" altLang="zh-CN" sz="1500" dirty="0" err="1"/>
              <a:t>Const.SEX_MAN.equals</a:t>
            </a:r>
            <a:r>
              <a:rPr lang="en-US" altLang="zh-CN" sz="1500" dirty="0"/>
              <a:t>(type) </a:t>
            </a:r>
            <a:endParaRPr lang="en-US" altLang="zh-CN" sz="1500" dirty="0"/>
          </a:p>
          <a:p>
            <a:r>
              <a:rPr lang="en-US" altLang="zh-CN" sz="1500" dirty="0"/>
              <a:t>             </a:t>
            </a:r>
            <a:r>
              <a:rPr lang="en-US" altLang="zh-CN" sz="1500" dirty="0" err="1"/>
              <a:t>doSomethings</a:t>
            </a:r>
            <a:r>
              <a:rPr lang="en-US" altLang="zh-CN" sz="1500" dirty="0"/>
              <a:t>();</a:t>
            </a:r>
            <a:endParaRPr lang="en-US" altLang="zh-CN" sz="1500" dirty="0"/>
          </a:p>
          <a:p>
            <a:r>
              <a:rPr lang="en-US" altLang="zh-CN" sz="1500" dirty="0"/>
              <a:t>         else if(</a:t>
            </a:r>
            <a:r>
              <a:rPr lang="en-US" altLang="zh-CN" sz="1500" dirty="0" err="1"/>
              <a:t>Const.SEX_LADY.equals</a:t>
            </a:r>
            <a:r>
              <a:rPr lang="en-US" altLang="zh-CN" sz="1500" dirty="0"/>
              <a:t>(type){</a:t>
            </a:r>
            <a:endParaRPr lang="en-US" altLang="zh-CN" sz="1500" dirty="0"/>
          </a:p>
          <a:p>
            <a:r>
              <a:rPr lang="en-US" altLang="zh-CN" sz="1500" dirty="0"/>
              <a:t>              </a:t>
            </a:r>
            <a:r>
              <a:rPr lang="en-US" altLang="zh-CN" sz="1500" dirty="0" err="1"/>
              <a:t>doSomethings</a:t>
            </a:r>
            <a:r>
              <a:rPr lang="en-US" altLang="zh-CN" sz="1500" dirty="0"/>
              <a:t>();</a:t>
            </a:r>
            <a:endParaRPr lang="en-US" altLang="zh-CN" sz="1500" dirty="0"/>
          </a:p>
          <a:p>
            <a:r>
              <a:rPr lang="en-US" altLang="zh-CN" sz="1500" dirty="0"/>
              <a:t>         }</a:t>
            </a:r>
            <a:endParaRPr lang="en-US" altLang="zh-CN" sz="1500" dirty="0"/>
          </a:p>
          <a:p>
            <a:endParaRPr lang="en-US" altLang="zh-CN" sz="1500" dirty="0"/>
          </a:p>
          <a:p>
            <a:r>
              <a:rPr lang="en-US" altLang="zh-CN" sz="1500" dirty="0"/>
              <a:t>  </a:t>
            </a:r>
            <a:r>
              <a:rPr lang="zh-CN" altLang="en-US" sz="1500" dirty="0"/>
              <a:t>｝</a:t>
            </a:r>
            <a:endParaRPr lang="en-US" altLang="zh-CN" sz="1500" dirty="0"/>
          </a:p>
          <a:p>
            <a:r>
              <a:rPr lang="en-US" altLang="zh-CN" sz="1500" dirty="0"/>
              <a:t>}</a:t>
            </a:r>
            <a:endParaRPr lang="zh-CN" altLang="en-US" sz="1500" dirty="0"/>
          </a:p>
        </p:txBody>
      </p:sp>
      <p:sp>
        <p:nvSpPr>
          <p:cNvPr id="9" name="右箭头 4"/>
          <p:cNvSpPr/>
          <p:nvPr/>
        </p:nvSpPr>
        <p:spPr>
          <a:xfrm>
            <a:off x="5595667" y="3588707"/>
            <a:ext cx="864096" cy="5040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000">
        <p:random/>
      </p:transition>
    </mc:Choice>
    <mc:Fallback>
      <p:transition spd="slow" advTm="1000">
        <p:random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10"/>
          <p:cNvSpPr>
            <a:spLocks noChangeAspect="1"/>
          </p:cNvSpPr>
          <p:nvPr/>
        </p:nvSpPr>
        <p:spPr>
          <a:xfrm>
            <a:off x="3743003" y="1173489"/>
            <a:ext cx="1872944" cy="1640068"/>
          </a:xfrm>
          <a:prstGeom prst="hexagon">
            <a:avLst/>
          </a:prstGeom>
          <a:gradFill flip="none" rotWithShape="1">
            <a:gsLst>
              <a:gs pos="5000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  <a:gs pos="0">
                <a:schemeClr val="bg1"/>
              </a:gs>
            </a:gsLst>
            <a:lin ang="18900000" scaled="0"/>
            <a:tileRect/>
          </a:gradFill>
          <a:ln w="15875">
            <a:gradFill>
              <a:gsLst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8100000" scaled="0"/>
            </a:gradFill>
          </a:ln>
          <a:effectLst>
            <a:outerShdw blurRad="444500" dist="317500" dir="8100000" sx="104000" sy="104000" algn="tr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67" name="矩形 10"/>
          <p:cNvSpPr>
            <a:spLocks noChangeAspect="1"/>
          </p:cNvSpPr>
          <p:nvPr/>
        </p:nvSpPr>
        <p:spPr>
          <a:xfrm>
            <a:off x="4271797" y="2902939"/>
            <a:ext cx="956331" cy="837424"/>
          </a:xfrm>
          <a:prstGeom prst="hexagon">
            <a:avLst/>
          </a:prstGeom>
          <a:gradFill>
            <a:gsLst>
              <a:gs pos="100000">
                <a:srgbClr val="00B0F0"/>
              </a:gs>
              <a:gs pos="0">
                <a:schemeClr val="accent1"/>
              </a:gs>
            </a:gsLst>
            <a:lin ang="8100000" scaled="0"/>
          </a:gradFill>
          <a:ln w="15875">
            <a:gradFill>
              <a:gsLst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8100000" scaled="0"/>
            </a:gradFill>
          </a:ln>
          <a:effectLst>
            <a:outerShdw blurRad="444500" dist="254000" dir="8100000" sx="104000" sy="104000" algn="tr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68" name="矩形 10"/>
          <p:cNvSpPr>
            <a:spLocks noChangeAspect="1"/>
          </p:cNvSpPr>
          <p:nvPr/>
        </p:nvSpPr>
        <p:spPr>
          <a:xfrm>
            <a:off x="3106291" y="4649410"/>
            <a:ext cx="973485" cy="852445"/>
          </a:xfrm>
          <a:prstGeom prst="hexagon">
            <a:avLst/>
          </a:prstGeom>
          <a:blipFill dpi="0" rotWithShape="1"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5875">
            <a:gradFill>
              <a:gsLst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8100000" scaled="0"/>
            </a:gradFill>
          </a:ln>
          <a:effectLst>
            <a:outerShdw blurRad="444500" dist="317500" dir="8100000" sx="104000" sy="104000" algn="tr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69" name="矩形 10"/>
          <p:cNvSpPr>
            <a:spLocks noChangeAspect="1"/>
          </p:cNvSpPr>
          <p:nvPr/>
        </p:nvSpPr>
        <p:spPr>
          <a:xfrm>
            <a:off x="921460" y="3403308"/>
            <a:ext cx="2337699" cy="2047035"/>
          </a:xfrm>
          <a:prstGeom prst="hexagon">
            <a:avLst/>
          </a:prstGeom>
          <a:gradFill flip="none" rotWithShape="1">
            <a:gsLst>
              <a:gs pos="5000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  <a:gs pos="0">
                <a:schemeClr val="bg1"/>
              </a:gs>
            </a:gsLst>
            <a:lin ang="18900000" scaled="0"/>
            <a:tileRect/>
          </a:gradFill>
          <a:ln w="15875">
            <a:gradFill>
              <a:gsLst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8100000" scaled="0"/>
            </a:gradFill>
          </a:ln>
          <a:effectLst>
            <a:outerShdw blurRad="444500" dist="254000" dir="8100000" sx="104000" sy="104000" algn="tr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70" name="矩形 10"/>
          <p:cNvSpPr>
            <a:spLocks noChangeAspect="1"/>
          </p:cNvSpPr>
          <p:nvPr/>
        </p:nvSpPr>
        <p:spPr>
          <a:xfrm>
            <a:off x="1498910" y="1697868"/>
            <a:ext cx="995993" cy="872155"/>
          </a:xfrm>
          <a:prstGeom prst="hexagon">
            <a:avLst/>
          </a:prstGeom>
          <a:gradFill>
            <a:gsLst>
              <a:gs pos="100000">
                <a:srgbClr val="00B0F0"/>
              </a:gs>
              <a:gs pos="0">
                <a:schemeClr val="accent1"/>
              </a:gs>
            </a:gsLst>
            <a:lin ang="8100000" scaled="0"/>
          </a:gradFill>
          <a:ln w="15875">
            <a:gradFill>
              <a:gsLst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8100000" scaled="0"/>
            </a:gradFill>
          </a:ln>
          <a:effectLst>
            <a:outerShdw blurRad="444500" dist="254000" dir="8100000" sx="104000" sy="104000" algn="tr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71" name="矩形 10"/>
          <p:cNvSpPr>
            <a:spLocks noChangeAspect="1"/>
          </p:cNvSpPr>
          <p:nvPr/>
        </p:nvSpPr>
        <p:spPr>
          <a:xfrm>
            <a:off x="710650" y="4712703"/>
            <a:ext cx="1275108" cy="1116564"/>
          </a:xfrm>
          <a:prstGeom prst="hexagon">
            <a:avLst/>
          </a:prstGeom>
          <a:gradFill>
            <a:gsLst>
              <a:gs pos="100000">
                <a:srgbClr val="00B0F0"/>
              </a:gs>
              <a:gs pos="0">
                <a:schemeClr val="accent1"/>
              </a:gs>
            </a:gsLst>
            <a:lin ang="8100000" scaled="0"/>
          </a:gradFill>
          <a:ln w="15875">
            <a:gradFill>
              <a:gsLst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8100000" scaled="0"/>
            </a:gradFill>
          </a:ln>
          <a:effectLst>
            <a:outerShdw blurRad="444500" dist="317500" dir="8100000" sx="104000" sy="104000" algn="tr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72" name="矩形 10"/>
          <p:cNvSpPr>
            <a:spLocks noChangeAspect="1"/>
          </p:cNvSpPr>
          <p:nvPr/>
        </p:nvSpPr>
        <p:spPr>
          <a:xfrm>
            <a:off x="1203435" y="1277386"/>
            <a:ext cx="671861" cy="588324"/>
          </a:xfrm>
          <a:prstGeom prst="hexagon">
            <a:avLst/>
          </a:prstGeom>
          <a:gradFill flip="none" rotWithShape="1">
            <a:gsLst>
              <a:gs pos="5000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  <a:gs pos="0">
                <a:schemeClr val="bg1"/>
              </a:gs>
            </a:gsLst>
            <a:lin ang="18900000" scaled="0"/>
            <a:tileRect/>
          </a:gradFill>
          <a:ln w="15875">
            <a:gradFill>
              <a:gsLst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8100000" scaled="0"/>
            </a:gradFill>
          </a:ln>
          <a:effectLst>
            <a:outerShdw blurRad="444500" dist="317500" dir="8100000" sx="104000" sy="104000" algn="tr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5855516" y="1977225"/>
            <a:ext cx="4999355" cy="15684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9600" spc="-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THANKS</a:t>
            </a:r>
            <a:endParaRPr lang="zh-CN" altLang="en-US" sz="9600" spc="-2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806660" y="5007755"/>
            <a:ext cx="1087531" cy="501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665" dirty="0">
                <a:solidFill>
                  <a:schemeClr val="bg1"/>
                </a:solidFill>
              </a:rPr>
              <a:t>创新</a:t>
            </a:r>
            <a:endParaRPr lang="zh-CN" altLang="en-US" sz="2665" dirty="0">
              <a:solidFill>
                <a:schemeClr val="bg1"/>
              </a:solidFill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1432445" y="1878564"/>
            <a:ext cx="108753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</a:rPr>
              <a:t>合作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4248832" y="3073605"/>
            <a:ext cx="1087531" cy="420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135" dirty="0">
                <a:solidFill>
                  <a:schemeClr val="bg1"/>
                </a:solidFill>
              </a:rPr>
              <a:t>共赢</a:t>
            </a:r>
            <a:endParaRPr lang="zh-CN" altLang="en-US" sz="2135" dirty="0">
              <a:solidFill>
                <a:schemeClr val="bg1"/>
              </a:solidFill>
            </a:endParaRPr>
          </a:p>
        </p:txBody>
      </p:sp>
      <p:sp>
        <p:nvSpPr>
          <p:cNvPr id="78" name="矩形 10"/>
          <p:cNvSpPr>
            <a:spLocks noChangeAspect="1"/>
          </p:cNvSpPr>
          <p:nvPr/>
        </p:nvSpPr>
        <p:spPr>
          <a:xfrm>
            <a:off x="1745785" y="2130017"/>
            <a:ext cx="2804179" cy="2455513"/>
          </a:xfrm>
          <a:prstGeom prst="hexagon">
            <a:avLst/>
          </a:prstGeom>
          <a:gradFill flip="none" rotWithShape="1">
            <a:gsLst>
              <a:gs pos="5000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  <a:gs pos="0">
                <a:schemeClr val="bg1"/>
              </a:gs>
            </a:gsLst>
            <a:lin ang="18900000" scaled="0"/>
            <a:tileRect/>
          </a:gradFill>
          <a:ln w="15875">
            <a:gradFill>
              <a:gsLst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8100000" scaled="0"/>
            </a:gradFill>
          </a:ln>
          <a:effectLst>
            <a:outerShdw blurRad="444500" dist="317500" dir="8100000" sx="104000" sy="104000" algn="tr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79" name="矩形 10"/>
          <p:cNvSpPr>
            <a:spLocks noChangeAspect="1"/>
          </p:cNvSpPr>
          <p:nvPr/>
        </p:nvSpPr>
        <p:spPr>
          <a:xfrm>
            <a:off x="1814061" y="2189802"/>
            <a:ext cx="2667627" cy="2335941"/>
          </a:xfrm>
          <a:prstGeom prst="hexagon">
            <a:avLst/>
          </a:prstGeom>
          <a:blipFill>
            <a:blip r:embed="rId2"/>
            <a:stretch>
              <a:fillRect/>
            </a:stretch>
          </a:blip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80" name="矩形 10"/>
          <p:cNvSpPr>
            <a:spLocks noChangeAspect="1"/>
          </p:cNvSpPr>
          <p:nvPr/>
        </p:nvSpPr>
        <p:spPr>
          <a:xfrm>
            <a:off x="3695734" y="4061695"/>
            <a:ext cx="1186004" cy="1038540"/>
          </a:xfrm>
          <a:prstGeom prst="hexagon">
            <a:avLst/>
          </a:prstGeom>
          <a:gradFill flip="none" rotWithShape="1">
            <a:gsLst>
              <a:gs pos="5000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  <a:gs pos="0">
                <a:schemeClr val="bg1"/>
              </a:gs>
            </a:gsLst>
            <a:lin ang="18900000" scaled="0"/>
            <a:tileRect/>
          </a:gradFill>
          <a:ln w="15875">
            <a:gradFill>
              <a:gsLst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8100000" scaled="0"/>
            </a:gradFill>
          </a:ln>
          <a:effectLst>
            <a:outerShdw blurRad="444500" dist="254000" dir="8100000" sx="104000" sy="104000" algn="tr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81" name="文本框 3"/>
          <p:cNvSpPr txBox="1"/>
          <p:nvPr/>
        </p:nvSpPr>
        <p:spPr>
          <a:xfrm>
            <a:off x="6148074" y="3394040"/>
            <a:ext cx="3274812" cy="82994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  谢！</a:t>
            </a:r>
            <a:endParaRPr lang="en-US" altLang="zh-CN" sz="4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Shape 532"/>
          <p:cNvSpPr/>
          <p:nvPr/>
        </p:nvSpPr>
        <p:spPr>
          <a:xfrm>
            <a:off x="4315456" y="1627207"/>
            <a:ext cx="912672" cy="7414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47" h="21600" extrusionOk="0">
                <a:moveTo>
                  <a:pt x="11836" y="15693"/>
                </a:moveTo>
                <a:cubicBezTo>
                  <a:pt x="11625" y="15170"/>
                  <a:pt x="9094" y="9550"/>
                  <a:pt x="8316" y="7930"/>
                </a:cubicBezTo>
                <a:lnTo>
                  <a:pt x="8197" y="7677"/>
                </a:lnTo>
                <a:lnTo>
                  <a:pt x="6094" y="7677"/>
                </a:lnTo>
                <a:lnTo>
                  <a:pt x="5978" y="7930"/>
                </a:lnTo>
                <a:cubicBezTo>
                  <a:pt x="5186" y="9585"/>
                  <a:pt x="2786" y="14947"/>
                  <a:pt x="2518" y="15524"/>
                </a:cubicBezTo>
                <a:cubicBezTo>
                  <a:pt x="2500" y="15573"/>
                  <a:pt x="2477" y="15631"/>
                  <a:pt x="2452" y="15693"/>
                </a:cubicBezTo>
                <a:cubicBezTo>
                  <a:pt x="2452" y="15693"/>
                  <a:pt x="11836" y="15693"/>
                  <a:pt x="11836" y="15693"/>
                </a:cubicBezTo>
                <a:close/>
                <a:moveTo>
                  <a:pt x="14122" y="18116"/>
                </a:moveTo>
                <a:cubicBezTo>
                  <a:pt x="14598" y="19922"/>
                  <a:pt x="14073" y="21600"/>
                  <a:pt x="12552" y="21600"/>
                </a:cubicBezTo>
                <a:lnTo>
                  <a:pt x="1740" y="21600"/>
                </a:lnTo>
                <a:cubicBezTo>
                  <a:pt x="219" y="21600"/>
                  <a:pt x="-306" y="19940"/>
                  <a:pt x="169" y="18134"/>
                </a:cubicBezTo>
                <a:cubicBezTo>
                  <a:pt x="169" y="18134"/>
                  <a:pt x="2046" y="13669"/>
                  <a:pt x="5098" y="7259"/>
                </a:cubicBezTo>
                <a:lnTo>
                  <a:pt x="5098" y="3551"/>
                </a:lnTo>
                <a:lnTo>
                  <a:pt x="4910" y="3551"/>
                </a:lnTo>
                <a:cubicBezTo>
                  <a:pt x="4637" y="3551"/>
                  <a:pt x="4415" y="3267"/>
                  <a:pt x="4415" y="2916"/>
                </a:cubicBezTo>
                <a:cubicBezTo>
                  <a:pt x="4415" y="2569"/>
                  <a:pt x="4640" y="2285"/>
                  <a:pt x="4910" y="2285"/>
                </a:cubicBezTo>
                <a:lnTo>
                  <a:pt x="5696" y="2285"/>
                </a:lnTo>
                <a:lnTo>
                  <a:pt x="5231" y="0"/>
                </a:lnTo>
                <a:lnTo>
                  <a:pt x="9029" y="0"/>
                </a:lnTo>
                <a:lnTo>
                  <a:pt x="8562" y="2285"/>
                </a:lnTo>
                <a:lnTo>
                  <a:pt x="9386" y="2285"/>
                </a:lnTo>
                <a:cubicBezTo>
                  <a:pt x="9655" y="2285"/>
                  <a:pt x="9877" y="2569"/>
                  <a:pt x="9877" y="2916"/>
                </a:cubicBezTo>
                <a:cubicBezTo>
                  <a:pt x="9874" y="3267"/>
                  <a:pt x="9655" y="3551"/>
                  <a:pt x="9382" y="3551"/>
                </a:cubicBezTo>
                <a:lnTo>
                  <a:pt x="9194" y="3551"/>
                </a:lnTo>
                <a:lnTo>
                  <a:pt x="9194" y="7259"/>
                </a:lnTo>
                <a:cubicBezTo>
                  <a:pt x="12247" y="13669"/>
                  <a:pt x="14122" y="18116"/>
                  <a:pt x="14122" y="18116"/>
                </a:cubicBezTo>
                <a:cubicBezTo>
                  <a:pt x="14122" y="18116"/>
                  <a:pt x="14122" y="18116"/>
                  <a:pt x="14122" y="18116"/>
                </a:cubicBezTo>
                <a:close/>
                <a:moveTo>
                  <a:pt x="8152" y="11538"/>
                </a:moveTo>
                <a:cubicBezTo>
                  <a:pt x="8152" y="11143"/>
                  <a:pt x="7903" y="10819"/>
                  <a:pt x="7592" y="10819"/>
                </a:cubicBezTo>
                <a:cubicBezTo>
                  <a:pt x="7283" y="10819"/>
                  <a:pt x="7029" y="11143"/>
                  <a:pt x="7029" y="11538"/>
                </a:cubicBezTo>
                <a:cubicBezTo>
                  <a:pt x="7029" y="11933"/>
                  <a:pt x="7283" y="12258"/>
                  <a:pt x="7592" y="12258"/>
                </a:cubicBezTo>
                <a:cubicBezTo>
                  <a:pt x="7903" y="12258"/>
                  <a:pt x="8152" y="11933"/>
                  <a:pt x="8152" y="11538"/>
                </a:cubicBezTo>
                <a:cubicBezTo>
                  <a:pt x="8152" y="11538"/>
                  <a:pt x="8152" y="11538"/>
                  <a:pt x="8152" y="11538"/>
                </a:cubicBezTo>
                <a:close/>
                <a:moveTo>
                  <a:pt x="5995" y="12284"/>
                </a:moveTo>
                <a:cubicBezTo>
                  <a:pt x="5572" y="12284"/>
                  <a:pt x="5231" y="12724"/>
                  <a:pt x="5231" y="13260"/>
                </a:cubicBezTo>
                <a:cubicBezTo>
                  <a:pt x="5231" y="13802"/>
                  <a:pt x="5576" y="14241"/>
                  <a:pt x="5995" y="14241"/>
                </a:cubicBezTo>
                <a:cubicBezTo>
                  <a:pt x="6419" y="14241"/>
                  <a:pt x="6762" y="13802"/>
                  <a:pt x="6762" y="13260"/>
                </a:cubicBezTo>
                <a:cubicBezTo>
                  <a:pt x="6762" y="12724"/>
                  <a:pt x="6419" y="12284"/>
                  <a:pt x="5995" y="12284"/>
                </a:cubicBezTo>
                <a:cubicBezTo>
                  <a:pt x="5995" y="12284"/>
                  <a:pt x="5995" y="12284"/>
                  <a:pt x="5995" y="12284"/>
                </a:cubicBezTo>
                <a:close/>
                <a:moveTo>
                  <a:pt x="7458" y="13807"/>
                </a:moveTo>
                <a:cubicBezTo>
                  <a:pt x="7458" y="14362"/>
                  <a:pt x="7811" y="14810"/>
                  <a:pt x="8243" y="14810"/>
                </a:cubicBezTo>
                <a:cubicBezTo>
                  <a:pt x="8676" y="14810"/>
                  <a:pt x="9029" y="14362"/>
                  <a:pt x="9029" y="13807"/>
                </a:cubicBezTo>
                <a:cubicBezTo>
                  <a:pt x="9029" y="13252"/>
                  <a:pt x="8676" y="12803"/>
                  <a:pt x="8243" y="12803"/>
                </a:cubicBezTo>
                <a:cubicBezTo>
                  <a:pt x="7811" y="12803"/>
                  <a:pt x="7458" y="13252"/>
                  <a:pt x="7458" y="13807"/>
                </a:cubicBezTo>
                <a:cubicBezTo>
                  <a:pt x="7458" y="13807"/>
                  <a:pt x="7458" y="13807"/>
                  <a:pt x="7458" y="13807"/>
                </a:cubicBezTo>
                <a:close/>
                <a:moveTo>
                  <a:pt x="19492" y="7380"/>
                </a:moveTo>
                <a:lnTo>
                  <a:pt x="16664" y="3763"/>
                </a:lnTo>
                <a:lnTo>
                  <a:pt x="12730" y="8818"/>
                </a:lnTo>
                <a:lnTo>
                  <a:pt x="11941" y="9830"/>
                </a:lnTo>
                <a:lnTo>
                  <a:pt x="17592" y="9830"/>
                </a:lnTo>
                <a:cubicBezTo>
                  <a:pt x="17592" y="9830"/>
                  <a:pt x="19492" y="7380"/>
                  <a:pt x="19492" y="7380"/>
                </a:cubicBezTo>
                <a:close/>
                <a:moveTo>
                  <a:pt x="21107" y="8583"/>
                </a:moveTo>
                <a:cubicBezTo>
                  <a:pt x="20923" y="8818"/>
                  <a:pt x="20620" y="8818"/>
                  <a:pt x="20433" y="8583"/>
                </a:cubicBezTo>
                <a:lnTo>
                  <a:pt x="20200" y="8286"/>
                </a:lnTo>
                <a:lnTo>
                  <a:pt x="14039" y="16163"/>
                </a:lnTo>
                <a:lnTo>
                  <a:pt x="10871" y="9355"/>
                </a:lnTo>
                <a:lnTo>
                  <a:pt x="15956" y="2857"/>
                </a:lnTo>
                <a:lnTo>
                  <a:pt x="15723" y="2562"/>
                </a:lnTo>
                <a:cubicBezTo>
                  <a:pt x="15535" y="2325"/>
                  <a:pt x="15539" y="1939"/>
                  <a:pt x="15723" y="1704"/>
                </a:cubicBezTo>
                <a:cubicBezTo>
                  <a:pt x="15907" y="1469"/>
                  <a:pt x="16209" y="1465"/>
                  <a:pt x="16397" y="1704"/>
                </a:cubicBezTo>
                <a:lnTo>
                  <a:pt x="21107" y="7721"/>
                </a:lnTo>
                <a:cubicBezTo>
                  <a:pt x="21294" y="7958"/>
                  <a:pt x="21294" y="8342"/>
                  <a:pt x="21107" y="8583"/>
                </a:cubicBezTo>
                <a:cubicBezTo>
                  <a:pt x="21107" y="8583"/>
                  <a:pt x="21107" y="8583"/>
                  <a:pt x="21107" y="8583"/>
                </a:cubicBezTo>
                <a:close/>
                <a:moveTo>
                  <a:pt x="16178" y="6435"/>
                </a:moveTo>
                <a:cubicBezTo>
                  <a:pt x="16178" y="6790"/>
                  <a:pt x="16400" y="7073"/>
                  <a:pt x="16678" y="7073"/>
                </a:cubicBezTo>
                <a:cubicBezTo>
                  <a:pt x="16952" y="7073"/>
                  <a:pt x="17178" y="6790"/>
                  <a:pt x="17178" y="6435"/>
                </a:cubicBezTo>
                <a:cubicBezTo>
                  <a:pt x="17178" y="6084"/>
                  <a:pt x="16952" y="5795"/>
                  <a:pt x="16678" y="5795"/>
                </a:cubicBezTo>
                <a:cubicBezTo>
                  <a:pt x="16400" y="5795"/>
                  <a:pt x="16178" y="6084"/>
                  <a:pt x="16178" y="6435"/>
                </a:cubicBezTo>
                <a:cubicBezTo>
                  <a:pt x="16178" y="6435"/>
                  <a:pt x="16178" y="6435"/>
                  <a:pt x="16178" y="6435"/>
                </a:cubicBezTo>
                <a:close/>
                <a:moveTo>
                  <a:pt x="15424" y="7718"/>
                </a:moveTo>
                <a:cubicBezTo>
                  <a:pt x="15011" y="7718"/>
                  <a:pt x="14674" y="8144"/>
                  <a:pt x="14674" y="8676"/>
                </a:cubicBezTo>
                <a:cubicBezTo>
                  <a:pt x="14674" y="9203"/>
                  <a:pt x="15011" y="9634"/>
                  <a:pt x="15424" y="9634"/>
                </a:cubicBezTo>
                <a:cubicBezTo>
                  <a:pt x="15841" y="9634"/>
                  <a:pt x="16175" y="9203"/>
                  <a:pt x="16175" y="8676"/>
                </a:cubicBezTo>
                <a:cubicBezTo>
                  <a:pt x="16175" y="8144"/>
                  <a:pt x="15841" y="7718"/>
                  <a:pt x="15424" y="7718"/>
                </a:cubicBezTo>
                <a:cubicBezTo>
                  <a:pt x="15424" y="7718"/>
                  <a:pt x="15424" y="7718"/>
                  <a:pt x="15424" y="7718"/>
                </a:cubicBezTo>
                <a:close/>
                <a:moveTo>
                  <a:pt x="17095" y="7713"/>
                </a:moveTo>
                <a:cubicBezTo>
                  <a:pt x="17297" y="7713"/>
                  <a:pt x="17463" y="7926"/>
                  <a:pt x="17463" y="8184"/>
                </a:cubicBezTo>
                <a:cubicBezTo>
                  <a:pt x="17463" y="8445"/>
                  <a:pt x="17297" y="8658"/>
                  <a:pt x="17095" y="8658"/>
                </a:cubicBezTo>
                <a:cubicBezTo>
                  <a:pt x="16890" y="8658"/>
                  <a:pt x="16726" y="8445"/>
                  <a:pt x="16726" y="8184"/>
                </a:cubicBezTo>
                <a:cubicBezTo>
                  <a:pt x="16726" y="7926"/>
                  <a:pt x="16890" y="7713"/>
                  <a:pt x="17095" y="7713"/>
                </a:cubicBezTo>
                <a:cubicBezTo>
                  <a:pt x="17095" y="7713"/>
                  <a:pt x="17095" y="7713"/>
                  <a:pt x="17095" y="7713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43965" tIns="43965" rIns="43965" bIns="43965" numCol="1" anchor="ctr">
            <a:noAutofit/>
          </a:bodyPr>
          <a:lstStyle/>
          <a:p>
            <a:pPr defTabSz="214630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535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000">
        <p:random/>
      </p:transition>
    </mc:Choice>
    <mc:Fallback>
      <p:transition spd="slow" advTm="1000">
        <p:random/>
      </p:transition>
    </mc:Fallback>
  </mc:AlternateContent>
</p:sld>
</file>

<file path=ppt/tags/tag1.xml><?xml version="1.0" encoding="utf-8"?>
<p:tagLst xmlns:p="http://schemas.openxmlformats.org/presentationml/2006/main">
  <p:tag name="KSO_WPP_MARK_KEY" val="17b79955-6045-483b-b39a-fd232a58dadb"/>
  <p:tag name="COMMONDATA" val="eyJoZGlkIjoiZDk5NzQwYWU3Mzg3ZTZmN2RiYzVmMjI5ZDM2NjFkZDgifQ=="/>
</p:tagLst>
</file>

<file path=ppt/theme/theme1.xml><?xml version="1.0" encoding="utf-8"?>
<a:theme xmlns:a="http://schemas.openxmlformats.org/drawingml/2006/main" name="Office 主题​​">
  <a:themeElements>
    <a:clrScheme name="自定义 158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5DB8EF"/>
      </a:accent1>
      <a:accent2>
        <a:srgbClr val="E1AF15"/>
      </a:accent2>
      <a:accent3>
        <a:srgbClr val="F574A5"/>
      </a:accent3>
      <a:accent4>
        <a:srgbClr val="5DB8EF"/>
      </a:accent4>
      <a:accent5>
        <a:srgbClr val="E1AF15"/>
      </a:accent5>
      <a:accent6>
        <a:srgbClr val="F574A5"/>
      </a:accent6>
      <a:hlink>
        <a:srgbClr val="0000FF"/>
      </a:hlink>
      <a:folHlink>
        <a:srgbClr val="80008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8979</Words>
  <Application>WPS 演示</Application>
  <PresentationFormat>宽屏</PresentationFormat>
  <Paragraphs>679</Paragraphs>
  <Slides>38</Slides>
  <Notes>36</Notes>
  <HiddenSlides>0</HiddenSlides>
  <MMClips>0</MMClips>
  <ScaleCrop>false</ScaleCrop>
  <HeadingPairs>
    <vt:vector size="8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38</vt:i4>
      </vt:variant>
    </vt:vector>
  </HeadingPairs>
  <TitlesOfParts>
    <vt:vector size="66" baseType="lpstr">
      <vt:lpstr>Arial</vt:lpstr>
      <vt:lpstr>宋体</vt:lpstr>
      <vt:lpstr>Wingdings</vt:lpstr>
      <vt:lpstr>微软雅黑</vt:lpstr>
      <vt:lpstr>Century Gothic</vt:lpstr>
      <vt:lpstr>Calibri</vt:lpstr>
      <vt:lpstr>Roboto Light</vt:lpstr>
      <vt:lpstr>Calibri Light</vt:lpstr>
      <vt:lpstr>方正宋刻本秀楷简体</vt:lpstr>
      <vt:lpstr>Impact</vt:lpstr>
      <vt:lpstr>IrisUPC</vt:lpstr>
      <vt:lpstr>Microsoft Sans Serif</vt:lpstr>
      <vt:lpstr>Gill Sans</vt:lpstr>
      <vt:lpstr>Roboto</vt:lpstr>
      <vt:lpstr>Wide Latin</vt:lpstr>
      <vt:lpstr>-apple-system</vt:lpstr>
      <vt:lpstr>Segoe Print</vt:lpstr>
      <vt:lpstr>Arial Unicode MS</vt:lpstr>
      <vt:lpstr>等线 Light</vt:lpstr>
      <vt:lpstr>等线</vt:lpstr>
      <vt:lpstr>MS PGothic</vt:lpstr>
      <vt:lpstr>华文细黑</vt:lpstr>
      <vt:lpstr>Gill Sans</vt:lpstr>
      <vt:lpstr>Gill Sans MT</vt:lpstr>
      <vt:lpstr>Office 主题​​</vt:lpstr>
      <vt:lpstr>Package</vt:lpstr>
      <vt:lpstr>Word.Document.8</vt:lpstr>
      <vt:lpstr>Visio.Drawing.6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15</dc:title>
  <dc:creator>SIMON</dc:creator>
  <cp:lastModifiedBy>Leo</cp:lastModifiedBy>
  <cp:revision>1117</cp:revision>
  <cp:lastPrinted>2018-03-15T01:20:00Z</cp:lastPrinted>
  <dcterms:created xsi:type="dcterms:W3CDTF">2017-06-23T02:08:00Z</dcterms:created>
  <dcterms:modified xsi:type="dcterms:W3CDTF">2023-04-04T11:29:40Z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59E6631568394CC6A19D6091587B4B20</vt:lpwstr>
  </property>
  <property fmtid="{D5CDD505-2E9C-101B-9397-08002B2CF9AE}" pid="3" name="KSOProductBuildVer">
    <vt:lpwstr>2052-11.1.0.12132</vt:lpwstr>
  </property>
</Properties>
</file>