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2"/>
    <p:sldId id="339" r:id="rId3"/>
    <p:sldId id="342" r:id="rId4"/>
    <p:sldId id="343" r:id="rId5"/>
    <p:sldId id="344" r:id="rId6"/>
    <p:sldId id="345" r:id="rId7"/>
    <p:sldId id="363" r:id="rId8"/>
    <p:sldId id="346" r:id="rId9"/>
    <p:sldId id="347" r:id="rId10"/>
    <p:sldId id="349" r:id="rId11"/>
    <p:sldId id="350" r:id="rId12"/>
    <p:sldId id="351" r:id="rId13"/>
    <p:sldId id="357" r:id="rId14"/>
    <p:sldId id="358" r:id="rId15"/>
    <p:sldId id="352" r:id="rId16"/>
    <p:sldId id="354" r:id="rId17"/>
    <p:sldId id="359" r:id="rId18"/>
    <p:sldId id="355" r:id="rId19"/>
    <p:sldId id="356" r:id="rId20"/>
    <p:sldId id="321" r:id="rId21"/>
    <p:sldId id="322" r:id="rId22"/>
    <p:sldId id="360" r:id="rId23"/>
    <p:sldId id="361" r:id="rId24"/>
    <p:sldId id="362" r:id="rId25"/>
    <p:sldId id="328" r:id="rId26"/>
    <p:sldId id="329" r:id="rId27"/>
    <p:sldId id="340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376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feng Zhang" initials="X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FBE"/>
    <a:srgbClr val="235092"/>
    <a:srgbClr val="294F83"/>
    <a:srgbClr val="0029FF"/>
    <a:srgbClr val="2096FE"/>
    <a:srgbClr val="4FB8E1"/>
    <a:srgbClr val="38A2C9"/>
    <a:srgbClr val="0085CB"/>
    <a:srgbClr val="0073CB"/>
    <a:srgbClr val="62B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12" y="120"/>
      </p:cViewPr>
      <p:guideLst>
        <p:guide orient="horz" pos="2251"/>
        <p:guide pos="3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DCCA84-845D-4AFA-B5C9-F6524C28B363}" type="doc">
      <dgm:prSet loTypeId="urn:microsoft.com/office/officeart/2005/8/layout/radial3" loCatId="cycle" qsTypeId="urn:microsoft.com/office/officeart/2005/8/quickstyle/simple1#1" qsCatId="simple" csTypeId="urn:microsoft.com/office/officeart/2005/8/colors/colorful4#1" csCatId="accent1" phldr="0"/>
      <dgm:spPr/>
      <dgm:t>
        <a:bodyPr/>
        <a:lstStyle/>
        <a:p>
          <a:endParaRPr lang="en-US"/>
        </a:p>
      </dgm:t>
    </dgm:pt>
    <dgm:pt modelId="{3B7D232D-7CD3-4CE8-9F64-CD8AC0A8F086}">
      <dgm:prSet phldrT="[Text]" phldr="0" custT="1"/>
      <dgm:spPr/>
      <dgm:t>
        <a:bodyPr vert="horz" wrap="square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800"/>
            <a:t>故障 防控</a:t>
          </a:r>
        </a:p>
      </dgm:t>
    </dgm:pt>
    <dgm:pt modelId="{C7F2A52F-E9AF-4FE6-B5CD-C166BF0ADD11}" type="parTrans" cxnId="{7DB75293-C016-4EAB-85CE-D038B3664817}">
      <dgm:prSet/>
      <dgm:spPr/>
      <dgm:t>
        <a:bodyPr/>
        <a:lstStyle/>
        <a:p>
          <a:endParaRPr lang="en-US"/>
        </a:p>
      </dgm:t>
    </dgm:pt>
    <dgm:pt modelId="{30BC1A13-A670-40BD-AA58-D31C951E8C01}" type="sibTrans" cxnId="{7DB75293-C016-4EAB-85CE-D038B3664817}">
      <dgm:prSet/>
      <dgm:spPr/>
      <dgm:t>
        <a:bodyPr/>
        <a:lstStyle/>
        <a:p>
          <a:endParaRPr lang="en-US"/>
        </a:p>
      </dgm:t>
    </dgm:pt>
    <dgm:pt modelId="{C7B2594F-967C-49BB-B2B4-428D59DF0E5B}">
      <dgm:prSet phldrT="[Text]" phldr="0" custT="0"/>
      <dgm:spPr/>
      <dgm:t>
        <a:bodyPr vert="horz" wrap="square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实时监控</a:t>
          </a:r>
          <a:endParaRPr lang="en-US"/>
        </a:p>
      </dgm:t>
    </dgm:pt>
    <dgm:pt modelId="{BDBB4B8B-EAF7-4324-AC79-B5938C48C343}" type="parTrans" cxnId="{DAB8DF24-1D9B-437A-87A2-2E189500D8BD}">
      <dgm:prSet/>
      <dgm:spPr/>
      <dgm:t>
        <a:bodyPr/>
        <a:lstStyle/>
        <a:p>
          <a:endParaRPr lang="en-US"/>
        </a:p>
      </dgm:t>
    </dgm:pt>
    <dgm:pt modelId="{33450FBC-DB64-439A-8E3F-E2574AEFCA86}" type="sibTrans" cxnId="{DAB8DF24-1D9B-437A-87A2-2E189500D8BD}">
      <dgm:prSet/>
      <dgm:spPr/>
      <dgm:t>
        <a:bodyPr/>
        <a:lstStyle/>
        <a:p>
          <a:endParaRPr lang="en-US"/>
        </a:p>
      </dgm:t>
    </dgm:pt>
    <dgm:pt modelId="{2754153E-2870-4A58-BD98-DAF85237F37A}">
      <dgm:prSet phldrT="[Text]" phldr="0" custT="0"/>
      <dgm:spPr/>
      <dgm:t>
        <a:bodyPr vert="horz" wrap="square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攻防演练</a:t>
          </a:r>
        </a:p>
      </dgm:t>
    </dgm:pt>
    <dgm:pt modelId="{42C2D6D1-657F-4D95-8E73-20ABF221F4DE}" type="parTrans" cxnId="{64331EDE-C2FA-4258-A894-C5175D13F4D0}">
      <dgm:prSet/>
      <dgm:spPr/>
      <dgm:t>
        <a:bodyPr/>
        <a:lstStyle/>
        <a:p>
          <a:endParaRPr lang="en-US"/>
        </a:p>
      </dgm:t>
    </dgm:pt>
    <dgm:pt modelId="{2EBAC0DD-319C-4E29-BF39-DF789C3A671B}" type="sibTrans" cxnId="{64331EDE-C2FA-4258-A894-C5175D13F4D0}">
      <dgm:prSet/>
      <dgm:spPr/>
      <dgm:t>
        <a:bodyPr/>
        <a:lstStyle/>
        <a:p>
          <a:endParaRPr lang="en-US"/>
        </a:p>
      </dgm:t>
    </dgm:pt>
    <dgm:pt modelId="{958CABDF-7852-497F-8010-4C61E7F717F8}">
      <dgm:prSet phldrT="[Text]" phldr="0" custT="0"/>
      <dgm:spPr/>
      <dgm:t>
        <a:bodyPr vert="horz" wrap="square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故障自愈</a:t>
          </a:r>
        </a:p>
      </dgm:t>
    </dgm:pt>
    <dgm:pt modelId="{2FC43F87-80F9-4689-A911-01FBE8108216}" type="parTrans" cxnId="{2126E3ED-AA85-43B0-BC62-5C05B141C483}">
      <dgm:prSet/>
      <dgm:spPr/>
      <dgm:t>
        <a:bodyPr/>
        <a:lstStyle/>
        <a:p>
          <a:endParaRPr lang="en-US"/>
        </a:p>
      </dgm:t>
    </dgm:pt>
    <dgm:pt modelId="{12DBAD54-938D-421B-8D70-FD589A3A24B7}" type="sibTrans" cxnId="{2126E3ED-AA85-43B0-BC62-5C05B141C483}">
      <dgm:prSet/>
      <dgm:spPr/>
      <dgm:t>
        <a:bodyPr/>
        <a:lstStyle/>
        <a:p>
          <a:endParaRPr lang="en-US"/>
        </a:p>
      </dgm:t>
    </dgm:pt>
    <dgm:pt modelId="{82717C1F-66C6-4A94-9A71-62F2105F77AB}">
      <dgm:prSet phldrT="[Text]" phldr="0" custT="0"/>
      <dgm:spPr/>
      <dgm:t>
        <a:bodyPr vert="horz" wrap="square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应急预案</a:t>
          </a:r>
        </a:p>
      </dgm:t>
    </dgm:pt>
    <dgm:pt modelId="{76E20547-2B14-46FF-8876-56FF1C0E3AD3}" type="parTrans" cxnId="{DAD409BB-5C53-41AC-B11A-B2399D021327}">
      <dgm:prSet/>
      <dgm:spPr/>
      <dgm:t>
        <a:bodyPr/>
        <a:lstStyle/>
        <a:p>
          <a:endParaRPr lang="en-US"/>
        </a:p>
      </dgm:t>
    </dgm:pt>
    <dgm:pt modelId="{5D0F8D1F-49D5-4EDC-83FB-B27D620915A5}" type="sibTrans" cxnId="{DAD409BB-5C53-41AC-B11A-B2399D021327}">
      <dgm:prSet/>
      <dgm:spPr/>
      <dgm:t>
        <a:bodyPr/>
        <a:lstStyle/>
        <a:p>
          <a:endParaRPr lang="en-US"/>
        </a:p>
      </dgm:t>
    </dgm:pt>
    <dgm:pt modelId="{C397CB15-7790-4F1A-896D-7552F2F7F294}" type="pres">
      <dgm:prSet presAssocID="{08DCCA84-845D-4AFA-B5C9-F6524C28B363}" presName="composite" presStyleCnt="0">
        <dgm:presLayoutVars>
          <dgm:chMax val="1"/>
          <dgm:dir/>
          <dgm:resizeHandles val="exact"/>
        </dgm:presLayoutVars>
      </dgm:prSet>
      <dgm:spPr/>
    </dgm:pt>
    <dgm:pt modelId="{947B5A56-686A-4842-A85E-F213490D2A53}" type="pres">
      <dgm:prSet presAssocID="{08DCCA84-845D-4AFA-B5C9-F6524C28B363}" presName="radial" presStyleCnt="0">
        <dgm:presLayoutVars>
          <dgm:animLvl val="ctr"/>
        </dgm:presLayoutVars>
      </dgm:prSet>
      <dgm:spPr/>
    </dgm:pt>
    <dgm:pt modelId="{4D249092-DA8C-4681-AA9C-207F2DFD3154}" type="pres">
      <dgm:prSet presAssocID="{3B7D232D-7CD3-4CE8-9F64-CD8AC0A8F086}" presName="centerShape" presStyleLbl="vennNode1" presStyleIdx="0" presStyleCnt="5"/>
      <dgm:spPr/>
    </dgm:pt>
    <dgm:pt modelId="{0ABA4A14-2574-4777-939A-8A91AE25FBF5}" type="pres">
      <dgm:prSet presAssocID="{C7B2594F-967C-49BB-B2B4-428D59DF0E5B}" presName="node" presStyleLbl="vennNode1" presStyleIdx="1" presStyleCnt="5">
        <dgm:presLayoutVars>
          <dgm:bulletEnabled val="1"/>
        </dgm:presLayoutVars>
      </dgm:prSet>
      <dgm:spPr/>
    </dgm:pt>
    <dgm:pt modelId="{A9981A18-75F3-41F3-9957-B40659E402CE}" type="pres">
      <dgm:prSet presAssocID="{2754153E-2870-4A58-BD98-DAF85237F37A}" presName="node" presStyleLbl="vennNode1" presStyleIdx="2" presStyleCnt="5">
        <dgm:presLayoutVars>
          <dgm:bulletEnabled val="1"/>
        </dgm:presLayoutVars>
      </dgm:prSet>
      <dgm:spPr/>
    </dgm:pt>
    <dgm:pt modelId="{5EBE0206-6FD5-462B-AC34-DF1594CC1BEE}" type="pres">
      <dgm:prSet presAssocID="{958CABDF-7852-497F-8010-4C61E7F717F8}" presName="node" presStyleLbl="vennNode1" presStyleIdx="3" presStyleCnt="5">
        <dgm:presLayoutVars>
          <dgm:bulletEnabled val="1"/>
        </dgm:presLayoutVars>
      </dgm:prSet>
      <dgm:spPr/>
    </dgm:pt>
    <dgm:pt modelId="{5BB31F2C-9F6F-461E-B8AE-DAD63322F779}" type="pres">
      <dgm:prSet presAssocID="{82717C1F-66C6-4A94-9A71-62F2105F77AB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DAB8DF24-1D9B-437A-87A2-2E189500D8BD}" srcId="{3B7D232D-7CD3-4CE8-9F64-CD8AC0A8F086}" destId="{C7B2594F-967C-49BB-B2B4-428D59DF0E5B}" srcOrd="0" destOrd="0" parTransId="{BDBB4B8B-EAF7-4324-AC79-B5938C48C343}" sibTransId="{33450FBC-DB64-439A-8E3F-E2574AEFCA86}"/>
    <dgm:cxn modelId="{C425F75F-2A5B-4E34-987B-35F9FB42541A}" type="presOf" srcId="{3B7D232D-7CD3-4CE8-9F64-CD8AC0A8F086}" destId="{4D249092-DA8C-4681-AA9C-207F2DFD3154}" srcOrd="0" destOrd="0" presId="urn:microsoft.com/office/officeart/2005/8/layout/radial3"/>
    <dgm:cxn modelId="{B25D1F49-FB34-4193-A6C4-E481EB16D0FC}" type="presOf" srcId="{82717C1F-66C6-4A94-9A71-62F2105F77AB}" destId="{5BB31F2C-9F6F-461E-B8AE-DAD63322F779}" srcOrd="0" destOrd="0" presId="urn:microsoft.com/office/officeart/2005/8/layout/radial3"/>
    <dgm:cxn modelId="{9506C354-8F92-4591-A002-5B920BD99F5A}" type="presOf" srcId="{2754153E-2870-4A58-BD98-DAF85237F37A}" destId="{A9981A18-75F3-41F3-9957-B40659E402CE}" srcOrd="0" destOrd="0" presId="urn:microsoft.com/office/officeart/2005/8/layout/radial3"/>
    <dgm:cxn modelId="{7DB75293-C016-4EAB-85CE-D038B3664817}" srcId="{08DCCA84-845D-4AFA-B5C9-F6524C28B363}" destId="{3B7D232D-7CD3-4CE8-9F64-CD8AC0A8F086}" srcOrd="0" destOrd="0" parTransId="{C7F2A52F-E9AF-4FE6-B5CD-C166BF0ADD11}" sibTransId="{30BC1A13-A670-40BD-AA58-D31C951E8C01}"/>
    <dgm:cxn modelId="{1F5745B5-E405-499F-9CFF-D39C9053B104}" type="presOf" srcId="{C7B2594F-967C-49BB-B2B4-428D59DF0E5B}" destId="{0ABA4A14-2574-4777-939A-8A91AE25FBF5}" srcOrd="0" destOrd="0" presId="urn:microsoft.com/office/officeart/2005/8/layout/radial3"/>
    <dgm:cxn modelId="{DAD409BB-5C53-41AC-B11A-B2399D021327}" srcId="{3B7D232D-7CD3-4CE8-9F64-CD8AC0A8F086}" destId="{82717C1F-66C6-4A94-9A71-62F2105F77AB}" srcOrd="3" destOrd="0" parTransId="{76E20547-2B14-46FF-8876-56FF1C0E3AD3}" sibTransId="{5D0F8D1F-49D5-4EDC-83FB-B27D620915A5}"/>
    <dgm:cxn modelId="{45B26EBE-CF82-48D9-B719-622DBAD03A9D}" type="presOf" srcId="{958CABDF-7852-497F-8010-4C61E7F717F8}" destId="{5EBE0206-6FD5-462B-AC34-DF1594CC1BEE}" srcOrd="0" destOrd="0" presId="urn:microsoft.com/office/officeart/2005/8/layout/radial3"/>
    <dgm:cxn modelId="{64331EDE-C2FA-4258-A894-C5175D13F4D0}" srcId="{3B7D232D-7CD3-4CE8-9F64-CD8AC0A8F086}" destId="{2754153E-2870-4A58-BD98-DAF85237F37A}" srcOrd="1" destOrd="0" parTransId="{42C2D6D1-657F-4D95-8E73-20ABF221F4DE}" sibTransId="{2EBAC0DD-319C-4E29-BF39-DF789C3A671B}"/>
    <dgm:cxn modelId="{2CB596E6-B247-41A3-8DD8-70D573820D18}" type="presOf" srcId="{08DCCA84-845D-4AFA-B5C9-F6524C28B363}" destId="{C397CB15-7790-4F1A-896D-7552F2F7F294}" srcOrd="0" destOrd="0" presId="urn:microsoft.com/office/officeart/2005/8/layout/radial3"/>
    <dgm:cxn modelId="{2126E3ED-AA85-43B0-BC62-5C05B141C483}" srcId="{3B7D232D-7CD3-4CE8-9F64-CD8AC0A8F086}" destId="{958CABDF-7852-497F-8010-4C61E7F717F8}" srcOrd="2" destOrd="0" parTransId="{2FC43F87-80F9-4689-A911-01FBE8108216}" sibTransId="{12DBAD54-938D-421B-8D70-FD589A3A24B7}"/>
    <dgm:cxn modelId="{B5F2BE19-4EF8-43B0-9B52-472540C713A5}" type="presParOf" srcId="{C397CB15-7790-4F1A-896D-7552F2F7F294}" destId="{947B5A56-686A-4842-A85E-F213490D2A53}" srcOrd="0" destOrd="0" presId="urn:microsoft.com/office/officeart/2005/8/layout/radial3"/>
    <dgm:cxn modelId="{F32A0F98-5FB5-4105-B54D-9E4FB5A5B7AF}" type="presParOf" srcId="{947B5A56-686A-4842-A85E-F213490D2A53}" destId="{4D249092-DA8C-4681-AA9C-207F2DFD3154}" srcOrd="0" destOrd="0" presId="urn:microsoft.com/office/officeart/2005/8/layout/radial3"/>
    <dgm:cxn modelId="{136D9E45-E498-448B-903A-F5CDCAB84AFF}" type="presParOf" srcId="{947B5A56-686A-4842-A85E-F213490D2A53}" destId="{0ABA4A14-2574-4777-939A-8A91AE25FBF5}" srcOrd="1" destOrd="0" presId="urn:microsoft.com/office/officeart/2005/8/layout/radial3"/>
    <dgm:cxn modelId="{6FE4F6D3-8085-4119-B206-CBDBEF360610}" type="presParOf" srcId="{947B5A56-686A-4842-A85E-F213490D2A53}" destId="{A9981A18-75F3-41F3-9957-B40659E402CE}" srcOrd="2" destOrd="0" presId="urn:microsoft.com/office/officeart/2005/8/layout/radial3"/>
    <dgm:cxn modelId="{70950A7B-2E7B-47FD-A4A0-8BFCB0B024DD}" type="presParOf" srcId="{947B5A56-686A-4842-A85E-F213490D2A53}" destId="{5EBE0206-6FD5-462B-AC34-DF1594CC1BEE}" srcOrd="3" destOrd="0" presId="urn:microsoft.com/office/officeart/2005/8/layout/radial3"/>
    <dgm:cxn modelId="{D171A53F-7A5D-4494-94F9-267C3181AA22}" type="presParOf" srcId="{947B5A56-686A-4842-A85E-F213490D2A53}" destId="{5BB31F2C-9F6F-461E-B8AE-DAD63322F779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49092-DA8C-4681-AA9C-207F2DFD3154}">
      <dsp:nvSpPr>
        <dsp:cNvPr id="0" name=""/>
        <dsp:cNvSpPr/>
      </dsp:nvSpPr>
      <dsp:spPr>
        <a:xfrm>
          <a:off x="2561225" y="1206452"/>
          <a:ext cx="3005549" cy="3005549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800" kern="1200"/>
            <a:t>故障 防控</a:t>
          </a:r>
        </a:p>
      </dsp:txBody>
      <dsp:txXfrm>
        <a:off x="3001377" y="1646604"/>
        <a:ext cx="2125245" cy="2125245"/>
      </dsp:txXfrm>
    </dsp:sp>
    <dsp:sp modelId="{0ABA4A14-2574-4777-939A-8A91AE25FBF5}">
      <dsp:nvSpPr>
        <dsp:cNvPr id="0" name=""/>
        <dsp:cNvSpPr/>
      </dsp:nvSpPr>
      <dsp:spPr>
        <a:xfrm>
          <a:off x="3312612" y="536"/>
          <a:ext cx="1502774" cy="1502774"/>
        </a:xfrm>
        <a:prstGeom prst="ellipse">
          <a:avLst/>
        </a:prstGeom>
        <a:solidFill>
          <a:schemeClr val="accent4">
            <a:alpha val="50000"/>
            <a:hueOff val="1788492"/>
            <a:satOff val="-4737"/>
            <a:lumOff val="-23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实时监控</a:t>
          </a:r>
          <a:endParaRPr lang="en-US" sz="2800" kern="1200"/>
        </a:p>
      </dsp:txBody>
      <dsp:txXfrm>
        <a:off x="3532688" y="220612"/>
        <a:ext cx="1062622" cy="1062622"/>
      </dsp:txXfrm>
    </dsp:sp>
    <dsp:sp modelId="{A9981A18-75F3-41F3-9957-B40659E402CE}">
      <dsp:nvSpPr>
        <dsp:cNvPr id="0" name=""/>
        <dsp:cNvSpPr/>
      </dsp:nvSpPr>
      <dsp:spPr>
        <a:xfrm>
          <a:off x="5269916" y="1957840"/>
          <a:ext cx="1502774" cy="1502774"/>
        </a:xfrm>
        <a:prstGeom prst="ellipse">
          <a:avLst/>
        </a:prstGeom>
        <a:solidFill>
          <a:schemeClr val="accent4">
            <a:alpha val="50000"/>
            <a:hueOff val="3576985"/>
            <a:satOff val="-9474"/>
            <a:lumOff val="-4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攻防演练</a:t>
          </a:r>
        </a:p>
      </dsp:txBody>
      <dsp:txXfrm>
        <a:off x="5489992" y="2177916"/>
        <a:ext cx="1062622" cy="1062622"/>
      </dsp:txXfrm>
    </dsp:sp>
    <dsp:sp modelId="{5EBE0206-6FD5-462B-AC34-DF1594CC1BEE}">
      <dsp:nvSpPr>
        <dsp:cNvPr id="0" name=""/>
        <dsp:cNvSpPr/>
      </dsp:nvSpPr>
      <dsp:spPr>
        <a:xfrm>
          <a:off x="3312612" y="3915143"/>
          <a:ext cx="1502774" cy="1502774"/>
        </a:xfrm>
        <a:prstGeom prst="ellipse">
          <a:avLst/>
        </a:prstGeom>
        <a:solidFill>
          <a:schemeClr val="accent4">
            <a:alpha val="50000"/>
            <a:hueOff val="5365477"/>
            <a:satOff val="-14211"/>
            <a:lumOff val="-69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故障自愈</a:t>
          </a:r>
        </a:p>
      </dsp:txBody>
      <dsp:txXfrm>
        <a:off x="3532688" y="4135219"/>
        <a:ext cx="1062622" cy="1062622"/>
      </dsp:txXfrm>
    </dsp:sp>
    <dsp:sp modelId="{5BB31F2C-9F6F-461E-B8AE-DAD63322F779}">
      <dsp:nvSpPr>
        <dsp:cNvPr id="0" name=""/>
        <dsp:cNvSpPr/>
      </dsp:nvSpPr>
      <dsp:spPr>
        <a:xfrm>
          <a:off x="1355308" y="1957840"/>
          <a:ext cx="1502774" cy="1502774"/>
        </a:xfrm>
        <a:prstGeom prst="ellipse">
          <a:avLst/>
        </a:prstGeom>
        <a:solidFill>
          <a:schemeClr val="accent4">
            <a:alpha val="50000"/>
            <a:hueOff val="7153969"/>
            <a:satOff val="-18948"/>
            <a:lumOff val="-9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应急预案</a:t>
          </a:r>
        </a:p>
      </dsp:txBody>
      <dsp:txXfrm>
        <a:off x="1575384" y="2177916"/>
        <a:ext cx="1062622" cy="1062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4F3E2-44E7-4CD6-8B05-54F840EA2048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2CA35-3062-407C-A83C-49F792045B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2CA35-3062-407C-A83C-49F792045B1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4500" baseline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4500" baseline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4500" baseline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4500" baseline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4500" baseline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4500" baseline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0CC5E-6C54-4F88-B855-B8D5FD4AFDC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>
            <a:spLocks noGrp="1"/>
          </p:cNvSpPr>
          <p:nvPr>
            <p:ph type="title" hasCustomPrompt="1"/>
          </p:nvPr>
        </p:nvSpPr>
        <p:spPr>
          <a:xfrm>
            <a:off x="2068528" y="842734"/>
            <a:ext cx="8219032" cy="647399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algn="ctr">
              <a:defRPr sz="4500" b="1" i="0" cap="all">
                <a:solidFill>
                  <a:schemeClr val="tx2">
                    <a:lumMod val="95000"/>
                    <a:lumOff val="5000"/>
                  </a:schemeClr>
                </a:solidFill>
                <a:latin typeface="Albertus MT Lt" pitchFamily="2" charset="0"/>
                <a:ea typeface="Albertus MT Lt" pitchFamily="2" charset="0"/>
                <a:cs typeface="Albertus MT Lt" pitchFamily="2" charset="0"/>
              </a:defRPr>
            </a:lvl1pPr>
          </a:lstStyle>
          <a:p>
            <a:r>
              <a:rPr lang="en-US" dirty="0"/>
              <a:t>title example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68531" y="496302"/>
            <a:ext cx="8219026" cy="265094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ctr">
              <a:buNone/>
              <a:defRPr sz="1500" b="1" i="0" cap="all">
                <a:solidFill>
                  <a:schemeClr val="accent2"/>
                </a:solidFill>
                <a:latin typeface="Albertus MT Lt" pitchFamily="2" charset="0"/>
                <a:ea typeface="Albertus MT Lt" pitchFamily="2" charset="0"/>
                <a:cs typeface="Albertus MT Lt" pitchFamily="2" charset="0"/>
              </a:defRPr>
            </a:lvl1pPr>
          </a:lstStyle>
          <a:p>
            <a:pPr lvl="0"/>
            <a:r>
              <a:rPr lang="en-US" dirty="0" err="1"/>
              <a:t>Subitle</a:t>
            </a:r>
            <a:r>
              <a:rPr lang="en-US" dirty="0"/>
              <a:t> Example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 userDrawn="1"/>
        </p:nvSpPr>
        <p:spPr>
          <a:xfrm>
            <a:off x="1397000" y="2945825"/>
            <a:ext cx="590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3600" b="1" i="0" dirty="0">
                <a:solidFill>
                  <a:schemeClr val="bg1"/>
                </a:solidFill>
                <a:latin typeface="PingFang SC Semibold" charset="-122"/>
                <a:ea typeface="PingFang SC Semibold" charset="-122"/>
                <a:cs typeface="PingFang SC Semibold" charset="-122"/>
              </a:rPr>
              <a:t>传统性能测试现状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19459" y="164105"/>
            <a:ext cx="699741" cy="317500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PingFang SC Semibold" charset="-122"/>
                <a:ea typeface="PingFang SC Semibold" charset="-122"/>
                <a:cs typeface="PingFang SC Semibold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CN" dirty="0"/>
              <a:t>1.1</a:t>
            </a:r>
            <a:endParaRPr kumimoji="1" lang="zh-CN" altLang="en-US" dirty="0"/>
          </a:p>
        </p:txBody>
      </p:sp>
      <p:sp>
        <p:nvSpPr>
          <p:cNvPr id="12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1036920" y="164105"/>
            <a:ext cx="7484780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000" b="1" i="0">
                <a:latin typeface="PingFang SC Semibold" charset="-122"/>
                <a:ea typeface="PingFang SC Semibold" charset="-122"/>
                <a:cs typeface="PingFang SC Semibold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2200" b="0" i="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单击此处输入当前页标题</a:t>
            </a:r>
            <a:endParaRPr kumimoji="1" lang="zh-CN" altLang="en-US" dirty="0"/>
          </a:p>
        </p:txBody>
      </p:sp>
    </p:spTree>
  </p:cSld>
  <p:clrMapOvr>
    <a:masterClrMapping/>
  </p:clrMapOvr>
  <p:transition spd="slow">
    <p:strips dir="l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strips dir="l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23C4F-A2F8-4751-B828-D79BBA9D5D97}" type="datetimeFigureOut">
              <a:rPr lang="zh-CN" altLang="en-US" smtClean="0"/>
              <a:t>2020/4/6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23DCD-4C79-4B52-A674-233DC12F414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感谢您下载包图网平台上提供的</a:t>
            </a:r>
            <a:r>
              <a:rPr kumimoji="0" lang="en-US" altLang="zh-CN" sz="3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PPT</a:t>
            </a:r>
            <a:r>
              <a:rPr kumimoji="0" lang="zh-CN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ibaotu.com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横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273" y="1270946"/>
            <a:ext cx="2791303" cy="19733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83216" y="2734496"/>
            <a:ext cx="8564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6000" dirty="0">
                <a:solidFill>
                  <a:srgbClr val="0C1320"/>
                </a:solidFill>
                <a:latin typeface="+mj-ea"/>
                <a:ea typeface="+mj-ea"/>
                <a:cs typeface="微软雅黑"/>
              </a:rPr>
              <a:t>分布式系统的高可用设计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725196" y="4044764"/>
            <a:ext cx="30810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微软雅黑"/>
              </a:rPr>
              <a:t>时晖（玄霄）2</a:t>
            </a:r>
            <a:r>
              <a:rPr kumimoji="1" lang="en-US" altLang="zh-CN" sz="2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微软雅黑"/>
              </a:rPr>
              <a:t>019-11-08</a:t>
            </a:r>
            <a:endParaRPr kumimoji="1" lang="zh-CN" altLang="en-US" sz="2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微软雅黑"/>
            </a:endParaRPr>
          </a:p>
        </p:txBody>
      </p:sp>
      <p:sp>
        <p:nvSpPr>
          <p:cNvPr id="204" name="等腰三角形 203"/>
          <p:cNvSpPr/>
          <p:nvPr/>
        </p:nvSpPr>
        <p:spPr>
          <a:xfrm rot="10800000">
            <a:off x="5729835" y="-184999"/>
            <a:ext cx="1072772" cy="616578"/>
          </a:xfrm>
          <a:prstGeom prst="triangle">
            <a:avLst/>
          </a:prstGeom>
          <a:solidFill>
            <a:srgbClr val="2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等腰三角形 9"/>
          <p:cNvSpPr/>
          <p:nvPr/>
        </p:nvSpPr>
        <p:spPr>
          <a:xfrm rot="10800000">
            <a:off x="5729835" y="-295960"/>
            <a:ext cx="1072772" cy="616578"/>
          </a:xfrm>
          <a:prstGeom prst="triangle">
            <a:avLst/>
          </a:prstGeom>
          <a:solidFill>
            <a:srgbClr val="3E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" name="等腰三角形 204"/>
          <p:cNvSpPr/>
          <p:nvPr/>
        </p:nvSpPr>
        <p:spPr>
          <a:xfrm>
            <a:off x="5734265" y="6426357"/>
            <a:ext cx="1072772" cy="616578"/>
          </a:xfrm>
          <a:prstGeom prst="triangle">
            <a:avLst/>
          </a:prstGeom>
          <a:solidFill>
            <a:srgbClr val="2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等腰三角形 205"/>
          <p:cNvSpPr/>
          <p:nvPr/>
        </p:nvSpPr>
        <p:spPr>
          <a:xfrm>
            <a:off x="5734265" y="6549711"/>
            <a:ext cx="1072772" cy="616578"/>
          </a:xfrm>
          <a:prstGeom prst="triangle">
            <a:avLst/>
          </a:prstGeom>
          <a:solidFill>
            <a:srgbClr val="3E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讨论群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741" y="1589800"/>
            <a:ext cx="3344517" cy="397726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各种层面的单点瓶颈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2431415"/>
            <a:ext cx="10467975" cy="26543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单机房服务化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905" y="1173480"/>
            <a:ext cx="7425055" cy="52324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同城多机房阶段一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" y="1692275"/>
            <a:ext cx="10187940" cy="394906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同城多机房阶段二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95" y="1711960"/>
            <a:ext cx="10137775" cy="393001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蓝绿发布</a:t>
            </a:r>
          </a:p>
        </p:txBody>
      </p:sp>
      <p:pic>
        <p:nvPicPr>
          <p:cNvPr id="2" name="图片 3" descr="Pic201510141121374254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" y="698500"/>
            <a:ext cx="12183110" cy="237934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3008828" y="3054623"/>
            <a:ext cx="5450900" cy="3744808"/>
            <a:chOff x="357068" y="2625998"/>
            <a:chExt cx="5450900" cy="3744808"/>
          </a:xfrm>
        </p:grpSpPr>
        <p:grpSp>
          <p:nvGrpSpPr>
            <p:cNvPr id="7" name="组合 6"/>
            <p:cNvGrpSpPr/>
            <p:nvPr/>
          </p:nvGrpSpPr>
          <p:grpSpPr>
            <a:xfrm>
              <a:off x="357068" y="2844119"/>
              <a:ext cx="5450900" cy="3526687"/>
              <a:chOff x="357068" y="2844119"/>
              <a:chExt cx="5450900" cy="3526687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357068" y="2933775"/>
                <a:ext cx="5450900" cy="3437031"/>
              </a:xfrm>
              <a:prstGeom prst="rect">
                <a:avLst/>
              </a:prstGeom>
              <a:solidFill>
                <a:srgbClr val="D8EFD5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kumimoji="1" lang="zh-CN" altLang="en-US" sz="1400" b="1" dirty="0">
                  <a:solidFill>
                    <a:srgbClr val="53585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513611" y="3273221"/>
                <a:ext cx="2471951" cy="2892083"/>
              </a:xfrm>
              <a:prstGeom prst="rect">
                <a:avLst/>
              </a:prstGeom>
              <a:solidFill>
                <a:srgbClr val="E9F6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b="1" dirty="0">
                  <a:solidFill>
                    <a:srgbClr val="53585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3127156" y="3273220"/>
                <a:ext cx="2535182" cy="2892083"/>
              </a:xfrm>
              <a:prstGeom prst="rect">
                <a:avLst/>
              </a:prstGeom>
              <a:solidFill>
                <a:srgbClr val="E9F6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b="1" dirty="0">
                  <a:solidFill>
                    <a:srgbClr val="53585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2458354" y="2844119"/>
                <a:ext cx="1240349" cy="324252"/>
              </a:xfrm>
              <a:prstGeom prst="roundRect">
                <a:avLst>
                  <a:gd name="adj" fmla="val 8526"/>
                </a:avLst>
              </a:prstGeom>
              <a:solidFill>
                <a:srgbClr val="FF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en-US" sz="11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LB</a:t>
                </a:r>
                <a:endParaRPr kumimoji="1"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cxnSp>
            <p:nvCxnSpPr>
              <p:cNvPr id="14" name="直线箭头连接符 13"/>
              <p:cNvCxnSpPr/>
              <p:nvPr/>
            </p:nvCxnSpPr>
            <p:spPr>
              <a:xfrm flipH="1">
                <a:off x="2376429" y="3168371"/>
                <a:ext cx="690213" cy="873698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罐形 17"/>
              <p:cNvSpPr/>
              <p:nvPr/>
            </p:nvSpPr>
            <p:spPr>
              <a:xfrm>
                <a:off x="1969642" y="5563968"/>
                <a:ext cx="765233" cy="440316"/>
              </a:xfrm>
              <a:prstGeom prst="can">
                <a:avLst/>
              </a:prstGeom>
              <a:solidFill>
                <a:srgbClr val="51A7F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kumimoji="1" lang="en-US" altLang="en-US" sz="14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DB</a:t>
                </a:r>
                <a:endParaRPr kumimoji="1" lang="en-US" altLang="zh-CN" sz="1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1940016" y="4069024"/>
                <a:ext cx="812386" cy="377651"/>
              </a:xfrm>
              <a:prstGeom prst="roundRect">
                <a:avLst/>
              </a:prstGeom>
              <a:solidFill>
                <a:srgbClr val="51A7FA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en-US" sz="14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App</a:t>
                </a:r>
                <a:r>
                  <a:rPr kumimoji="1" lang="en-US" altLang="zh-CN" sz="14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1</a:t>
                </a:r>
                <a:endParaRPr kumimoji="1" lang="en-US" altLang="en-US" sz="1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20" name="圆角矩形 19"/>
              <p:cNvSpPr/>
              <p:nvPr/>
            </p:nvSpPr>
            <p:spPr>
              <a:xfrm>
                <a:off x="1949421" y="4724874"/>
                <a:ext cx="812386" cy="377651"/>
              </a:xfrm>
              <a:prstGeom prst="roundRect">
                <a:avLst/>
              </a:prstGeom>
              <a:solidFill>
                <a:srgbClr val="51A7FA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en-US" sz="14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App2</a:t>
                </a: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3365324" y="4069024"/>
                <a:ext cx="812386" cy="377651"/>
              </a:xfrm>
              <a:prstGeom prst="roundRect">
                <a:avLst/>
              </a:prstGeom>
              <a:solidFill>
                <a:srgbClr val="70C040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en-US" sz="14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App</a:t>
                </a:r>
                <a:r>
                  <a:rPr kumimoji="1" lang="en-US" altLang="zh-CN" sz="14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1</a:t>
                </a:r>
                <a:endParaRPr kumimoji="1" lang="en-US" altLang="en-US" sz="1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26" name="圆角矩形 25"/>
              <p:cNvSpPr/>
              <p:nvPr/>
            </p:nvSpPr>
            <p:spPr>
              <a:xfrm>
                <a:off x="3374729" y="4724874"/>
                <a:ext cx="812386" cy="377651"/>
              </a:xfrm>
              <a:prstGeom prst="roundRect">
                <a:avLst/>
              </a:prstGeom>
              <a:solidFill>
                <a:srgbClr val="70C040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en-US" sz="1400" b="1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App2</a:t>
                </a:r>
              </a:p>
            </p:txBody>
          </p:sp>
          <p:cxnSp>
            <p:nvCxnSpPr>
              <p:cNvPr id="27" name="直线箭头连接符 26"/>
              <p:cNvCxnSpPr>
                <a:endCxn id="25" idx="0"/>
              </p:cNvCxnSpPr>
              <p:nvPr/>
            </p:nvCxnSpPr>
            <p:spPr>
              <a:xfrm>
                <a:off x="3078102" y="3168371"/>
                <a:ext cx="693415" cy="900653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线箭头连接符 27"/>
              <p:cNvCxnSpPr/>
              <p:nvPr/>
            </p:nvCxnSpPr>
            <p:spPr>
              <a:xfrm flipH="1">
                <a:off x="2344272" y="4444811"/>
                <a:ext cx="1937" cy="295877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箭头连接符 28"/>
              <p:cNvCxnSpPr/>
              <p:nvPr/>
            </p:nvCxnSpPr>
            <p:spPr>
              <a:xfrm>
                <a:off x="2337616" y="5110589"/>
                <a:ext cx="0" cy="428723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箭头连接符 29"/>
              <p:cNvCxnSpPr/>
              <p:nvPr/>
            </p:nvCxnSpPr>
            <p:spPr>
              <a:xfrm flipH="1">
                <a:off x="3778678" y="4437112"/>
                <a:ext cx="1937" cy="295877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线箭头连接符 30"/>
              <p:cNvCxnSpPr>
                <a:stCxn id="26" idx="2"/>
                <a:endCxn id="18" idx="1"/>
              </p:cNvCxnSpPr>
              <p:nvPr/>
            </p:nvCxnSpPr>
            <p:spPr>
              <a:xfrm flipH="1">
                <a:off x="2352259" y="5102525"/>
                <a:ext cx="1428663" cy="461443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3440630" y="3413174"/>
                <a:ext cx="571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5</a:t>
                </a:r>
                <a:r>
                  <a:rPr kumimoji="1" lang="en-US" altLang="en-US" sz="14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0%</a:t>
                </a:r>
                <a:endParaRPr kumimoji="1" lang="zh-CN" altLang="en-US" sz="14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135338" y="3433322"/>
                <a:ext cx="571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5</a:t>
                </a:r>
                <a:r>
                  <a:rPr kumimoji="1" lang="en-US" altLang="en-US" sz="14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0%</a:t>
                </a:r>
                <a:endParaRPr kumimoji="1" lang="zh-CN" altLang="en-US" sz="14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228011" y="2933775"/>
                <a:ext cx="571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en-US" sz="14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</a:rPr>
                  <a:t>IDC</a:t>
                </a:r>
                <a:endParaRPr kumimoji="1" lang="zh-CN" altLang="en-US" sz="14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</a:endParaRPr>
              </a:p>
            </p:txBody>
          </p:sp>
        </p:grpSp>
        <p:cxnSp>
          <p:nvCxnSpPr>
            <p:cNvPr id="8" name="直线箭头连接符 7"/>
            <p:cNvCxnSpPr>
              <a:endCxn id="13" idx="0"/>
            </p:cNvCxnSpPr>
            <p:nvPr/>
          </p:nvCxnSpPr>
          <p:spPr>
            <a:xfrm>
              <a:off x="3078529" y="2625998"/>
              <a:ext cx="0" cy="218121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两地三中心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5" y="1562100"/>
            <a:ext cx="11649710" cy="422783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小结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5" y="865505"/>
            <a:ext cx="11224895" cy="547941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数据的归类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79120" y="1222375"/>
            <a:ext cx="9904730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ea typeface="+mn-lt"/>
              </a:rPr>
              <a:t>配置型</a:t>
            </a: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>
                <a:ea typeface="+mn-lt"/>
              </a:rPr>
              <a:t>读写比大，强依赖读，弱依赖写，不要求严格的读一致性</a:t>
            </a: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 sz="2800">
                <a:ea typeface="+mn-lt"/>
              </a:rPr>
              <a:t>流水型</a:t>
            </a:r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>
                <a:ea typeface="+mn-lt"/>
              </a:rPr>
              <a:t>不断产生新的数据，各条数据间是独立的，可以随时切换新数据的存储位置，每条数据的主键自包含存储位置信息。单条数据的更新需要保证强一致性</a:t>
            </a: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 sz="2800">
                <a:ea typeface="+mn-lt"/>
                <a:sym typeface="+mn-ea"/>
              </a:rPr>
              <a:t>状态型</a:t>
            </a:r>
            <a:endParaRPr lang="zh-CN" altLang="en-US" sz="2800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>
                <a:ea typeface="+mn-lt"/>
                <a:sym typeface="+mn-ea"/>
              </a:rPr>
              <a:t>读写比相当，必须保证可写才有意义，每一次写操作必须基于前一个正确的状态</a:t>
            </a:r>
            <a:endParaRPr lang="zh-CN" altLang="en-US">
              <a:ea typeface="+mn-lt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读写分离与多点写入</a:t>
            </a:r>
          </a:p>
        </p:txBody>
      </p:sp>
      <p:sp>
        <p:nvSpPr>
          <p:cNvPr id="2" name="罐形 3"/>
          <p:cNvSpPr/>
          <p:nvPr/>
        </p:nvSpPr>
        <p:spPr>
          <a:xfrm>
            <a:off x="3536924" y="3446333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R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罐形 6"/>
          <p:cNvSpPr/>
          <p:nvPr/>
        </p:nvSpPr>
        <p:spPr>
          <a:xfrm>
            <a:off x="2343979" y="3437259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罐形 7"/>
          <p:cNvSpPr/>
          <p:nvPr/>
        </p:nvSpPr>
        <p:spPr>
          <a:xfrm>
            <a:off x="4676618" y="3446333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R</a:t>
            </a:r>
            <a:endParaRPr kumimoji="1" lang="zh-CN" altLang="en-US" sz="1400" b="1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419949" y="1903518"/>
            <a:ext cx="1232818" cy="561406"/>
          </a:xfrm>
          <a:prstGeom prst="roundRect">
            <a:avLst/>
          </a:prstGeom>
          <a:solidFill>
            <a:srgbClr val="70C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APP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0" name="直线箭头连接符 9"/>
          <p:cNvCxnSpPr>
            <a:stCxn id="9" idx="2"/>
            <a:endCxn id="7" idx="1"/>
          </p:cNvCxnSpPr>
          <p:nvPr/>
        </p:nvCxnSpPr>
        <p:spPr>
          <a:xfrm flipH="1">
            <a:off x="2831128" y="2464924"/>
            <a:ext cx="1193165" cy="972185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>
            <a:stCxn id="9" idx="2"/>
            <a:endCxn id="2" idx="1"/>
          </p:cNvCxnSpPr>
          <p:nvPr/>
        </p:nvCxnSpPr>
        <p:spPr>
          <a:xfrm>
            <a:off x="4024293" y="2464924"/>
            <a:ext cx="0" cy="981075"/>
          </a:xfrm>
          <a:prstGeom prst="straightConnector1">
            <a:avLst/>
          </a:prstGeom>
          <a:ln w="25400">
            <a:solidFill>
              <a:srgbClr val="217F4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/>
          <p:cNvCxnSpPr>
            <a:stCxn id="9" idx="2"/>
            <a:endCxn id="8" idx="1"/>
          </p:cNvCxnSpPr>
          <p:nvPr/>
        </p:nvCxnSpPr>
        <p:spPr>
          <a:xfrm>
            <a:off x="4024293" y="2464924"/>
            <a:ext cx="1139825" cy="981075"/>
          </a:xfrm>
          <a:prstGeom prst="straightConnector1">
            <a:avLst/>
          </a:prstGeom>
          <a:ln w="25400">
            <a:solidFill>
              <a:srgbClr val="217F4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7" idx="3"/>
            <a:endCxn id="2" idx="3"/>
          </p:cNvCxnSpPr>
          <p:nvPr/>
        </p:nvCxnSpPr>
        <p:spPr>
          <a:xfrm rot="5400000" flipV="1">
            <a:off x="3422968" y="3503613"/>
            <a:ext cx="8890" cy="1193165"/>
          </a:xfrm>
          <a:prstGeom prst="bentConnector3">
            <a:avLst>
              <a:gd name="adj1" fmla="val 2775000"/>
            </a:avLst>
          </a:prstGeom>
          <a:ln w="25400">
            <a:solidFill>
              <a:srgbClr val="53585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7" idx="3"/>
            <a:endCxn id="8" idx="3"/>
          </p:cNvCxnSpPr>
          <p:nvPr/>
        </p:nvCxnSpPr>
        <p:spPr>
          <a:xfrm rot="5400000" flipV="1">
            <a:off x="3992880" y="2933700"/>
            <a:ext cx="8890" cy="2332990"/>
          </a:xfrm>
          <a:prstGeom prst="bentConnector3">
            <a:avLst>
              <a:gd name="adj1" fmla="val 2778571"/>
            </a:avLst>
          </a:prstGeom>
          <a:ln w="25400">
            <a:solidFill>
              <a:srgbClr val="53585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罐形 14"/>
          <p:cNvSpPr/>
          <p:nvPr/>
        </p:nvSpPr>
        <p:spPr>
          <a:xfrm>
            <a:off x="7839076" y="3446333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罐形 15"/>
          <p:cNvSpPr/>
          <p:nvPr/>
        </p:nvSpPr>
        <p:spPr>
          <a:xfrm>
            <a:off x="6646131" y="3437259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罐形 16"/>
          <p:cNvSpPr/>
          <p:nvPr/>
        </p:nvSpPr>
        <p:spPr>
          <a:xfrm>
            <a:off x="8978770" y="3446333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720527" y="1865939"/>
            <a:ext cx="1232818" cy="598986"/>
          </a:xfrm>
          <a:prstGeom prst="roundRect">
            <a:avLst/>
          </a:prstGeom>
          <a:solidFill>
            <a:srgbClr val="70C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APP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9" name="直线箭头连接符 18"/>
          <p:cNvCxnSpPr>
            <a:stCxn id="18" idx="2"/>
            <a:endCxn id="16" idx="1"/>
          </p:cNvCxnSpPr>
          <p:nvPr/>
        </p:nvCxnSpPr>
        <p:spPr>
          <a:xfrm flipH="1">
            <a:off x="7132976" y="2464290"/>
            <a:ext cx="1191260" cy="97282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>
            <a:stCxn id="18" idx="2"/>
            <a:endCxn id="15" idx="1"/>
          </p:cNvCxnSpPr>
          <p:nvPr/>
        </p:nvCxnSpPr>
        <p:spPr>
          <a:xfrm>
            <a:off x="8324236" y="2464290"/>
            <a:ext cx="1905" cy="98171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>
            <a:stCxn id="18" idx="2"/>
            <a:endCxn id="17" idx="1"/>
          </p:cNvCxnSpPr>
          <p:nvPr/>
        </p:nvCxnSpPr>
        <p:spPr>
          <a:xfrm>
            <a:off x="8324236" y="2464290"/>
            <a:ext cx="1141730" cy="98171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罐形 21"/>
          <p:cNvSpPr/>
          <p:nvPr/>
        </p:nvSpPr>
        <p:spPr>
          <a:xfrm>
            <a:off x="2344297" y="4563414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W-Slave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罐形 22"/>
          <p:cNvSpPr/>
          <p:nvPr/>
        </p:nvSpPr>
        <p:spPr>
          <a:xfrm>
            <a:off x="6646131" y="4538361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W-Slave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4" name="罐形 23"/>
          <p:cNvSpPr/>
          <p:nvPr/>
        </p:nvSpPr>
        <p:spPr>
          <a:xfrm>
            <a:off x="7839076" y="4538361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W-Slave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罐形 24"/>
          <p:cNvSpPr/>
          <p:nvPr/>
        </p:nvSpPr>
        <p:spPr>
          <a:xfrm>
            <a:off x="8978770" y="4538361"/>
            <a:ext cx="998868" cy="658368"/>
          </a:xfrm>
          <a:prstGeom prst="can">
            <a:avLst/>
          </a:prstGeom>
          <a:solidFill>
            <a:srgbClr val="51A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W-Slave</a:t>
            </a:r>
            <a:endParaRPr kumimoji="1" lang="zh-CN" altLang="en-US" sz="1400" b="1" dirty="0">
              <a:solidFill>
                <a:srgbClr val="FFFF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26" name="肘形连接符 25"/>
          <p:cNvCxnSpPr>
            <a:stCxn id="7" idx="2"/>
            <a:endCxn id="22" idx="2"/>
          </p:cNvCxnSpPr>
          <p:nvPr/>
        </p:nvCxnSpPr>
        <p:spPr>
          <a:xfrm rot="10800000" flipH="1" flipV="1">
            <a:off x="2331085" y="3766820"/>
            <a:ext cx="635" cy="1125855"/>
          </a:xfrm>
          <a:prstGeom prst="bentConnector3">
            <a:avLst>
              <a:gd name="adj1" fmla="val -37500000"/>
            </a:avLst>
          </a:prstGeom>
          <a:ln w="25400">
            <a:solidFill>
              <a:srgbClr val="53585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>
            <a:stCxn id="16" idx="3"/>
            <a:endCxn id="23" idx="1"/>
          </p:cNvCxnSpPr>
          <p:nvPr/>
        </p:nvCxnSpPr>
        <p:spPr>
          <a:xfrm>
            <a:off x="7132865" y="4095627"/>
            <a:ext cx="0" cy="442595"/>
          </a:xfrm>
          <a:prstGeom prst="straightConnector1">
            <a:avLst/>
          </a:prstGeom>
          <a:ln w="25400">
            <a:solidFill>
              <a:srgbClr val="53585E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/>
          <p:cNvCxnSpPr>
            <a:stCxn id="15" idx="3"/>
            <a:endCxn id="24" idx="1"/>
          </p:cNvCxnSpPr>
          <p:nvPr/>
        </p:nvCxnSpPr>
        <p:spPr>
          <a:xfrm>
            <a:off x="8325810" y="4104701"/>
            <a:ext cx="0" cy="433705"/>
          </a:xfrm>
          <a:prstGeom prst="straightConnector1">
            <a:avLst/>
          </a:prstGeom>
          <a:ln w="25400">
            <a:solidFill>
              <a:srgbClr val="53585E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>
            <a:stCxn id="17" idx="3"/>
            <a:endCxn id="25" idx="1"/>
          </p:cNvCxnSpPr>
          <p:nvPr/>
        </p:nvCxnSpPr>
        <p:spPr>
          <a:xfrm>
            <a:off x="9466139" y="4104701"/>
            <a:ext cx="0" cy="433705"/>
          </a:xfrm>
          <a:prstGeom prst="straightConnector1">
            <a:avLst/>
          </a:prstGeom>
          <a:ln w="25400">
            <a:solidFill>
              <a:srgbClr val="53585E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2686899" y="5474028"/>
            <a:ext cx="2645665" cy="412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20"/>
              </a:lnSpc>
            </a:pPr>
            <a:r>
              <a:rPr kumimoji="1" lang="zh-CN" altLang="en-US" sz="1600" dirty="0">
                <a:solidFill>
                  <a:srgbClr val="53585E"/>
                </a:solidFill>
                <a:latin typeface="Microsoft YaHei" charset="0"/>
                <a:ea typeface="Microsoft YaHei" charset="0"/>
                <a:cs typeface="Microsoft YaHei" charset="0"/>
              </a:rPr>
              <a:t>读写分离，突破 </a:t>
            </a:r>
            <a:r>
              <a:rPr kumimoji="1" lang="zh-CN" altLang="en-US" b="1" dirty="0">
                <a:solidFill>
                  <a:srgbClr val="F49017"/>
                </a:solidFill>
                <a:latin typeface="Microsoft YaHei" charset="0"/>
                <a:ea typeface="Microsoft YaHei" charset="0"/>
                <a:cs typeface="Microsoft YaHei" charset="0"/>
              </a:rPr>
              <a:t>读瓶颈</a:t>
            </a:r>
            <a:endParaRPr kumimoji="1" lang="en-US" altLang="zh-CN" b="1" dirty="0">
              <a:solidFill>
                <a:srgbClr val="F49017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14103" y="5474028"/>
            <a:ext cx="2645665" cy="412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20"/>
              </a:lnSpc>
            </a:pPr>
            <a:r>
              <a:rPr kumimoji="1" lang="zh-CN" altLang="en-US" sz="1600" dirty="0">
                <a:solidFill>
                  <a:srgbClr val="53585E"/>
                </a:solidFill>
                <a:latin typeface="Microsoft YaHei" charset="0"/>
                <a:ea typeface="Microsoft YaHei" charset="0"/>
                <a:cs typeface="Microsoft YaHei" charset="0"/>
              </a:rPr>
              <a:t>多点写入，突破 </a:t>
            </a:r>
            <a:r>
              <a:rPr kumimoji="1" lang="zh-CN" altLang="en-US" b="1" dirty="0">
                <a:solidFill>
                  <a:srgbClr val="F49017"/>
                </a:solidFill>
                <a:latin typeface="Microsoft YaHei" charset="0"/>
                <a:ea typeface="Microsoft YaHei" charset="0"/>
                <a:cs typeface="Microsoft YaHei" charset="0"/>
              </a:rPr>
              <a:t>写瓶颈</a:t>
            </a:r>
            <a:endParaRPr kumimoji="1" lang="en-US" altLang="zh-CN" b="1" dirty="0">
              <a:solidFill>
                <a:srgbClr val="F49017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 bldLvl="0" animBg="1"/>
      <p:bldP spid="8" grpId="0" bldLvl="0" animBg="1"/>
      <p:bldP spid="9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水平拆分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" y="1089025"/>
            <a:ext cx="10301605" cy="525653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数据库连接瓶颈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0" y="826770"/>
            <a:ext cx="7658100" cy="58261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单元化思想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620" y="826135"/>
            <a:ext cx="7731125" cy="588073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流水型数据的</a:t>
            </a:r>
            <a:r>
              <a:rPr kumimoji="1" lang="en-US" altLang="zh-CN" dirty="0"/>
              <a:t>Failover</a:t>
            </a:r>
            <a:r>
              <a:rPr kumimoji="1" lang="zh-CN" altLang="en-US" dirty="0"/>
              <a:t>机制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505" y="706755"/>
            <a:ext cx="8022590" cy="608711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基于黑名单的账务</a:t>
            </a:r>
            <a:r>
              <a:rPr kumimoji="1" lang="en-US" altLang="zh-CN" dirty="0"/>
              <a:t>Failover</a:t>
            </a:r>
            <a:r>
              <a:rPr kumimoji="1" lang="zh-CN" altLang="en-US" dirty="0"/>
              <a:t>机制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20445"/>
            <a:ext cx="10119360" cy="546227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热点账户问题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403110" y="2556649"/>
          <a:ext cx="2736304" cy="1656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account_no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2088001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r>
                        <a:rPr lang="en-US" altLang="zh-CN" dirty="0"/>
                        <a:t>balance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r>
                        <a:rPr lang="en-US" altLang="zh-CN" dirty="0"/>
                        <a:t>currency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CNY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右箭头 5"/>
          <p:cNvSpPr/>
          <p:nvPr/>
        </p:nvSpPr>
        <p:spPr>
          <a:xfrm>
            <a:off x="1641019" y="1836569"/>
            <a:ext cx="2160240" cy="72008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2088001</a:t>
            </a:r>
            <a:r>
              <a:rPr kumimoji="1" lang="zh-CN" altLang="en-US" dirty="0"/>
              <a:t>   </a:t>
            </a:r>
            <a:r>
              <a:rPr kumimoji="1" lang="en-US" altLang="zh-CN" dirty="0"/>
              <a:t>+100</a:t>
            </a:r>
            <a:endParaRPr kumimoji="1" lang="zh-CN" altLang="en-US" dirty="0"/>
          </a:p>
        </p:txBody>
      </p:sp>
      <p:sp>
        <p:nvSpPr>
          <p:cNvPr id="7" name="右箭头 6"/>
          <p:cNvSpPr/>
          <p:nvPr/>
        </p:nvSpPr>
        <p:spPr>
          <a:xfrm>
            <a:off x="1641019" y="2484641"/>
            <a:ext cx="2160240" cy="72008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2088001</a:t>
            </a:r>
            <a:r>
              <a:rPr kumimoji="1" lang="zh-CN" altLang="en-US" dirty="0"/>
              <a:t>   </a:t>
            </a:r>
            <a:r>
              <a:rPr kumimoji="1" lang="en-US" altLang="zh-CN" dirty="0"/>
              <a:t>+300</a:t>
            </a:r>
            <a:endParaRPr kumimoji="1" lang="zh-CN" altLang="en-US" dirty="0"/>
          </a:p>
        </p:txBody>
      </p:sp>
      <p:sp>
        <p:nvSpPr>
          <p:cNvPr id="8" name="右箭头 7"/>
          <p:cNvSpPr/>
          <p:nvPr/>
        </p:nvSpPr>
        <p:spPr>
          <a:xfrm>
            <a:off x="1641019" y="3132713"/>
            <a:ext cx="2160240" cy="72008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2088001</a:t>
            </a:r>
            <a:r>
              <a:rPr kumimoji="1" lang="zh-CN" altLang="en-US" dirty="0"/>
              <a:t>   </a:t>
            </a:r>
            <a:r>
              <a:rPr kumimoji="1" lang="zh-CN" altLang="zh-CN" dirty="0"/>
              <a:t>-5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1641019" y="3852793"/>
            <a:ext cx="2160240" cy="72008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2088001</a:t>
            </a:r>
            <a:r>
              <a:rPr kumimoji="1" lang="zh-CN" altLang="en-US" dirty="0"/>
              <a:t>   </a:t>
            </a:r>
            <a:r>
              <a:rPr kumimoji="1" lang="zh-CN" altLang="zh-CN" dirty="0"/>
              <a:t>+</a:t>
            </a:r>
            <a:r>
              <a:rPr kumimoji="1" lang="en-US" altLang="zh-CN" dirty="0"/>
              <a:t>180</a:t>
            </a:r>
            <a:endParaRPr kumimoji="1" lang="zh-CN" altLang="en-US" dirty="0"/>
          </a:p>
        </p:txBody>
      </p:sp>
      <p:sp>
        <p:nvSpPr>
          <p:cNvPr id="10" name="右箭头 9"/>
          <p:cNvSpPr/>
          <p:nvPr/>
        </p:nvSpPr>
        <p:spPr>
          <a:xfrm>
            <a:off x="1641019" y="4500865"/>
            <a:ext cx="2160240" cy="72008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数据一致性之</a:t>
            </a:r>
            <a:r>
              <a:rPr kumimoji="1" lang="en-US" altLang="zh-CN" dirty="0"/>
              <a:t>TCC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935" y="902335"/>
            <a:ext cx="9422130" cy="567118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数据一致性之事务消息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25" y="911860"/>
            <a:ext cx="8083550" cy="576326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5815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数据一致性之完整组合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5552892" y="1388899"/>
            <a:ext cx="4409689" cy="4656082"/>
          </a:xfrm>
          <a:prstGeom prst="roundRect">
            <a:avLst/>
          </a:prstGeom>
          <a:solidFill>
            <a:srgbClr val="E9F6FF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zh-CN" altLang="en-US" sz="1400" dirty="0">
                <a:solidFill>
                  <a:srgbClr val="3CAB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基于 </a:t>
            </a:r>
            <a:r>
              <a:rPr kumimoji="1" lang="en-US" altLang="zh-CN" sz="1400" b="1" dirty="0">
                <a:solidFill>
                  <a:srgbClr val="3CAB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2PC</a:t>
            </a:r>
            <a:r>
              <a:rPr kumimoji="1" lang="zh-CN" altLang="en-US" sz="1400" b="1" dirty="0">
                <a:solidFill>
                  <a:srgbClr val="3CAB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消息 </a:t>
            </a:r>
            <a:r>
              <a:rPr kumimoji="1" lang="zh-CN" altLang="en-US" sz="1400" dirty="0">
                <a:solidFill>
                  <a:srgbClr val="3CAB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的分布式事务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114166" y="1388899"/>
            <a:ext cx="3433552" cy="4656082"/>
          </a:xfrm>
          <a:prstGeom prst="roundRect">
            <a:avLst/>
          </a:prstGeom>
          <a:solidFill>
            <a:srgbClr val="FEF4EA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zh-CN" altLang="en-US" sz="1400" dirty="0">
                <a:solidFill>
                  <a:srgbClr val="F490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基于 </a:t>
            </a:r>
            <a:r>
              <a:rPr kumimoji="1" lang="en-US" altLang="zh-CN" sz="1400" b="1" dirty="0">
                <a:solidFill>
                  <a:srgbClr val="F490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2PC</a:t>
            </a:r>
            <a:r>
              <a:rPr kumimoji="1" lang="zh-CN" altLang="en-US" sz="1400" b="1" dirty="0">
                <a:solidFill>
                  <a:srgbClr val="F490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服务</a:t>
            </a:r>
            <a:r>
              <a:rPr kumimoji="1" lang="zh-CN" altLang="en-US" sz="1400" dirty="0">
                <a:solidFill>
                  <a:srgbClr val="F490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的分布式事务</a:t>
            </a:r>
          </a:p>
        </p:txBody>
      </p:sp>
      <p:sp>
        <p:nvSpPr>
          <p:cNvPr id="9" name="矩形 8"/>
          <p:cNvSpPr/>
          <p:nvPr/>
        </p:nvSpPr>
        <p:spPr>
          <a:xfrm>
            <a:off x="3498368" y="2408401"/>
            <a:ext cx="3626069" cy="2112579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dirty="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交易系统</a:t>
            </a:r>
          </a:p>
        </p:txBody>
      </p:sp>
      <p:sp>
        <p:nvSpPr>
          <p:cNvPr id="10" name="矩形 9"/>
          <p:cNvSpPr/>
          <p:nvPr/>
        </p:nvSpPr>
        <p:spPr>
          <a:xfrm>
            <a:off x="3635003" y="2823562"/>
            <a:ext cx="3325637" cy="331076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交易引擎</a:t>
            </a:r>
          </a:p>
        </p:txBody>
      </p:sp>
      <p:sp>
        <p:nvSpPr>
          <p:cNvPr id="11" name="矩形 10"/>
          <p:cNvSpPr/>
          <p:nvPr/>
        </p:nvSpPr>
        <p:spPr>
          <a:xfrm>
            <a:off x="3635003" y="3283389"/>
            <a:ext cx="336983" cy="1121058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数据持久</a:t>
            </a:r>
          </a:p>
        </p:txBody>
      </p:sp>
      <p:sp>
        <p:nvSpPr>
          <p:cNvPr id="12" name="矩形 11"/>
          <p:cNvSpPr/>
          <p:nvPr/>
        </p:nvSpPr>
        <p:spPr>
          <a:xfrm>
            <a:off x="4134218" y="3283389"/>
            <a:ext cx="336983" cy="1121058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流程引擎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33433" y="3283389"/>
            <a:ext cx="336983" cy="1121058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规则引擎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32648" y="3277280"/>
            <a:ext cx="336983" cy="1121058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资金处理</a:t>
            </a:r>
          </a:p>
        </p:txBody>
      </p:sp>
      <p:sp>
        <p:nvSpPr>
          <p:cNvPr id="15" name="矩形 14"/>
          <p:cNvSpPr/>
          <p:nvPr/>
        </p:nvSpPr>
        <p:spPr>
          <a:xfrm>
            <a:off x="5631863" y="3286083"/>
            <a:ext cx="336983" cy="1121058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收费接入</a:t>
            </a:r>
          </a:p>
        </p:txBody>
      </p:sp>
      <p:sp>
        <p:nvSpPr>
          <p:cNvPr id="16" name="矩形 15"/>
          <p:cNvSpPr/>
          <p:nvPr/>
        </p:nvSpPr>
        <p:spPr>
          <a:xfrm>
            <a:off x="6131078" y="3277280"/>
            <a:ext cx="336983" cy="1121058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商户通知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316475" y="4952911"/>
            <a:ext cx="1121537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账务系统</a:t>
            </a:r>
          </a:p>
        </p:txBody>
      </p:sp>
      <p:sp>
        <p:nvSpPr>
          <p:cNvPr id="18" name="矩形 17"/>
          <p:cNvSpPr/>
          <p:nvPr/>
        </p:nvSpPr>
        <p:spPr>
          <a:xfrm>
            <a:off x="3761128" y="5009711"/>
            <a:ext cx="1460938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solidFill>
                <a:srgbClr val="53585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850464" y="5117376"/>
            <a:ext cx="1460938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solidFill>
                <a:srgbClr val="53585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34346" y="5283984"/>
            <a:ext cx="1431793" cy="436749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支付工具系统</a:t>
            </a:r>
          </a:p>
        </p:txBody>
      </p:sp>
      <p:sp>
        <p:nvSpPr>
          <p:cNvPr id="21" name="矩形 20"/>
          <p:cNvSpPr/>
          <p:nvPr/>
        </p:nvSpPr>
        <p:spPr>
          <a:xfrm>
            <a:off x="8425633" y="2160555"/>
            <a:ext cx="1275237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收费系统</a:t>
            </a:r>
          </a:p>
        </p:txBody>
      </p:sp>
      <p:sp>
        <p:nvSpPr>
          <p:cNvPr id="22" name="矩形 21"/>
          <p:cNvSpPr/>
          <p:nvPr/>
        </p:nvSpPr>
        <p:spPr>
          <a:xfrm>
            <a:off x="8442698" y="3426001"/>
            <a:ext cx="1258172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商户通知系统</a:t>
            </a:r>
            <a:endParaRPr kumimoji="1" lang="zh-CN" altLang="en-US" sz="1400" dirty="0">
              <a:solidFill>
                <a:srgbClr val="53585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446166" y="4058724"/>
            <a:ext cx="1258172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营销系统</a:t>
            </a:r>
          </a:p>
        </p:txBody>
      </p:sp>
      <p:sp>
        <p:nvSpPr>
          <p:cNvPr id="24" name="矩形 23"/>
          <p:cNvSpPr/>
          <p:nvPr/>
        </p:nvSpPr>
        <p:spPr>
          <a:xfrm>
            <a:off x="8457337" y="4691446"/>
            <a:ext cx="1258172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风险核查系统</a:t>
            </a:r>
          </a:p>
        </p:txBody>
      </p:sp>
      <p:sp>
        <p:nvSpPr>
          <p:cNvPr id="25" name="矩形 24"/>
          <p:cNvSpPr/>
          <p:nvPr/>
        </p:nvSpPr>
        <p:spPr>
          <a:xfrm>
            <a:off x="6630293" y="3277280"/>
            <a:ext cx="336983" cy="1121058"/>
          </a:xfrm>
          <a:prstGeom prst="rect">
            <a:avLst/>
          </a:prstGeom>
          <a:solidFill>
            <a:srgbClr val="42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统一事件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26" name="直线箭头连接符 25"/>
          <p:cNvCxnSpPr/>
          <p:nvPr/>
        </p:nvCxnSpPr>
        <p:spPr>
          <a:xfrm>
            <a:off x="3803494" y="3079136"/>
            <a:ext cx="0" cy="240118"/>
          </a:xfrm>
          <a:prstGeom prst="straightConnector1">
            <a:avLst/>
          </a:prstGeom>
          <a:ln w="50800">
            <a:solidFill>
              <a:srgbClr val="F49017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>
            <a:off x="4807293" y="3079136"/>
            <a:ext cx="0" cy="240118"/>
          </a:xfrm>
          <a:prstGeom prst="straightConnector1">
            <a:avLst/>
          </a:prstGeom>
          <a:ln w="50800">
            <a:solidFill>
              <a:srgbClr val="F49017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/>
          <p:cNvCxnSpPr/>
          <p:nvPr/>
        </p:nvCxnSpPr>
        <p:spPr>
          <a:xfrm>
            <a:off x="5311402" y="3079136"/>
            <a:ext cx="0" cy="240118"/>
          </a:xfrm>
          <a:prstGeom prst="straightConnector1">
            <a:avLst/>
          </a:prstGeom>
          <a:ln w="50800">
            <a:solidFill>
              <a:srgbClr val="F49017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>
            <a:off x="4302709" y="3079136"/>
            <a:ext cx="0" cy="240118"/>
          </a:xfrm>
          <a:prstGeom prst="straightConnector1">
            <a:avLst/>
          </a:prstGeom>
          <a:ln w="50800">
            <a:solidFill>
              <a:srgbClr val="F49017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>
            <a:off x="6314287" y="3079136"/>
            <a:ext cx="0" cy="240118"/>
          </a:xfrm>
          <a:prstGeom prst="straightConnector1">
            <a:avLst/>
          </a:prstGeom>
          <a:ln w="50800">
            <a:solidFill>
              <a:srgbClr val="3CABFC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/>
          <p:nvPr/>
        </p:nvCxnSpPr>
        <p:spPr>
          <a:xfrm>
            <a:off x="5800354" y="3079136"/>
            <a:ext cx="0" cy="240118"/>
          </a:xfrm>
          <a:prstGeom prst="straightConnector1">
            <a:avLst/>
          </a:prstGeom>
          <a:ln w="50800">
            <a:solidFill>
              <a:srgbClr val="3CABFC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/>
          <p:cNvCxnSpPr/>
          <p:nvPr/>
        </p:nvCxnSpPr>
        <p:spPr>
          <a:xfrm>
            <a:off x="6778311" y="3079136"/>
            <a:ext cx="0" cy="240118"/>
          </a:xfrm>
          <a:prstGeom prst="straightConnector1">
            <a:avLst/>
          </a:prstGeom>
          <a:ln w="50800">
            <a:solidFill>
              <a:srgbClr val="3CABFC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8425633" y="2793278"/>
            <a:ext cx="1258172" cy="495692"/>
          </a:xfrm>
          <a:prstGeom prst="rect">
            <a:avLst/>
          </a:prstGeom>
          <a:solidFill>
            <a:srgbClr val="D8EFD5"/>
          </a:solidFill>
          <a:ln>
            <a:solidFill>
              <a:srgbClr val="42C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rgbClr val="5358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消费记录系统</a:t>
            </a:r>
          </a:p>
        </p:txBody>
      </p:sp>
      <p:sp>
        <p:nvSpPr>
          <p:cNvPr id="34" name="罐形 33"/>
          <p:cNvSpPr/>
          <p:nvPr/>
        </p:nvSpPr>
        <p:spPr>
          <a:xfrm rot="16200000">
            <a:off x="7232267" y="4680407"/>
            <a:ext cx="484497" cy="849774"/>
          </a:xfrm>
          <a:prstGeom prst="can">
            <a:avLst/>
          </a:prstGeom>
          <a:solidFill>
            <a:srgbClr val="3CAB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5" name="肘形连接符 34"/>
          <p:cNvCxnSpPr>
            <a:stCxn id="15" idx="2"/>
            <a:endCxn id="34" idx="1"/>
          </p:cNvCxnSpPr>
          <p:nvPr/>
        </p:nvCxnSpPr>
        <p:spPr>
          <a:xfrm rot="16200000" flipH="1">
            <a:off x="6075916" y="4131580"/>
            <a:ext cx="698153" cy="1249274"/>
          </a:xfrm>
          <a:prstGeom prst="bentConnector2">
            <a:avLst/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/>
          <p:cNvCxnSpPr>
            <a:stCxn id="16" idx="2"/>
            <a:endCxn id="34" idx="1"/>
          </p:cNvCxnSpPr>
          <p:nvPr/>
        </p:nvCxnSpPr>
        <p:spPr>
          <a:xfrm rot="16200000" flipH="1">
            <a:off x="6321121" y="4376786"/>
            <a:ext cx="706956" cy="750059"/>
          </a:xfrm>
          <a:prstGeom prst="bentConnector2">
            <a:avLst/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25" idx="2"/>
            <a:endCxn id="34" idx="1"/>
          </p:cNvCxnSpPr>
          <p:nvPr/>
        </p:nvCxnSpPr>
        <p:spPr>
          <a:xfrm rot="16200000" flipH="1">
            <a:off x="6570729" y="4626394"/>
            <a:ext cx="706956" cy="250844"/>
          </a:xfrm>
          <a:prstGeom prst="bentConnector2">
            <a:avLst/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34" idx="3"/>
            <a:endCxn id="21" idx="1"/>
          </p:cNvCxnSpPr>
          <p:nvPr/>
        </p:nvCxnSpPr>
        <p:spPr>
          <a:xfrm flipV="1">
            <a:off x="7899403" y="2408401"/>
            <a:ext cx="526230" cy="2696893"/>
          </a:xfrm>
          <a:prstGeom prst="bentConnector3">
            <a:avLst>
              <a:gd name="adj1" fmla="val 50000"/>
            </a:avLst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4" idx="3"/>
            <a:endCxn id="33" idx="1"/>
          </p:cNvCxnSpPr>
          <p:nvPr/>
        </p:nvCxnSpPr>
        <p:spPr>
          <a:xfrm flipV="1">
            <a:off x="7899403" y="3041124"/>
            <a:ext cx="526230" cy="2064170"/>
          </a:xfrm>
          <a:prstGeom prst="bentConnector3">
            <a:avLst>
              <a:gd name="adj1" fmla="val 50000"/>
            </a:avLst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/>
          <p:cNvCxnSpPr>
            <a:stCxn id="34" idx="3"/>
            <a:endCxn id="22" idx="1"/>
          </p:cNvCxnSpPr>
          <p:nvPr/>
        </p:nvCxnSpPr>
        <p:spPr>
          <a:xfrm flipV="1">
            <a:off x="7899403" y="3673847"/>
            <a:ext cx="543295" cy="1431447"/>
          </a:xfrm>
          <a:prstGeom prst="bentConnector3">
            <a:avLst>
              <a:gd name="adj1" fmla="val 50000"/>
            </a:avLst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34" idx="3"/>
            <a:endCxn id="23" idx="1"/>
          </p:cNvCxnSpPr>
          <p:nvPr/>
        </p:nvCxnSpPr>
        <p:spPr>
          <a:xfrm flipV="1">
            <a:off x="7899403" y="4306570"/>
            <a:ext cx="546763" cy="798724"/>
          </a:xfrm>
          <a:prstGeom prst="bentConnector3">
            <a:avLst>
              <a:gd name="adj1" fmla="val 50000"/>
            </a:avLst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34" idx="3"/>
            <a:endCxn id="24" idx="1"/>
          </p:cNvCxnSpPr>
          <p:nvPr/>
        </p:nvCxnSpPr>
        <p:spPr>
          <a:xfrm flipV="1">
            <a:off x="7899403" y="4939292"/>
            <a:ext cx="557934" cy="166002"/>
          </a:xfrm>
          <a:prstGeom prst="bentConnector3">
            <a:avLst>
              <a:gd name="adj1" fmla="val 50000"/>
            </a:avLst>
          </a:prstGeom>
          <a:ln w="25400">
            <a:solidFill>
              <a:srgbClr val="3CAB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7131151" y="498055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消息队列</a:t>
            </a:r>
          </a:p>
        </p:txBody>
      </p:sp>
      <p:cxnSp>
        <p:nvCxnSpPr>
          <p:cNvPr id="44" name="肘形连接符 43"/>
          <p:cNvCxnSpPr>
            <a:stCxn id="14" idx="2"/>
            <a:endCxn id="18" idx="0"/>
          </p:cNvCxnSpPr>
          <p:nvPr/>
        </p:nvCxnSpPr>
        <p:spPr>
          <a:xfrm rot="5400000">
            <a:off x="4590683" y="4299253"/>
            <a:ext cx="611373" cy="809543"/>
          </a:xfrm>
          <a:prstGeom prst="bentConnector3">
            <a:avLst/>
          </a:prstGeom>
          <a:ln w="25400">
            <a:solidFill>
              <a:srgbClr val="F490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9" idx="2"/>
            <a:endCxn id="17" idx="0"/>
          </p:cNvCxnSpPr>
          <p:nvPr/>
        </p:nvCxnSpPr>
        <p:spPr>
          <a:xfrm rot="5400000">
            <a:off x="3878263" y="3520123"/>
            <a:ext cx="431800" cy="2433955"/>
          </a:xfrm>
          <a:prstGeom prst="bentConnector3">
            <a:avLst>
              <a:gd name="adj1" fmla="val 49926"/>
            </a:avLst>
          </a:prstGeom>
          <a:ln w="25400">
            <a:solidFill>
              <a:srgbClr val="F490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5815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容量规划之全链路压测</a:t>
            </a:r>
          </a:p>
        </p:txBody>
      </p:sp>
      <p:grpSp>
        <p:nvGrpSpPr>
          <p:cNvPr id="12" name="组 1"/>
          <p:cNvGrpSpPr/>
          <p:nvPr/>
        </p:nvGrpSpPr>
        <p:grpSpPr>
          <a:xfrm>
            <a:off x="340360" y="1818640"/>
            <a:ext cx="11516360" cy="4170680"/>
            <a:chOff x="697814" y="1577048"/>
            <a:chExt cx="10675854" cy="3865944"/>
          </a:xfrm>
        </p:grpSpPr>
        <p:sp>
          <p:nvSpPr>
            <p:cNvPr id="13" name="矩形 12"/>
            <p:cNvSpPr/>
            <p:nvPr/>
          </p:nvSpPr>
          <p:spPr>
            <a:xfrm>
              <a:off x="6333186" y="1577048"/>
              <a:ext cx="2500132" cy="38659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97CD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应用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2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剪去单角的矩形 13"/>
            <p:cNvSpPr/>
            <p:nvPr/>
          </p:nvSpPr>
          <p:spPr>
            <a:xfrm>
              <a:off x="8080961" y="2801079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>
                  <a:solidFill>
                    <a:schemeClr val="tx1"/>
                  </a:solidFill>
                </a:rPr>
                <a:t>DAL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剪去单角的矩形 14"/>
            <p:cNvSpPr/>
            <p:nvPr/>
          </p:nvSpPr>
          <p:spPr>
            <a:xfrm>
              <a:off x="8080961" y="3549065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CAL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" name="剪去单角的矩形 15"/>
            <p:cNvSpPr/>
            <p:nvPr/>
          </p:nvSpPr>
          <p:spPr>
            <a:xfrm>
              <a:off x="8080961" y="4268148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MSG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7" name="剪去单角的矩形 16"/>
            <p:cNvSpPr/>
            <p:nvPr/>
          </p:nvSpPr>
          <p:spPr>
            <a:xfrm>
              <a:off x="6483659" y="2122491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msg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剪去单角的矩形 17"/>
            <p:cNvSpPr/>
            <p:nvPr/>
          </p:nvSpPr>
          <p:spPr>
            <a:xfrm>
              <a:off x="6483659" y="2598485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was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剪去单角的矩形 18"/>
            <p:cNvSpPr/>
            <p:nvPr/>
          </p:nvSpPr>
          <p:spPr>
            <a:xfrm>
              <a:off x="6483658" y="3065829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jboss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剪去单角的矩形 19"/>
            <p:cNvSpPr/>
            <p:nvPr/>
          </p:nvSpPr>
          <p:spPr>
            <a:xfrm>
              <a:off x="6483658" y="3533173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jetty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剪去单角的矩形 20"/>
            <p:cNvSpPr/>
            <p:nvPr/>
          </p:nvSpPr>
          <p:spPr>
            <a:xfrm>
              <a:off x="6483657" y="4000517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tomcat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剪去单角的矩形 21"/>
            <p:cNvSpPr/>
            <p:nvPr/>
          </p:nvSpPr>
          <p:spPr>
            <a:xfrm>
              <a:off x="6483656" y="4464895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duboo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剪去单角的矩形 22"/>
            <p:cNvSpPr/>
            <p:nvPr/>
          </p:nvSpPr>
          <p:spPr>
            <a:xfrm>
              <a:off x="6483656" y="4929273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netty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788906" y="1577048"/>
              <a:ext cx="2500132" cy="38659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97CD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应用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1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剪去单角的矩形 24"/>
            <p:cNvSpPr/>
            <p:nvPr/>
          </p:nvSpPr>
          <p:spPr>
            <a:xfrm>
              <a:off x="3525107" y="2421996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>
                  <a:solidFill>
                    <a:schemeClr val="tx1"/>
                  </a:solidFill>
                </a:rPr>
                <a:t>DAL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剪去单角的矩形 25"/>
            <p:cNvSpPr/>
            <p:nvPr/>
          </p:nvSpPr>
          <p:spPr>
            <a:xfrm>
              <a:off x="3525104" y="2887882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CAL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剪去单角的矩形 26"/>
            <p:cNvSpPr/>
            <p:nvPr/>
          </p:nvSpPr>
          <p:spPr>
            <a:xfrm>
              <a:off x="3525103" y="3329163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MSG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8" name="剪去单角的矩形 27"/>
            <p:cNvSpPr/>
            <p:nvPr/>
          </p:nvSpPr>
          <p:spPr>
            <a:xfrm>
              <a:off x="1927802" y="2122492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tomcat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剪去单角的矩形 28"/>
            <p:cNvSpPr/>
            <p:nvPr/>
          </p:nvSpPr>
          <p:spPr>
            <a:xfrm>
              <a:off x="1927802" y="2598486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was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0" name="剪去单角的矩形 29"/>
            <p:cNvSpPr/>
            <p:nvPr/>
          </p:nvSpPr>
          <p:spPr>
            <a:xfrm>
              <a:off x="1927801" y="3065830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jboss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1" name="剪去单角的矩形 30"/>
            <p:cNvSpPr/>
            <p:nvPr/>
          </p:nvSpPr>
          <p:spPr>
            <a:xfrm>
              <a:off x="1927801" y="3533174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jetty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2" name="剪去单角的矩形 31"/>
            <p:cNvSpPr/>
            <p:nvPr/>
          </p:nvSpPr>
          <p:spPr>
            <a:xfrm>
              <a:off x="1927800" y="4000518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duboo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剪去单角的矩形 32"/>
            <p:cNvSpPr/>
            <p:nvPr/>
          </p:nvSpPr>
          <p:spPr>
            <a:xfrm>
              <a:off x="1927799" y="4464896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MSG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剪去单角的矩形 33"/>
            <p:cNvSpPr/>
            <p:nvPr/>
          </p:nvSpPr>
          <p:spPr>
            <a:xfrm>
              <a:off x="1927799" y="4929274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netty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5" name="剪去单角的矩形 34"/>
            <p:cNvSpPr/>
            <p:nvPr/>
          </p:nvSpPr>
          <p:spPr>
            <a:xfrm>
              <a:off x="3525103" y="4119135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http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6" name="剪去单角的矩形 35"/>
            <p:cNvSpPr/>
            <p:nvPr/>
          </p:nvSpPr>
          <p:spPr>
            <a:xfrm>
              <a:off x="3525100" y="4585021"/>
              <a:ext cx="636607" cy="379083"/>
            </a:xfrm>
            <a:prstGeom prst="snip1Rect">
              <a:avLst/>
            </a:prstGeom>
            <a:solidFill>
              <a:srgbClr val="4FB8E1"/>
            </a:solidFill>
            <a:ln>
              <a:solidFill>
                <a:srgbClr val="38A2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 err="1">
                  <a:solidFill>
                    <a:schemeClr val="tx1"/>
                  </a:solidFill>
                </a:rPr>
                <a:t>rpc</a:t>
              </a:r>
              <a:endParaRPr kumimoji="1"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罐形 36"/>
            <p:cNvSpPr/>
            <p:nvPr/>
          </p:nvSpPr>
          <p:spPr>
            <a:xfrm>
              <a:off x="4998902" y="2048717"/>
              <a:ext cx="682291" cy="596068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/>
                <a:t>DB</a:t>
              </a:r>
              <a:endParaRPr kumimoji="1" lang="zh-CN" altLang="en-US" sz="1200" dirty="0"/>
            </a:p>
          </p:txBody>
        </p:sp>
        <p:sp>
          <p:nvSpPr>
            <p:cNvPr id="38" name="罐形 37"/>
            <p:cNvSpPr/>
            <p:nvPr/>
          </p:nvSpPr>
          <p:spPr>
            <a:xfrm>
              <a:off x="4998902" y="2744644"/>
              <a:ext cx="682291" cy="596068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Cache</a:t>
              </a:r>
            </a:p>
          </p:txBody>
        </p:sp>
        <p:sp>
          <p:nvSpPr>
            <p:cNvPr id="39" name="罐形 38"/>
            <p:cNvSpPr/>
            <p:nvPr/>
          </p:nvSpPr>
          <p:spPr>
            <a:xfrm>
              <a:off x="4998902" y="3440573"/>
              <a:ext cx="682291" cy="596068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MQ</a:t>
              </a:r>
              <a:endParaRPr kumimoji="1" lang="zh-CN" altLang="en-US" sz="1200" dirty="0"/>
            </a:p>
          </p:txBody>
        </p:sp>
        <p:cxnSp>
          <p:nvCxnSpPr>
            <p:cNvPr id="40" name="直线箭头连接符 39"/>
            <p:cNvCxnSpPr>
              <a:stCxn id="53" idx="0"/>
              <a:endCxn id="67" idx="2"/>
            </p:cNvCxnSpPr>
            <p:nvPr/>
          </p:nvCxnSpPr>
          <p:spPr>
            <a:xfrm flipV="1">
              <a:off x="4161714" y="2346751"/>
              <a:ext cx="837188" cy="2647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箭头连接符 40"/>
            <p:cNvCxnSpPr>
              <a:stCxn id="54" idx="0"/>
              <a:endCxn id="68" idx="2"/>
            </p:cNvCxnSpPr>
            <p:nvPr/>
          </p:nvCxnSpPr>
          <p:spPr>
            <a:xfrm flipV="1">
              <a:off x="4161711" y="3042678"/>
              <a:ext cx="837191" cy="3474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箭头连接符 41"/>
            <p:cNvCxnSpPr>
              <a:stCxn id="55" idx="0"/>
              <a:endCxn id="69" idx="2"/>
            </p:cNvCxnSpPr>
            <p:nvPr/>
          </p:nvCxnSpPr>
          <p:spPr>
            <a:xfrm>
              <a:off x="4161710" y="3518705"/>
              <a:ext cx="837192" cy="2199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/>
            <p:cNvCxnSpPr/>
            <p:nvPr/>
          </p:nvCxnSpPr>
          <p:spPr>
            <a:xfrm flipV="1">
              <a:off x="4289038" y="4597708"/>
              <a:ext cx="2044148" cy="319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箭头连接符 43"/>
            <p:cNvCxnSpPr>
              <a:endCxn id="52" idx="1"/>
            </p:cNvCxnSpPr>
            <p:nvPr/>
          </p:nvCxnSpPr>
          <p:spPr>
            <a:xfrm>
              <a:off x="826778" y="3110119"/>
              <a:ext cx="962128" cy="39990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连接器 44"/>
            <p:cNvSpPr/>
            <p:nvPr/>
          </p:nvSpPr>
          <p:spPr>
            <a:xfrm>
              <a:off x="697814" y="2977434"/>
              <a:ext cx="151091" cy="155450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 rot="1336335">
              <a:off x="963179" y="3064391"/>
              <a:ext cx="688009" cy="213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/>
                <a:t>_test=true</a:t>
              </a:r>
              <a:endParaRPr kumimoji="1" lang="zh-CN" altLang="en-US" sz="900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000281" y="4366876"/>
              <a:ext cx="688009" cy="213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 dirty="0"/>
                <a:t>_test=true</a:t>
              </a:r>
              <a:endParaRPr kumimoji="1" lang="zh-CN" altLang="en-US" sz="900" dirty="0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700751" y="3623190"/>
              <a:ext cx="688009" cy="213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/>
                <a:t>_test=true</a:t>
              </a:r>
              <a:endParaRPr kumimoji="1" lang="zh-CN" altLang="en-US" sz="900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273082" y="3628605"/>
              <a:ext cx="688009" cy="213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/>
                <a:t>_test=true</a:t>
              </a:r>
              <a:endParaRPr kumimoji="1" lang="zh-CN" altLang="en-US" sz="900" dirty="0"/>
            </a:p>
          </p:txBody>
        </p:sp>
        <p:sp>
          <p:nvSpPr>
            <p:cNvPr id="50" name="罐形 49"/>
            <p:cNvSpPr/>
            <p:nvPr/>
          </p:nvSpPr>
          <p:spPr>
            <a:xfrm>
              <a:off x="9495702" y="2256378"/>
              <a:ext cx="682291" cy="596068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/>
                <a:t>DB</a:t>
              </a:r>
              <a:endParaRPr kumimoji="1" lang="zh-CN" altLang="en-US" sz="1200" dirty="0"/>
            </a:p>
          </p:txBody>
        </p:sp>
        <p:sp>
          <p:nvSpPr>
            <p:cNvPr id="51" name="罐形 50"/>
            <p:cNvSpPr/>
            <p:nvPr/>
          </p:nvSpPr>
          <p:spPr>
            <a:xfrm>
              <a:off x="9495702" y="3446026"/>
              <a:ext cx="682291" cy="596068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Cache</a:t>
              </a:r>
            </a:p>
          </p:txBody>
        </p:sp>
        <p:sp>
          <p:nvSpPr>
            <p:cNvPr id="52" name="罐形 51"/>
            <p:cNvSpPr/>
            <p:nvPr/>
          </p:nvSpPr>
          <p:spPr>
            <a:xfrm>
              <a:off x="9495702" y="4631239"/>
              <a:ext cx="682291" cy="596068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MQ</a:t>
              </a:r>
              <a:endParaRPr kumimoji="1" lang="zh-CN" altLang="en-US" sz="1200" dirty="0"/>
            </a:p>
          </p:txBody>
        </p:sp>
        <p:cxnSp>
          <p:nvCxnSpPr>
            <p:cNvPr id="53" name="直线箭头连接符 52"/>
            <p:cNvCxnSpPr>
              <a:stCxn id="42" idx="0"/>
            </p:cNvCxnSpPr>
            <p:nvPr/>
          </p:nvCxnSpPr>
          <p:spPr>
            <a:xfrm flipV="1">
              <a:off x="8717568" y="2554412"/>
              <a:ext cx="778134" cy="4362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箭头连接符 53"/>
            <p:cNvCxnSpPr>
              <a:stCxn id="43" idx="0"/>
            </p:cNvCxnSpPr>
            <p:nvPr/>
          </p:nvCxnSpPr>
          <p:spPr>
            <a:xfrm>
              <a:off x="8717568" y="3738607"/>
              <a:ext cx="778134" cy="545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箭头连接符 54"/>
            <p:cNvCxnSpPr>
              <a:stCxn id="44" idx="0"/>
            </p:cNvCxnSpPr>
            <p:nvPr/>
          </p:nvCxnSpPr>
          <p:spPr>
            <a:xfrm>
              <a:off x="8717568" y="4457690"/>
              <a:ext cx="778134" cy="47158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箭头连接符 55"/>
            <p:cNvCxnSpPr>
              <a:stCxn id="69" idx="4"/>
            </p:cNvCxnSpPr>
            <p:nvPr/>
          </p:nvCxnSpPr>
          <p:spPr>
            <a:xfrm flipV="1">
              <a:off x="5681193" y="2346751"/>
              <a:ext cx="644896" cy="139185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/>
            <p:cNvSpPr/>
            <p:nvPr/>
          </p:nvSpPr>
          <p:spPr>
            <a:xfrm>
              <a:off x="10635913" y="4827379"/>
              <a:ext cx="737755" cy="2036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800" dirty="0">
                  <a:solidFill>
                    <a:schemeClr val="tx1"/>
                  </a:solidFill>
                </a:rPr>
                <a:t>丢弃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10635912" y="3518705"/>
              <a:ext cx="368879" cy="1895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</a:rPr>
                <a:t>key</a:t>
              </a:r>
              <a:endParaRPr kumimoji="1"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11004791" y="3518705"/>
              <a:ext cx="368877" cy="1895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</a:rPr>
                <a:t>v</a:t>
              </a:r>
              <a:endParaRPr kumimoji="1"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10635912" y="3810976"/>
              <a:ext cx="368879" cy="1895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 err="1">
                  <a:solidFill>
                    <a:schemeClr val="tx1"/>
                  </a:solidFill>
                </a:rPr>
                <a:t>key_t</a:t>
              </a:r>
              <a:endParaRPr kumimoji="1"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1004791" y="3810976"/>
              <a:ext cx="368877" cy="1895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</a:rPr>
                <a:t>v</a:t>
              </a:r>
              <a:endParaRPr kumimoji="1"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0635912" y="2346751"/>
              <a:ext cx="737755" cy="1895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</a:rPr>
                <a:t>table</a:t>
              </a:r>
              <a:endParaRPr kumimoji="1"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0635913" y="2611537"/>
              <a:ext cx="737755" cy="1895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 err="1">
                  <a:solidFill>
                    <a:schemeClr val="tx1"/>
                  </a:solidFill>
                </a:rPr>
                <a:t>table_test</a:t>
              </a:r>
              <a:endParaRPr kumimoji="1"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直线箭头连接符 63"/>
            <p:cNvCxnSpPr/>
            <p:nvPr/>
          </p:nvCxnSpPr>
          <p:spPr>
            <a:xfrm>
              <a:off x="10177993" y="2554412"/>
              <a:ext cx="457920" cy="15189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箭头连接符 64"/>
            <p:cNvCxnSpPr/>
            <p:nvPr/>
          </p:nvCxnSpPr>
          <p:spPr>
            <a:xfrm flipV="1">
              <a:off x="10177993" y="2441522"/>
              <a:ext cx="457919" cy="11289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箭头连接符 65"/>
            <p:cNvCxnSpPr/>
            <p:nvPr/>
          </p:nvCxnSpPr>
          <p:spPr>
            <a:xfrm flipV="1">
              <a:off x="10177993" y="3613476"/>
              <a:ext cx="457919" cy="13058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箭头连接符 66"/>
            <p:cNvCxnSpPr/>
            <p:nvPr/>
          </p:nvCxnSpPr>
          <p:spPr>
            <a:xfrm>
              <a:off x="10177993" y="3744060"/>
              <a:ext cx="457919" cy="1616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箭头连接符 67"/>
            <p:cNvCxnSpPr/>
            <p:nvPr/>
          </p:nvCxnSpPr>
          <p:spPr>
            <a:xfrm flipV="1">
              <a:off x="10177993" y="4929198"/>
              <a:ext cx="457920" cy="7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/>
            <p:cNvSpPr txBox="1"/>
            <p:nvPr/>
          </p:nvSpPr>
          <p:spPr>
            <a:xfrm rot="927116">
              <a:off x="4250958" y="3397842"/>
              <a:ext cx="688009" cy="213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/>
                <a:t>_test=true</a:t>
              </a:r>
              <a:endParaRPr kumimoji="1" lang="zh-CN" altLang="en-US" sz="900" dirty="0"/>
            </a:p>
          </p:txBody>
        </p:sp>
        <p:sp>
          <p:nvSpPr>
            <p:cNvPr id="70" name="文本框 69"/>
            <p:cNvSpPr txBox="1"/>
            <p:nvPr/>
          </p:nvSpPr>
          <p:spPr>
            <a:xfrm rot="17704515">
              <a:off x="5574919" y="2855733"/>
              <a:ext cx="688009" cy="213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/>
                <a:t>_test=true</a:t>
              </a:r>
              <a:endParaRPr kumimoji="1" lang="zh-CN" altLang="en-US" sz="900" dirty="0"/>
            </a:p>
          </p:txBody>
        </p:sp>
        <p:sp>
          <p:nvSpPr>
            <p:cNvPr id="71" name="文本框 70"/>
            <p:cNvSpPr txBox="1"/>
            <p:nvPr/>
          </p:nvSpPr>
          <p:spPr>
            <a:xfrm rot="1893378">
              <a:off x="8808930" y="4472137"/>
              <a:ext cx="688009" cy="213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/>
                <a:t>_test=true</a:t>
              </a:r>
              <a:endParaRPr kumimoji="1" lang="zh-CN" altLang="en-US" sz="900" dirty="0"/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5815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分布式链路跟踪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180" y="710565"/>
            <a:ext cx="6263640" cy="611949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服务高可用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79120" y="1222375"/>
            <a:ext cx="990473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ea typeface="+mn-lt"/>
              </a:rPr>
              <a:t>限流</a:t>
            </a:r>
          </a:p>
          <a:p>
            <a:pPr algn="l"/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 sz="2800">
                <a:ea typeface="+mn-lt"/>
              </a:rPr>
              <a:t>降级</a:t>
            </a:r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 sz="2800">
                <a:ea typeface="+mn-lt"/>
                <a:sym typeface="+mn-ea"/>
              </a:rPr>
              <a:t>熔断</a:t>
            </a:r>
            <a:endParaRPr lang="zh-CN" altLang="en-US" sz="2800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5815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故障防控体系</a:t>
            </a:r>
          </a:p>
        </p:txBody>
      </p:sp>
      <p:graphicFrame>
        <p:nvGraphicFramePr>
          <p:cNvPr id="2" name="Diagram 1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5815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故障注入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5821916" y="3457153"/>
            <a:ext cx="2256856" cy="508000"/>
          </a:xfrm>
          <a:prstGeom prst="roundRect">
            <a:avLst/>
          </a:prstGeom>
          <a:gradFill>
            <a:gsLst>
              <a:gs pos="0">
                <a:srgbClr val="18A3DC"/>
              </a:gs>
              <a:gs pos="100000">
                <a:srgbClr val="0069CB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网络丢包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3175250" y="3459774"/>
            <a:ext cx="1730402" cy="508000"/>
          </a:xfrm>
          <a:prstGeom prst="roundRect">
            <a:avLst/>
          </a:prstGeom>
          <a:gradFill>
            <a:gsLst>
              <a:gs pos="0">
                <a:srgbClr val="18A3DC"/>
              </a:gs>
              <a:gs pos="100000">
                <a:srgbClr val="0069CB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模拟宕机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457191" y="3456102"/>
            <a:ext cx="1887386" cy="508000"/>
          </a:xfrm>
          <a:prstGeom prst="roundRect">
            <a:avLst/>
          </a:prstGeom>
          <a:gradFill>
            <a:gsLst>
              <a:gs pos="0">
                <a:srgbClr val="18A3DC"/>
              </a:gs>
              <a:gs pos="100000">
                <a:srgbClr val="0069CB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断网断电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8850346" y="3460815"/>
            <a:ext cx="1730402" cy="508000"/>
          </a:xfrm>
          <a:prstGeom prst="roundRect">
            <a:avLst/>
          </a:prstGeom>
          <a:gradFill>
            <a:gsLst>
              <a:gs pos="0">
                <a:srgbClr val="18A3DC"/>
              </a:gs>
              <a:gs pos="100000">
                <a:srgbClr val="0069CB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字节码注入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4626649" y="1748211"/>
            <a:ext cx="2244959" cy="663740"/>
          </a:xfrm>
          <a:prstGeom prst="roundRect">
            <a:avLst/>
          </a:prstGeom>
          <a:gradFill>
            <a:gsLst>
              <a:gs pos="0">
                <a:srgbClr val="00DCD0"/>
              </a:gs>
              <a:gs pos="100000">
                <a:srgbClr val="0069CB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故障演练平台</a:t>
            </a:r>
          </a:p>
        </p:txBody>
      </p:sp>
      <p:cxnSp>
        <p:nvCxnSpPr>
          <p:cNvPr id="7" name="肘形连接符 6"/>
          <p:cNvCxnSpPr>
            <a:stCxn id="21" idx="2"/>
            <a:endCxn id="22" idx="0"/>
          </p:cNvCxnSpPr>
          <p:nvPr/>
        </p:nvCxnSpPr>
        <p:spPr>
          <a:xfrm rot="5400000">
            <a:off x="3052932" y="759904"/>
            <a:ext cx="1044151" cy="4348245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21" idx="2"/>
            <a:endCxn id="17" idx="0"/>
          </p:cNvCxnSpPr>
          <p:nvPr/>
        </p:nvCxnSpPr>
        <p:spPr>
          <a:xfrm rot="16200000" flipH="1">
            <a:off x="7207906" y="953174"/>
            <a:ext cx="1048864" cy="3966418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21" idx="2"/>
            <a:endCxn id="20" idx="0"/>
          </p:cNvCxnSpPr>
          <p:nvPr/>
        </p:nvCxnSpPr>
        <p:spPr>
          <a:xfrm rot="5400000">
            <a:off x="4370879" y="2081523"/>
            <a:ext cx="1047823" cy="1708678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21" idx="2"/>
            <a:endCxn id="15" idx="0"/>
          </p:cNvCxnSpPr>
          <p:nvPr/>
        </p:nvCxnSpPr>
        <p:spPr>
          <a:xfrm rot="16200000" flipH="1">
            <a:off x="5827135" y="2333944"/>
            <a:ext cx="1045202" cy="1201215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肘形连接符 38"/>
          <p:cNvCxnSpPr/>
          <p:nvPr/>
        </p:nvCxnSpPr>
        <p:spPr>
          <a:xfrm rot="10800000" flipV="1">
            <a:off x="8192994" y="3956308"/>
            <a:ext cx="1271981" cy="77231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肘形连接符 39"/>
          <p:cNvCxnSpPr/>
          <p:nvPr/>
        </p:nvCxnSpPr>
        <p:spPr>
          <a:xfrm>
            <a:off x="9464972" y="3956308"/>
            <a:ext cx="1225565" cy="78921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圆角矩形 41"/>
          <p:cNvSpPr/>
          <p:nvPr/>
        </p:nvSpPr>
        <p:spPr>
          <a:xfrm>
            <a:off x="7559630" y="4755761"/>
            <a:ext cx="1719563" cy="508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模拟延时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10057480" y="4754539"/>
            <a:ext cx="1719563" cy="508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业务逻辑篡改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5815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线上变更三板斧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79120" y="1222375"/>
            <a:ext cx="990473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ea typeface="+mn-lt"/>
              </a:rPr>
              <a:t>可监控</a:t>
            </a:r>
          </a:p>
          <a:p>
            <a:pPr algn="l"/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 sz="2800">
                <a:ea typeface="+mn-lt"/>
              </a:rPr>
              <a:t>可灰度</a:t>
            </a:r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r>
              <a:rPr lang="zh-CN" altLang="en-US" sz="2800">
                <a:ea typeface="+mn-lt"/>
                <a:sym typeface="+mn-ea"/>
              </a:rPr>
              <a:t>可应急</a:t>
            </a:r>
            <a:endParaRPr lang="zh-CN" altLang="en-US" sz="2800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  <a:p>
            <a:pPr algn="l"/>
            <a:endParaRPr lang="zh-CN" altLang="en-US">
              <a:ea typeface="+mn-lt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085" y="176805"/>
            <a:ext cx="7484780" cy="317500"/>
          </a:xfrm>
        </p:spPr>
        <p:txBody>
          <a:bodyPr/>
          <a:lstStyle/>
          <a:p>
            <a:r>
              <a:rPr kumimoji="1" lang="zh-CN" altLang="en-US" dirty="0"/>
              <a:t>课程反馈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96" y="2332318"/>
            <a:ext cx="2688626" cy="257843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D6D2CA"/>
      </a:accent1>
      <a:accent2>
        <a:srgbClr val="B6C6B6"/>
      </a:accent2>
      <a:accent3>
        <a:srgbClr val="C1C8B8"/>
      </a:accent3>
      <a:accent4>
        <a:srgbClr val="CEC597"/>
      </a:accent4>
      <a:accent5>
        <a:srgbClr val="8AACA6"/>
      </a:accent5>
      <a:accent6>
        <a:srgbClr val="C0C0B4"/>
      </a:accent6>
      <a:hlink>
        <a:srgbClr val="DB5353"/>
      </a:hlink>
      <a:folHlink>
        <a:srgbClr val="903638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宽屏</PresentationFormat>
  <Paragraphs>189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Albertus MT Lt</vt:lpstr>
      <vt:lpstr>PingFang SC</vt:lpstr>
      <vt:lpstr>PingFang SC Semibold</vt:lpstr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edidada</cp:lastModifiedBy>
  <cp:revision>355</cp:revision>
  <dcterms:created xsi:type="dcterms:W3CDTF">2019-11-07T18:48:45Z</dcterms:created>
  <dcterms:modified xsi:type="dcterms:W3CDTF">2020-04-06T09:53:58Z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1033-1.0.1.1354</vt:lpwstr>
  </property>
</Properties>
</file>